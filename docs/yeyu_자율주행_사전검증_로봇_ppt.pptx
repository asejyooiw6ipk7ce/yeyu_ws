
<file path=[Content_Types].xml><?xml version="1.0" encoding="utf-8"?>
<Types xmlns="http://schemas.openxmlformats.org/package/2006/content-types">
  <Default Extension="jpeg" ContentType="image/jpeg"/>
  <Default Extension="mov" ContentType="video/quicktime"/>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48" y="5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46733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10분 발표. 표지는 5초 안에 넘깁니다.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10초. 시스템 구조 → 구간별 알고리즘 → 운영·회고 순으로 진행한다고 한 줄만 짚고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사람이 운전면허 시험을 보듯 저희는 운전면허 시험의 개념을 로봇에게 적용했습니다 로봇이 5개의 구간을 스스로 주행하며 각 구간의 합격여부를 자동으로 판단하는 시스템입니다 
즉 운전면허 시험인 동시에 사람이 직접 지켜보지 않아도 로봇의 자율주행 성능을 반복적으로 테스트할수 있는 자동 검증 시스템입니다  
뒤이어 설명할 코스 중 크랭크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이 지도가 실제로 SLAM으로 만든 맵입니다. 여기서 출발해 크랭크 → S자 → 신호대기 → 가속구간 → 직각주차 순으로 진행합니다. 재시험(Trajectory): 특정 구간 실패 시 전체를 다시 도는 게 아니라 GUI에서 해당 구간만 재시험합니다. 크랭크만 다시 하려면 로봇이 wp1로 자동 복귀해 그 구간만 재판정. 지도 위에서 포인터로 각 구간을 짚으며 설명 — 발표 임팩트 포인트.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이 지도가 실제로 SLAM으로 만든 맵입니다. 여기서 출발해 크랭크 → S자 → 신호대기 → 가속구간 → 직각주차 순으로 진행합니다. 재시험(Trajectory): 특정 구간 실패 시 전체를 다시 도는 게 아니라 GUI에서 해당 구간만 재시험합니다. 크랭크만 다시 하려면 로봇이 wp1로 자동 복귀해 그 구간만 재판정. 지도 위에서 포인터로 각 구간을 짚으며 설명 — 발표 임팩트 포인트.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크게 세 단계로 구성됩니다.
가장 아래, 하드웨어는 라즈베리파이4를 중심으로 TurtleBot3 Burger 본체에 카메라, IR 센서 , led3개, 초음파, 아두이노를 붙였습니다.
이 하드웨어에서 올라오는 데이터는 ROS2 노드 계층에서 처리되는데, 여기서도 흐름이 명확합니다. 카메라와 IR, 초음파가 인지를 담당하고, 그 정보를 받아서 driving_node라는 상태 머신이 판단을 내리고, 이 판단이 Nav2와 직접 제어 루프를 통해 실제 제어 명령으로 바뀝니다.
마지막으로, 이 전체 시스템은 자동으로 전체 노드가 실행됩니다. PM2가 감시자 역할을 하고, 그 아래 supervisor가 tmux 세션을 만들어서 6개 노드를 순서에 맞게 자동으로 띄웁니다."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시스템은 5개 노드가 driving_node를 중심으로 움직입니다.
왼쪽을 보시면, bringup은 하드웨어를, arduino_sensor_bridge는 IR·LED·초음파를, camera_node는 영상을, audio_output_node는 TTS 음성 출력을, 그리고 Nav2 스택은 AMCL 위치추정과 costmap 기반 경로 계획을 담당합니다.
이 5개가 각자 일하는 걸 driving_node 하나가 상태 머신으로 조율합니다. 지금 크랭크 코스인지, S코스인지, 주차 중인지를 이 노드가 판단하고, 그에 맞게 나머지 노드들에게 명령을 내립니다.
오른쪽 핵심 통신 세 가지만 짚으면, /driving_status는 지금 어느 구간을 어떤 결과로 통과했는지 GUI에 실시간으로 알려주고, /start_retry는 특정 구간만 골라서 재시험할 수 있는 서비스이고, navigate_to_pose는 Nav2에게 다음 목적지로 이동하라고 지시하는 액션입니다."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기본 파라미터로는 저희 코스에서 몇 가지 문제가 있었습니다. 이걸 4가지로 정리했습니다.
첫째, 라즈베리파이4 성능 한계 때문에 AMCL 파티클 수를 절반으로 줄여서 CPU 부담을 낮췄습니다.
둘째, 크랭크처럼 좁은 코스에서 로봇이 너무 급하게 회전하는 문제가 있어서, 최대 회전 속도를 낮췄습니다.
셋째, 목표 지점 도달 판정이 너무 엄격해서 웨이포인트 근처에서 계속 실패하는 현상이 있었는데, 허용 오차를 넓혀서 해결했습니다.
마지막으로, 좁은 통로에서 장애물에 너무 붙어서 주행하는 걸 막기 위해 코스트맵 인플레이션 설정을 조정해서 안전 여유 공간을 확보했습니다."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좌/중/우 3개 IR 값 조합으로 위치를 판단합니다. (0,1,0)이면 중앙이라 직진, (1,0,0)이면 왼쪽으로 틀어졌다는 뜻이라 우측 보정. 직각 코너에서는 (1,1,0)/(0,1,1)처럼 두 센서가 동시에 반응하는데, 이때는 일정 거리 전진(Creeping) 후 90도 회전(Turning)하는 별도 상태로 전환합니다. 라인을 완전히 놓치면(0,0,0) 마지막 유효 방향으로 서행 복구하고, 시간 초과 시 실패 처리 후 다음 구간으로 넘어갑니다 — 한 구간 실패가 전체 주행을 막지 않도록 설계했습니다. ※ 시간 밀리면 여기서 줄이기.</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좌/중/우 3개 IR 값 조합으로 위치를 판단합니다. (0,1,0)이면 중앙이라 직진, (1,0,0)이면 왼쪽으로 틀어졌다는 뜻이라 우측 보정. 직각 코너에서는 (1,1,0)/(0,1,1)처럼 두 센서가 동시에 반응하는데, 이때는 일정 거리 전진(Creeping) 후 90도 회전(Turning)하는 별도 상태로 전환합니다. 라인을 완전히 놓치면(0,0,0) 마지막 유효 방향으로 서행 복구하고, 시간 초과 시 실패 처리 후 다음 구간으로 넘어갑니다 — 한 구간 실패가 전체 주행을 막지 않도록 설계했습니다. ※ 시간 밀리면 여기서 줄이기.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좌/중/우 3개 IR 값 조합으로 위치를 판단합니다. (0,1,0)이면 중앙이라 직진, (1,0,0)이면 왼쪽으로 틀어졌다는 뜻이라 우측 보정. 직각 코너에서는 (1,1,0)/(0,1,1)처럼 두 센서가 동시에 반응하는데, 이때는 일정 거리 전진(Creeping) 후 90도 회전(Turning)하는 별도 상태로 전환합니다. 라인을 완전히 놓치면(0,0,0) 마지막 유효 방향으로 서행 복구하고, 시간 초과 시 실패 처리 후 다음 구간으로 넘어갑니다 — 한 구간 실패가 전체 주행을 막지 않도록 설계했습니다. ※ 시간 밀리면 여기서 줄이기.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카메라 하단 40%만 ROI로 잡고 흑백 이진화로 검은 라인을 추출합니다. 여러 컨투어 후보 중 형태(solidity)와 이전 프레임과의 위치 연속성으로 필터링해 노이즈를 제거하고, 화면 중심 대비 오프셋을 계산합니다. 오프셋에 비례해 조향각을 결정하는 P 제어이고, 오프셋이 클수록 속도를 낮춰 커브에서도 안정적으로 돕니다. ※ 시간 밀리면 여기서 줄이기.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신호등은 HSV에서 초록 범위 픽셀 수를 세고, 임계값 이상이면서 3프레임 연속 검출되면 통과로 판정합니다. 단발성 노이즈 오판정을 막기 위한 연속 프레임 조건입니다. 가속구간은 파란 표지판을 같은 방식으로 인식하고, 검출되면 목표 속도를 최대로 올리고 costmap 여유 반경도 함께 넓혀 고속 주행에 대비합니다. 통과 판정은 목표 속도 이상을 0.5초 연속 유지해야 하고, 0.15초 이내 짧은 속도 저하는 허용오차로 봅니다. ※ 시간 밀리면 여기서 줄이기.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ArUco 마커로 거리(z), 좌우 편차(x), 각도(bearing)를 계산해 4단계 상태 머신으로 접근합니다. 먼저 마커를 찾을 때까지 회전 탐색하고, 목표 거리까지 접근한 뒤, 정면 정렬을 맞추고, 마지막에 정밀 접근합니다. 마커를 놓치면 후진 후 재탐색하는 복구 로직이 있고 최대 3회까지 재시도합니다. ※ 시간 밀리면 여기서 줄이기.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45초. 전원을 켜면 사람 개입 없이 6개 노드(bringup, 센서, 카메라, 오디오, Nav2, 상태관리)가 정해진 순서로 자동 실행됩니다. 단순 순차 실행이 아니라, 각 노드가 자기보다 먼저 떠야 하는 토픽이나 액션 서버를 실제로 확인한 뒤 시작하도록 만들어 타이밍 문제로 인한 실패를 줄였습니다. PM2는 최상위 감시자 역할만 하고 실제 개별 노드 재시작은 tmux 내부 루프가 담당하는 2단 구조라, 노드 하나가 죽어도 전체를 재부팅하지 않고 그 노드만 복구됩니다.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실제 구현 내용에 맞게 보완 필요한 슬라이드입니다. 현재는 Wi-Fi 연결 상태 폴링 → 단절 감지 시 즉시 정지 → 안내 → 홈 복귀 흐름으로 작성해 두었습니다. 실제 구현과 다르면 알려주세요.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첫번째 문제는 에스 코스 주행중 로봇이 벽을 라인으로 착각해 다른 방향으로 이동하는 문제가 있었습니다. 케이블 선 같이 작은 물체를 걸러내기 위해 면적 필터를 추가했고 벽 반사광이 크게 잡혀 폭 필터까지 추가했습니다 
"두 번째 문제는, 로봇이 목표 지점 근처까지 갔는데도 도착을 인지 못하는 현상이었습니다. 원인을 추적해보니, 저희가 쓰던 /amcl_pose 토픽이 위치가 유의미하게 바뀔 때만 드문드문 발행되고 있었습니다. 실측해보니 약 0.57헤르츠, 즉 1.7초에 한 번꼴이었는데, 그 사이 로봇이 목표 지점을 지나쳐도 놓칠 수 있는 구조였습니다. 그래서 저희는 이 토픽 값을 기다리는 대신, ROS2의 tf 변환을 매 순간 직접 조회하는 방식으로 바꿨고, 여기에 더해 '가까워지다가 다시 멀어지기 시작하면 최근접점을 도착으로 본다'는 이중 안전장치까지 추가했습니다."
"세 번째 문제는 조명에 따라 신호등이나 표지판 인식이 불안정했던 부분입니다. 원인을 보니, 어두운 환경에서는 카메라에 찍히는 색의 채도가 실제보다 낮게 측정되고, 색조도 미세하게 흔들리는데, 저희가 처음 설정한 HSV 인식 범위가 이런 저채도 상태까지는 포함하지 못하고 있었습니다. 그래서 다양한 조명 조건에서 직접 값을 측정해가며, 색상과 채도의 허용 범위를 넓혀서 어두운 곳에서도 정상적으로 인식되도록 재조정했습니다."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가지로 마무리:
GUI 대시보드에 누적 실행 통계 기능 추가 — 전체 주행 시도 횟수와 구간별 실패 확률을 자동 집계하여 표시. 로봇을 반복 구동했을 때 어떤 구간에서 얼마나 자주 실패하는지 개발자가 한눈에 파악할 수 있도록, 일종의 신뢰성 리포트 형태로 제공. 추가로 오차값(error_lateral, error_distance) 통계 — DrivingStatus 메시지에 이미 이 필드들이 있는데(ros_bridge.py에서 받아오고는 있음) GUI에는 전혀 표시가 안 되고 있어요. 구간별 평균/최대 오차를 통계에 같이 넣으면 "몇 % 확률로 실패한다"뿐 아니라 "왜 실패하는지 경향"까지 보여줄 수 있음 
현재 장애물 감지가 초음파 센서 1개 지점 값에만 의존하고 있어, 사각지대나 노이즈에 취약할 수 있음. 기존에 코드상 주석 처리된 LDS(/scan) 기반 감지를 다시 활성화하거나 초음파와 병행 사용하여, 장애물 인식의 정확도와 커버리지를 개선할 필요가 있음.
 통신 단절 시나리오의 정식 복구 로직 추가, 배터리/전압 모니터링 기반 저전압 자동 정지.</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가지로 마무리:
GUI 대시보드에 누적 실행 통계 기능 추가 — 전체 주행 시도 횟수와 구간별 실패 확률을 자동 집계하여 표시. 로봇을 반복 구동했을 때 어떤 구간에서 얼마나 자주 실패하는지 개발자가 한눈에 파악할 수 있도록, 일종의 신뢰성 리포트 형태로 제공. 추가로 오차값(error_lateral, error_distance) 통계 — DrivingStatus 메시지에 이미 이 필드들이 있는데(ros_bridge.py에서 받아오고는 있음) GUI에는 전혀 표시가 안 되고 있어요. 구간별 평균/최대 오차를 통계에 같이 넣으면 "몇 % 확률로 실패한다"뿐 아니라 "왜 실패하는지 경향"까지 보여줄 수 있음 
현재 장애물 감지가 초음파 센서 1개 지점 값에만 의존하고 있어, 사각지대나 노이즈에 취약할 수 있음. 기존에 코드상 주석 처리된 LDS(/scan) 기반 감지를 다시 활성화하거나 초음파와 병행 사용하여, 장애물 인식의 정확도와 커버리지를 개선할 필요가 있음.
 통신 단절 시나리오의 정식 복구 로직 추가, 배터리/전압 모니터링 기반 저전압 자동 정지.</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ov"/><Relationship Id="rId1" Type="http://schemas.microsoft.com/office/2007/relationships/media" Target="../media/media3.mov"/><Relationship Id="rId5"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4.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811000" y="-2286000"/>
            <a:ext cx="8191500" cy="8191500"/>
          </a:xfrm>
          <a:prstGeom prst="ellipse">
            <a:avLst/>
          </a:prstGeom>
          <a:solidFill>
            <a:srgbClr val="EAF7F5"/>
          </a:solidFill>
          <a:ln/>
        </p:spPr>
        <p:txBody>
          <a:bodyPr/>
          <a:lstStyle/>
          <a:p>
            <a:endParaRPr lang="ko-KR" altLang="en-US"/>
          </a:p>
        </p:txBody>
      </p:sp>
      <p:sp>
        <p:nvSpPr>
          <p:cNvPr id="3" name="Shape 1"/>
          <p:cNvSpPr/>
          <p:nvPr/>
        </p:nvSpPr>
        <p:spPr>
          <a:xfrm>
            <a:off x="-1905000" y="6858000"/>
            <a:ext cx="6096000" cy="6096000"/>
          </a:xfrm>
          <a:prstGeom prst="ellipse">
            <a:avLst/>
          </a:prstGeom>
          <a:solidFill>
            <a:srgbClr val="EEF1FE"/>
          </a:solidFill>
          <a:ln/>
        </p:spPr>
        <p:txBody>
          <a:bodyPr/>
          <a:lstStyle/>
          <a:p>
            <a:endParaRPr lang="ko-KR" altLang="en-US"/>
          </a:p>
        </p:txBody>
      </p:sp>
      <p:sp>
        <p:nvSpPr>
          <p:cNvPr id="4" name="Shape 2"/>
          <p:cNvSpPr/>
          <p:nvPr/>
        </p:nvSpPr>
        <p:spPr>
          <a:xfrm>
            <a:off x="1238250" y="1940272"/>
            <a:ext cx="2024807" cy="485775"/>
          </a:xfrm>
          <a:prstGeom prst="roundRect">
            <a:avLst>
              <a:gd name="adj" fmla="val 50000"/>
            </a:avLst>
          </a:prstGeom>
          <a:solidFill>
            <a:srgbClr val="6BC9BE"/>
          </a:solidFill>
          <a:ln/>
        </p:spPr>
        <p:txBody>
          <a:bodyPr/>
          <a:lstStyle/>
          <a:p>
            <a:endParaRPr lang="ko-KR" altLang="en-US"/>
          </a:p>
        </p:txBody>
      </p:sp>
      <p:sp>
        <p:nvSpPr>
          <p:cNvPr id="5" name="Text 3"/>
          <p:cNvSpPr/>
          <p:nvPr/>
        </p:nvSpPr>
        <p:spPr>
          <a:xfrm>
            <a:off x="1485900" y="2035522"/>
            <a:ext cx="1605707"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78" dirty="0">
                <a:solidFill>
                  <a:srgbClr val="FFFFFF"/>
                </a:solidFill>
                <a:latin typeface="Arial" pitchFamily="34" charset="0"/>
                <a:ea typeface="Arial" pitchFamily="34" charset="-122"/>
                <a:cs typeface="Arial" pitchFamily="34" charset="-120"/>
              </a:rPr>
              <a:t>TEAM YEYU</a:t>
            </a:r>
            <a:endParaRPr lang="en-US" sz="1950" dirty="0"/>
          </a:p>
        </p:txBody>
      </p:sp>
      <p:sp>
        <p:nvSpPr>
          <p:cNvPr id="6" name="Text 4"/>
          <p:cNvSpPr/>
          <p:nvPr/>
        </p:nvSpPr>
        <p:spPr>
          <a:xfrm>
            <a:off x="3434507" y="2006947"/>
            <a:ext cx="2024806" cy="457199"/>
          </a:xfrm>
          <a:prstGeom prst="rect">
            <a:avLst/>
          </a:prstGeom>
          <a:noFill/>
          <a:ln/>
        </p:spPr>
        <p:txBody>
          <a:bodyPr wrap="square" lIns="25400" tIns="25400" rIns="25400" bIns="25400" rtlCol="0" anchor="t">
            <a:normAutofit/>
          </a:bodyPr>
          <a:lstStyle/>
          <a:p>
            <a:pPr marL="0" indent="0" algn="l">
              <a:buNone/>
            </a:pPr>
            <a:r>
              <a:rPr lang="ko-KR" altLang="en-US" sz="2000" dirty="0">
                <a:solidFill>
                  <a:srgbClr val="6B7280"/>
                </a:solidFill>
                <a:latin typeface="Arial" pitchFamily="34" charset="0"/>
                <a:ea typeface="Arial" pitchFamily="34" charset="-122"/>
                <a:cs typeface="Arial" pitchFamily="34" charset="-120"/>
              </a:rPr>
              <a:t>김예은 </a:t>
            </a:r>
            <a:r>
              <a:rPr lang="en-US" sz="2000" dirty="0">
                <a:solidFill>
                  <a:srgbClr val="6B7280"/>
                </a:solidFill>
                <a:latin typeface="Arial" pitchFamily="34" charset="0"/>
                <a:ea typeface="Arial" pitchFamily="34" charset="-122"/>
                <a:cs typeface="Arial" pitchFamily="34" charset="-120"/>
              </a:rPr>
              <a:t>· </a:t>
            </a:r>
            <a:r>
              <a:rPr lang="ko-KR" altLang="en-US" sz="2000" dirty="0">
                <a:solidFill>
                  <a:srgbClr val="6B7280"/>
                </a:solidFill>
                <a:latin typeface="Arial" pitchFamily="34" charset="0"/>
                <a:ea typeface="Arial" pitchFamily="34" charset="-122"/>
                <a:cs typeface="Arial" pitchFamily="34" charset="-120"/>
              </a:rPr>
              <a:t>강유나</a:t>
            </a:r>
            <a:endParaRPr lang="en-US" sz="2000" dirty="0"/>
          </a:p>
        </p:txBody>
      </p:sp>
      <p:sp>
        <p:nvSpPr>
          <p:cNvPr id="7" name="Text 5"/>
          <p:cNvSpPr/>
          <p:nvPr/>
        </p:nvSpPr>
        <p:spPr>
          <a:xfrm>
            <a:off x="1238250" y="2864197"/>
            <a:ext cx="16285845" cy="2301180"/>
          </a:xfrm>
          <a:prstGeom prst="rect">
            <a:avLst/>
          </a:prstGeom>
          <a:noFill/>
          <a:ln/>
        </p:spPr>
        <p:txBody>
          <a:bodyPr wrap="square" lIns="25400" tIns="25400" rIns="25400" bIns="25400" rtlCol="0" anchor="t">
            <a:normAutofit/>
          </a:bodyPr>
          <a:lstStyle/>
          <a:p>
            <a:pPr marL="0" indent="0" algn="l">
              <a:lnSpc>
                <a:spcPct val="93543"/>
              </a:lnSpc>
              <a:buNone/>
            </a:pPr>
            <a:r>
              <a:rPr lang="en-US" sz="8250" b="1" kern="0" spc="-247" dirty="0">
                <a:solidFill>
                  <a:srgbClr val="111827"/>
                </a:solidFill>
                <a:latin typeface="Arial" pitchFamily="34" charset="0"/>
                <a:ea typeface="Arial" pitchFamily="34" charset="-122"/>
                <a:cs typeface="Arial" pitchFamily="34" charset="-120"/>
              </a:rPr>
              <a:t>자율주행 사전검증 로봇</a:t>
            </a:r>
            <a:endParaRPr lang="en-US" sz="8250" dirty="0"/>
          </a:p>
        </p:txBody>
      </p:sp>
      <p:sp>
        <p:nvSpPr>
          <p:cNvPr id="8" name="Shape 6"/>
          <p:cNvSpPr/>
          <p:nvPr/>
        </p:nvSpPr>
        <p:spPr>
          <a:xfrm>
            <a:off x="1238250" y="5565428"/>
            <a:ext cx="1714500" cy="57150"/>
          </a:xfrm>
          <a:prstGeom prst="rect">
            <a:avLst/>
          </a:prstGeom>
          <a:solidFill>
            <a:srgbClr val="7188F1"/>
          </a:solidFill>
          <a:ln/>
        </p:spPr>
        <p:txBody>
          <a:bodyPr/>
          <a:lstStyle/>
          <a:p>
            <a:endParaRPr lang="ko-KR" altLang="en-US"/>
          </a:p>
        </p:txBody>
      </p:sp>
      <p:sp>
        <p:nvSpPr>
          <p:cNvPr id="9" name="Text 7"/>
          <p:cNvSpPr/>
          <p:nvPr/>
        </p:nvSpPr>
        <p:spPr>
          <a:xfrm>
            <a:off x="1238250" y="6003578"/>
            <a:ext cx="10595610" cy="1266825"/>
          </a:xfrm>
          <a:prstGeom prst="rect">
            <a:avLst/>
          </a:prstGeom>
          <a:noFill/>
          <a:ln/>
        </p:spPr>
        <p:txBody>
          <a:bodyPr wrap="square" lIns="25400" tIns="25400" rIns="25400" bIns="25400" rtlCol="0" anchor="t">
            <a:normAutofit/>
          </a:bodyPr>
          <a:lstStyle/>
          <a:p>
            <a:pPr marL="0" indent="0" algn="l">
              <a:lnSpc>
                <a:spcPct val="132558"/>
              </a:lnSpc>
              <a:buNone/>
            </a:pPr>
            <a:r>
              <a:rPr lang="en-US" sz="2850" dirty="0">
                <a:solidFill>
                  <a:srgbClr val="374151"/>
                </a:solidFill>
                <a:latin typeface="Arial" pitchFamily="34" charset="0"/>
                <a:ea typeface="Arial" pitchFamily="34" charset="-122"/>
                <a:cs typeface="Arial" pitchFamily="34" charset="-120"/>
              </a:rPr>
              <a:t>운전면허 시험 코스를 재현해 자율주행 가능 여부를 자동으로 사전 검증하는 TurtleBot3 Burger 기반 시스템</a:t>
            </a:r>
            <a:endParaRPr lang="en-US" sz="2850" dirty="0"/>
          </a:p>
        </p:txBody>
      </p:sp>
      <p:sp>
        <p:nvSpPr>
          <p:cNvPr id="10" name="Shape 8"/>
          <p:cNvSpPr/>
          <p:nvPr/>
        </p:nvSpPr>
        <p:spPr>
          <a:xfrm>
            <a:off x="1238250" y="7765703"/>
            <a:ext cx="2021235" cy="581025"/>
          </a:xfrm>
          <a:prstGeom prst="roundRect">
            <a:avLst>
              <a:gd name="adj" fmla="val 13115"/>
            </a:avLst>
          </a:prstGeom>
          <a:solidFill>
            <a:srgbClr val="F3F4F6"/>
          </a:solidFill>
          <a:ln/>
        </p:spPr>
        <p:txBody>
          <a:bodyPr/>
          <a:lstStyle/>
          <a:p>
            <a:endParaRPr lang="ko-KR" altLang="en-US"/>
          </a:p>
        </p:txBody>
      </p:sp>
      <p:sp>
        <p:nvSpPr>
          <p:cNvPr id="11" name="Text 9"/>
          <p:cNvSpPr/>
          <p:nvPr/>
        </p:nvSpPr>
        <p:spPr>
          <a:xfrm>
            <a:off x="1447800" y="7880003"/>
            <a:ext cx="1678335" cy="390525"/>
          </a:xfrm>
          <a:prstGeom prst="rect">
            <a:avLst/>
          </a:prstGeom>
          <a:noFill/>
          <a:ln/>
        </p:spPr>
        <p:txBody>
          <a:bodyPr wrap="square" lIns="25400" tIns="25400" rIns="25400" bIns="25400" rtlCol="0" anchor="t">
            <a:normAutofit/>
          </a:bodyPr>
          <a:lstStyle/>
          <a:p>
            <a:pPr marL="0" indent="0" algn="l">
              <a:buNone/>
            </a:pPr>
            <a:r>
              <a:rPr lang="en-US" sz="1950" dirty="0">
                <a:solidFill>
                  <a:srgbClr val="374151"/>
                </a:solidFill>
                <a:latin typeface="Arial" pitchFamily="34" charset="0"/>
                <a:ea typeface="Arial" pitchFamily="34" charset="-122"/>
                <a:cs typeface="Arial" pitchFamily="34" charset="-120"/>
              </a:rPr>
              <a:t>ROS2 Humble</a:t>
            </a:r>
            <a:endParaRPr lang="en-US" sz="1950" dirty="0"/>
          </a:p>
        </p:txBody>
      </p:sp>
      <p:sp>
        <p:nvSpPr>
          <p:cNvPr id="12" name="Shape 10"/>
          <p:cNvSpPr/>
          <p:nvPr/>
        </p:nvSpPr>
        <p:spPr>
          <a:xfrm>
            <a:off x="3392835" y="7765703"/>
            <a:ext cx="1856333" cy="581025"/>
          </a:xfrm>
          <a:prstGeom prst="roundRect">
            <a:avLst>
              <a:gd name="adj" fmla="val 13115"/>
            </a:avLst>
          </a:prstGeom>
          <a:solidFill>
            <a:srgbClr val="F3F4F6"/>
          </a:solidFill>
          <a:ln/>
        </p:spPr>
        <p:txBody>
          <a:bodyPr/>
          <a:lstStyle/>
          <a:p>
            <a:endParaRPr lang="ko-KR" altLang="en-US"/>
          </a:p>
        </p:txBody>
      </p:sp>
      <p:sp>
        <p:nvSpPr>
          <p:cNvPr id="13" name="Text 11"/>
          <p:cNvSpPr/>
          <p:nvPr/>
        </p:nvSpPr>
        <p:spPr>
          <a:xfrm>
            <a:off x="3602385" y="7880003"/>
            <a:ext cx="151343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374151"/>
                </a:solidFill>
                <a:latin typeface="Arial" pitchFamily="34" charset="0"/>
                <a:ea typeface="Arial" pitchFamily="34" charset="-122"/>
                <a:cs typeface="Arial" pitchFamily="34" charset="-120"/>
              </a:rPr>
              <a:t>Nav2 / AMCL</a:t>
            </a:r>
            <a:endParaRPr lang="en-US" sz="1950" dirty="0"/>
          </a:p>
        </p:txBody>
      </p:sp>
      <p:sp>
        <p:nvSpPr>
          <p:cNvPr id="14" name="Shape 12"/>
          <p:cNvSpPr/>
          <p:nvPr/>
        </p:nvSpPr>
        <p:spPr>
          <a:xfrm>
            <a:off x="5382518" y="7765703"/>
            <a:ext cx="2966591" cy="581025"/>
          </a:xfrm>
          <a:prstGeom prst="roundRect">
            <a:avLst>
              <a:gd name="adj" fmla="val 13115"/>
            </a:avLst>
          </a:prstGeom>
          <a:solidFill>
            <a:srgbClr val="F3F4F6"/>
          </a:solidFill>
          <a:ln/>
        </p:spPr>
        <p:txBody>
          <a:bodyPr/>
          <a:lstStyle/>
          <a:p>
            <a:endParaRPr lang="ko-KR" altLang="en-US"/>
          </a:p>
        </p:txBody>
      </p:sp>
      <p:sp>
        <p:nvSpPr>
          <p:cNvPr id="15" name="Text 13"/>
          <p:cNvSpPr/>
          <p:nvPr/>
        </p:nvSpPr>
        <p:spPr>
          <a:xfrm>
            <a:off x="5592068" y="7880003"/>
            <a:ext cx="263648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374151"/>
                </a:solidFill>
                <a:latin typeface="Arial" pitchFamily="34" charset="0"/>
                <a:ea typeface="Arial" pitchFamily="34" charset="-122"/>
                <a:cs typeface="Arial" pitchFamily="34" charset="-120"/>
              </a:rPr>
              <a:t>OpenCV · HSV / ArUco</a:t>
            </a:r>
            <a:endParaRPr lang="en-US" sz="1950" dirty="0"/>
          </a:p>
        </p:txBody>
      </p:sp>
      <p:sp>
        <p:nvSpPr>
          <p:cNvPr id="16" name="Shape 14"/>
          <p:cNvSpPr/>
          <p:nvPr/>
        </p:nvSpPr>
        <p:spPr>
          <a:xfrm>
            <a:off x="8482459" y="7765703"/>
            <a:ext cx="1759148" cy="581025"/>
          </a:xfrm>
          <a:prstGeom prst="roundRect">
            <a:avLst>
              <a:gd name="adj" fmla="val 13115"/>
            </a:avLst>
          </a:prstGeom>
          <a:solidFill>
            <a:srgbClr val="F3F4F6"/>
          </a:solidFill>
          <a:ln/>
        </p:spPr>
        <p:txBody>
          <a:bodyPr/>
          <a:lstStyle/>
          <a:p>
            <a:endParaRPr lang="ko-KR" altLang="en-US"/>
          </a:p>
        </p:txBody>
      </p:sp>
      <p:sp>
        <p:nvSpPr>
          <p:cNvPr id="17" name="Text 15"/>
          <p:cNvSpPr/>
          <p:nvPr/>
        </p:nvSpPr>
        <p:spPr>
          <a:xfrm>
            <a:off x="8692009" y="7880003"/>
            <a:ext cx="1416248" cy="390525"/>
          </a:xfrm>
          <a:prstGeom prst="rect">
            <a:avLst/>
          </a:prstGeom>
          <a:noFill/>
          <a:ln/>
        </p:spPr>
        <p:txBody>
          <a:bodyPr wrap="square" lIns="25400" tIns="25400" rIns="25400" bIns="25400" rtlCol="0" anchor="t">
            <a:normAutofit/>
          </a:bodyPr>
          <a:lstStyle/>
          <a:p>
            <a:pPr marL="0" indent="0" algn="l">
              <a:buNone/>
            </a:pPr>
            <a:r>
              <a:rPr lang="en-US" sz="1950" dirty="0">
                <a:solidFill>
                  <a:srgbClr val="374151"/>
                </a:solidFill>
                <a:latin typeface="Arial" pitchFamily="34" charset="0"/>
                <a:ea typeface="Arial" pitchFamily="34" charset="-122"/>
                <a:cs typeface="Arial" pitchFamily="34" charset="-120"/>
              </a:rPr>
              <a:t>PM2 + tmux</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811000" y="-2286000"/>
            <a:ext cx="8191500" cy="8191500"/>
          </a:xfrm>
          <a:prstGeom prst="ellipse">
            <a:avLst/>
          </a:prstGeom>
          <a:solidFill>
            <a:srgbClr val="EAF7F5"/>
          </a:solidFill>
          <a:ln/>
        </p:spPr>
        <p:txBody>
          <a:bodyPr/>
          <a:lstStyle/>
          <a:p>
            <a:endParaRPr lang="ko-KR" altLang="en-US"/>
          </a:p>
        </p:txBody>
      </p:sp>
      <p:sp>
        <p:nvSpPr>
          <p:cNvPr id="3" name="Shape 1"/>
          <p:cNvSpPr/>
          <p:nvPr/>
        </p:nvSpPr>
        <p:spPr>
          <a:xfrm>
            <a:off x="-1905000" y="6858000"/>
            <a:ext cx="6096000" cy="6096000"/>
          </a:xfrm>
          <a:prstGeom prst="ellipse">
            <a:avLst/>
          </a:prstGeom>
          <a:solidFill>
            <a:srgbClr val="EEF1FE"/>
          </a:solidFill>
          <a:ln/>
        </p:spPr>
        <p:txBody>
          <a:bodyPr/>
          <a:lstStyle/>
          <a:p>
            <a:endParaRPr lang="ko-KR" altLang="en-US"/>
          </a:p>
        </p:txBody>
      </p:sp>
      <p:sp>
        <p:nvSpPr>
          <p:cNvPr id="4" name="Text 2"/>
          <p:cNvSpPr/>
          <p:nvPr/>
        </p:nvSpPr>
        <p:spPr>
          <a:xfrm>
            <a:off x="1238250" y="2515493"/>
            <a:ext cx="17392650" cy="1169640"/>
          </a:xfrm>
          <a:prstGeom prst="rect">
            <a:avLst/>
          </a:prstGeom>
          <a:noFill/>
          <a:ln/>
        </p:spPr>
        <p:txBody>
          <a:bodyPr wrap="square" lIns="25400" tIns="25400" rIns="25400" bIns="25400" rtlCol="0" anchor="t">
            <a:normAutofit lnSpcReduction="10000"/>
          </a:bodyPr>
          <a:lstStyle/>
          <a:p>
            <a:pPr marL="0" indent="0" algn="l">
              <a:lnSpc>
                <a:spcPct val="93543"/>
              </a:lnSpc>
              <a:buNone/>
            </a:pPr>
            <a:r>
              <a:rPr lang="en-US" sz="8250" b="1" kern="0" spc="-247" dirty="0">
                <a:solidFill>
                  <a:srgbClr val="111827"/>
                </a:solidFill>
                <a:latin typeface="Arial" pitchFamily="34" charset="0"/>
                <a:ea typeface="Arial" pitchFamily="34" charset="-122"/>
                <a:cs typeface="Arial" pitchFamily="34" charset="-120"/>
              </a:rPr>
              <a:t>목차</a:t>
            </a:r>
            <a:endParaRPr lang="en-US" sz="8250" dirty="0"/>
          </a:p>
        </p:txBody>
      </p:sp>
      <p:sp>
        <p:nvSpPr>
          <p:cNvPr id="5" name="Shape 3"/>
          <p:cNvSpPr/>
          <p:nvPr/>
        </p:nvSpPr>
        <p:spPr>
          <a:xfrm>
            <a:off x="1238250" y="4085183"/>
            <a:ext cx="1714500" cy="57150"/>
          </a:xfrm>
          <a:prstGeom prst="rect">
            <a:avLst/>
          </a:prstGeom>
          <a:solidFill>
            <a:srgbClr val="7188F1"/>
          </a:solidFill>
          <a:ln/>
        </p:spPr>
        <p:txBody>
          <a:bodyPr/>
          <a:lstStyle/>
          <a:p>
            <a:endParaRPr lang="ko-KR" altLang="en-US"/>
          </a:p>
        </p:txBody>
      </p:sp>
      <p:sp>
        <p:nvSpPr>
          <p:cNvPr id="6" name="Text 4"/>
          <p:cNvSpPr/>
          <p:nvPr/>
        </p:nvSpPr>
        <p:spPr>
          <a:xfrm>
            <a:off x="1238250" y="4675733"/>
            <a:ext cx="5518041"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117" dirty="0">
                <a:solidFill>
                  <a:srgbClr val="6BC9BE"/>
                </a:solidFill>
                <a:latin typeface="Arial" pitchFamily="34" charset="0"/>
                <a:ea typeface="Arial" pitchFamily="34" charset="-122"/>
                <a:cs typeface="Arial" pitchFamily="34" charset="-120"/>
              </a:rPr>
              <a:t>PART 1</a:t>
            </a:r>
            <a:endParaRPr lang="en-US" sz="1950" dirty="0"/>
          </a:p>
        </p:txBody>
      </p:sp>
      <p:sp>
        <p:nvSpPr>
          <p:cNvPr id="7" name="Text 5"/>
          <p:cNvSpPr/>
          <p:nvPr/>
        </p:nvSpPr>
        <p:spPr>
          <a:xfrm>
            <a:off x="1238250" y="5047208"/>
            <a:ext cx="5518041" cy="533400"/>
          </a:xfrm>
          <a:prstGeom prst="rect">
            <a:avLst/>
          </a:prstGeom>
          <a:noFill/>
          <a:ln/>
        </p:spPr>
        <p:txBody>
          <a:bodyPr wrap="square" lIns="25400" tIns="25400" rIns="25400" bIns="25400" rtlCol="0" anchor="t">
            <a:normAutofit/>
          </a:bodyPr>
          <a:lstStyle/>
          <a:p>
            <a:pPr marL="0" indent="0" algn="l">
              <a:buNone/>
            </a:pPr>
            <a:r>
              <a:rPr lang="en-US" sz="2700" b="1" dirty="0">
                <a:solidFill>
                  <a:srgbClr val="111827"/>
                </a:solidFill>
                <a:latin typeface="Arial" pitchFamily="34" charset="0"/>
                <a:ea typeface="Arial" pitchFamily="34" charset="-122"/>
                <a:cs typeface="Arial" pitchFamily="34" charset="-120"/>
              </a:rPr>
              <a:t>시스템 구조</a:t>
            </a:r>
            <a:endParaRPr lang="en-US" sz="2700" dirty="0"/>
          </a:p>
        </p:txBody>
      </p:sp>
      <p:sp>
        <p:nvSpPr>
          <p:cNvPr id="8" name="Text 6"/>
          <p:cNvSpPr/>
          <p:nvPr/>
        </p:nvSpPr>
        <p:spPr>
          <a:xfrm>
            <a:off x="1238250" y="57901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02</a:t>
            </a:r>
            <a:endParaRPr lang="en-US" sz="2100" dirty="0"/>
          </a:p>
        </p:txBody>
      </p:sp>
      <p:sp>
        <p:nvSpPr>
          <p:cNvPr id="9" name="Text 7"/>
          <p:cNvSpPr/>
          <p:nvPr/>
        </p:nvSpPr>
        <p:spPr>
          <a:xfrm>
            <a:off x="1748879" y="5790158"/>
            <a:ext cx="3316784"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지도 매핑 · 시나리오 ·GUI</a:t>
            </a:r>
            <a:endParaRPr lang="en-US" sz="2100" dirty="0"/>
          </a:p>
        </p:txBody>
      </p:sp>
      <p:sp>
        <p:nvSpPr>
          <p:cNvPr id="10" name="Text 8"/>
          <p:cNvSpPr/>
          <p:nvPr/>
        </p:nvSpPr>
        <p:spPr>
          <a:xfrm>
            <a:off x="1238250" y="63235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03</a:t>
            </a:r>
            <a:endParaRPr lang="en-US" sz="2100" dirty="0"/>
          </a:p>
        </p:txBody>
      </p:sp>
      <p:sp>
        <p:nvSpPr>
          <p:cNvPr id="11" name="Text 9"/>
          <p:cNvSpPr/>
          <p:nvPr/>
        </p:nvSpPr>
        <p:spPr>
          <a:xfrm>
            <a:off x="1748878" y="6323558"/>
            <a:ext cx="2244403"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시스템 구성도</a:t>
            </a:r>
            <a:endParaRPr lang="en-US" sz="2100" dirty="0"/>
          </a:p>
        </p:txBody>
      </p:sp>
      <p:sp>
        <p:nvSpPr>
          <p:cNvPr id="12" name="Text 10"/>
          <p:cNvSpPr/>
          <p:nvPr/>
        </p:nvSpPr>
        <p:spPr>
          <a:xfrm>
            <a:off x="1238250" y="68569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04</a:t>
            </a:r>
            <a:endParaRPr lang="en-US" sz="2100" dirty="0"/>
          </a:p>
        </p:txBody>
      </p:sp>
      <p:sp>
        <p:nvSpPr>
          <p:cNvPr id="13" name="Text 11"/>
          <p:cNvSpPr/>
          <p:nvPr/>
        </p:nvSpPr>
        <p:spPr>
          <a:xfrm>
            <a:off x="1748878" y="6856958"/>
            <a:ext cx="2556421"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ROS2 노드 구성</a:t>
            </a:r>
            <a:endParaRPr lang="en-US" sz="2100" dirty="0"/>
          </a:p>
        </p:txBody>
      </p:sp>
      <p:sp>
        <p:nvSpPr>
          <p:cNvPr id="14" name="Text 12"/>
          <p:cNvSpPr/>
          <p:nvPr/>
        </p:nvSpPr>
        <p:spPr>
          <a:xfrm>
            <a:off x="1238250" y="73903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05</a:t>
            </a:r>
            <a:endParaRPr lang="en-US" sz="2100" dirty="0"/>
          </a:p>
        </p:txBody>
      </p:sp>
      <p:sp>
        <p:nvSpPr>
          <p:cNvPr id="15" name="Text 13"/>
          <p:cNvSpPr/>
          <p:nvPr/>
        </p:nvSpPr>
        <p:spPr>
          <a:xfrm>
            <a:off x="1748879" y="7390358"/>
            <a:ext cx="2443877"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Nav2 파라미터 조정</a:t>
            </a:r>
            <a:endParaRPr lang="en-US" sz="2100" dirty="0"/>
          </a:p>
        </p:txBody>
      </p:sp>
      <p:sp>
        <p:nvSpPr>
          <p:cNvPr id="16" name="Text 14"/>
          <p:cNvSpPr/>
          <p:nvPr/>
        </p:nvSpPr>
        <p:spPr>
          <a:xfrm>
            <a:off x="6635651" y="4675733"/>
            <a:ext cx="5518205"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117" dirty="0">
                <a:solidFill>
                  <a:srgbClr val="7188F1"/>
                </a:solidFill>
                <a:latin typeface="Arial" pitchFamily="34" charset="0"/>
                <a:ea typeface="Arial" pitchFamily="34" charset="-122"/>
                <a:cs typeface="Arial" pitchFamily="34" charset="-120"/>
              </a:rPr>
              <a:t>PART 2</a:t>
            </a:r>
            <a:endParaRPr lang="en-US" sz="1950" dirty="0"/>
          </a:p>
        </p:txBody>
      </p:sp>
      <p:sp>
        <p:nvSpPr>
          <p:cNvPr id="17" name="Text 15"/>
          <p:cNvSpPr/>
          <p:nvPr/>
        </p:nvSpPr>
        <p:spPr>
          <a:xfrm>
            <a:off x="6635651" y="5047208"/>
            <a:ext cx="5518205" cy="533400"/>
          </a:xfrm>
          <a:prstGeom prst="rect">
            <a:avLst/>
          </a:prstGeom>
          <a:noFill/>
          <a:ln/>
        </p:spPr>
        <p:txBody>
          <a:bodyPr wrap="square" lIns="25400" tIns="25400" rIns="25400" bIns="25400" rtlCol="0" anchor="t">
            <a:normAutofit/>
          </a:bodyPr>
          <a:lstStyle/>
          <a:p>
            <a:pPr marL="0" indent="0" algn="l">
              <a:buNone/>
            </a:pPr>
            <a:r>
              <a:rPr lang="en-US" sz="2700" b="1" dirty="0">
                <a:solidFill>
                  <a:srgbClr val="111827"/>
                </a:solidFill>
                <a:latin typeface="Arial" pitchFamily="34" charset="0"/>
                <a:ea typeface="Arial" pitchFamily="34" charset="-122"/>
                <a:cs typeface="Arial" pitchFamily="34" charset="-120"/>
              </a:rPr>
              <a:t>구간별 알고리즘</a:t>
            </a:r>
            <a:endParaRPr lang="en-US" sz="2700" dirty="0"/>
          </a:p>
        </p:txBody>
      </p:sp>
      <p:sp>
        <p:nvSpPr>
          <p:cNvPr id="18" name="Text 16"/>
          <p:cNvSpPr/>
          <p:nvPr/>
        </p:nvSpPr>
        <p:spPr>
          <a:xfrm>
            <a:off x="6635651" y="57901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06</a:t>
            </a:r>
            <a:endParaRPr lang="en-US" sz="2100" dirty="0"/>
          </a:p>
        </p:txBody>
      </p:sp>
      <p:sp>
        <p:nvSpPr>
          <p:cNvPr id="19" name="Text 17"/>
          <p:cNvSpPr/>
          <p:nvPr/>
        </p:nvSpPr>
        <p:spPr>
          <a:xfrm>
            <a:off x="7146280" y="5790158"/>
            <a:ext cx="3063195"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크랭크 · IR 라인트레이싱</a:t>
            </a:r>
            <a:endParaRPr lang="en-US" sz="2100" dirty="0"/>
          </a:p>
        </p:txBody>
      </p:sp>
      <p:sp>
        <p:nvSpPr>
          <p:cNvPr id="20" name="Text 18"/>
          <p:cNvSpPr/>
          <p:nvPr/>
        </p:nvSpPr>
        <p:spPr>
          <a:xfrm>
            <a:off x="6635651" y="63235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07</a:t>
            </a:r>
            <a:endParaRPr lang="en-US" sz="2100" dirty="0"/>
          </a:p>
        </p:txBody>
      </p:sp>
      <p:sp>
        <p:nvSpPr>
          <p:cNvPr id="21" name="Text 19"/>
          <p:cNvSpPr/>
          <p:nvPr/>
        </p:nvSpPr>
        <p:spPr>
          <a:xfrm>
            <a:off x="7146280" y="6323558"/>
            <a:ext cx="3031435"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S코스 · 카메라 라인 인식</a:t>
            </a:r>
            <a:endParaRPr lang="en-US" sz="2100" dirty="0"/>
          </a:p>
        </p:txBody>
      </p:sp>
      <p:sp>
        <p:nvSpPr>
          <p:cNvPr id="22" name="Text 20"/>
          <p:cNvSpPr/>
          <p:nvPr/>
        </p:nvSpPr>
        <p:spPr>
          <a:xfrm>
            <a:off x="6635651" y="68569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08</a:t>
            </a:r>
            <a:endParaRPr lang="en-US" sz="2100" dirty="0"/>
          </a:p>
        </p:txBody>
      </p:sp>
      <p:sp>
        <p:nvSpPr>
          <p:cNvPr id="23" name="Text 21"/>
          <p:cNvSpPr/>
          <p:nvPr/>
        </p:nvSpPr>
        <p:spPr>
          <a:xfrm>
            <a:off x="7146280" y="6856958"/>
            <a:ext cx="3006551"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신호등 · 가속구간 (HSV)</a:t>
            </a:r>
            <a:endParaRPr lang="en-US" sz="2100" dirty="0"/>
          </a:p>
        </p:txBody>
      </p:sp>
      <p:sp>
        <p:nvSpPr>
          <p:cNvPr id="24" name="Text 22"/>
          <p:cNvSpPr/>
          <p:nvPr/>
        </p:nvSpPr>
        <p:spPr>
          <a:xfrm>
            <a:off x="6635651" y="73903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09</a:t>
            </a:r>
            <a:endParaRPr lang="en-US" sz="2100" dirty="0"/>
          </a:p>
        </p:txBody>
      </p:sp>
      <p:sp>
        <p:nvSpPr>
          <p:cNvPr id="25" name="Text 23"/>
          <p:cNvSpPr/>
          <p:nvPr/>
        </p:nvSpPr>
        <p:spPr>
          <a:xfrm>
            <a:off x="7146280" y="7390358"/>
            <a:ext cx="2198965"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직각주차 · ArUco</a:t>
            </a:r>
            <a:endParaRPr lang="en-US" sz="2100" dirty="0"/>
          </a:p>
        </p:txBody>
      </p:sp>
      <p:sp>
        <p:nvSpPr>
          <p:cNvPr id="26" name="Text 24"/>
          <p:cNvSpPr/>
          <p:nvPr/>
        </p:nvSpPr>
        <p:spPr>
          <a:xfrm>
            <a:off x="12033200" y="4675733"/>
            <a:ext cx="5518205"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117" dirty="0">
                <a:solidFill>
                  <a:srgbClr val="6B7280"/>
                </a:solidFill>
                <a:latin typeface="Arial" pitchFamily="34" charset="0"/>
                <a:ea typeface="Arial" pitchFamily="34" charset="-122"/>
                <a:cs typeface="Arial" pitchFamily="34" charset="-120"/>
              </a:rPr>
              <a:t>PART 3</a:t>
            </a:r>
            <a:endParaRPr lang="en-US" sz="1950" dirty="0"/>
          </a:p>
        </p:txBody>
      </p:sp>
      <p:sp>
        <p:nvSpPr>
          <p:cNvPr id="27" name="Text 25"/>
          <p:cNvSpPr/>
          <p:nvPr/>
        </p:nvSpPr>
        <p:spPr>
          <a:xfrm>
            <a:off x="12033200" y="5047208"/>
            <a:ext cx="5518205" cy="533400"/>
          </a:xfrm>
          <a:prstGeom prst="rect">
            <a:avLst/>
          </a:prstGeom>
          <a:noFill/>
          <a:ln/>
        </p:spPr>
        <p:txBody>
          <a:bodyPr wrap="square" lIns="25400" tIns="25400" rIns="25400" bIns="25400" rtlCol="0" anchor="t">
            <a:normAutofit/>
          </a:bodyPr>
          <a:lstStyle/>
          <a:p>
            <a:pPr marL="0" indent="0" algn="l">
              <a:buNone/>
            </a:pPr>
            <a:r>
              <a:rPr lang="en-US" sz="2700" b="1" dirty="0">
                <a:solidFill>
                  <a:srgbClr val="111827"/>
                </a:solidFill>
                <a:latin typeface="Arial" pitchFamily="34" charset="0"/>
                <a:ea typeface="Arial" pitchFamily="34" charset="-122"/>
                <a:cs typeface="Arial" pitchFamily="34" charset="-120"/>
              </a:rPr>
              <a:t>운영 · 회고</a:t>
            </a:r>
            <a:endParaRPr lang="en-US" sz="2700" dirty="0"/>
          </a:p>
        </p:txBody>
      </p:sp>
      <p:sp>
        <p:nvSpPr>
          <p:cNvPr id="28" name="Text 26"/>
          <p:cNvSpPr/>
          <p:nvPr/>
        </p:nvSpPr>
        <p:spPr>
          <a:xfrm>
            <a:off x="12033200" y="57901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10</a:t>
            </a:r>
            <a:endParaRPr lang="en-US" sz="2100" dirty="0"/>
          </a:p>
        </p:txBody>
      </p:sp>
      <p:sp>
        <p:nvSpPr>
          <p:cNvPr id="29" name="Text 27"/>
          <p:cNvSpPr/>
          <p:nvPr/>
        </p:nvSpPr>
        <p:spPr>
          <a:xfrm>
            <a:off x="12543829" y="5790158"/>
            <a:ext cx="2171801"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자동 실행 구조</a:t>
            </a:r>
            <a:endParaRPr lang="en-US" sz="2100" dirty="0"/>
          </a:p>
        </p:txBody>
      </p:sp>
      <p:sp>
        <p:nvSpPr>
          <p:cNvPr id="30" name="Text 28"/>
          <p:cNvSpPr/>
          <p:nvPr/>
        </p:nvSpPr>
        <p:spPr>
          <a:xfrm>
            <a:off x="12033200" y="63235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11</a:t>
            </a:r>
            <a:endParaRPr lang="en-US" sz="2100" dirty="0"/>
          </a:p>
        </p:txBody>
      </p:sp>
      <p:sp>
        <p:nvSpPr>
          <p:cNvPr id="31" name="Text 29"/>
          <p:cNvSpPr/>
          <p:nvPr/>
        </p:nvSpPr>
        <p:spPr>
          <a:xfrm>
            <a:off x="12543829" y="6323558"/>
            <a:ext cx="2171801"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통신 단절 대응</a:t>
            </a:r>
            <a:endParaRPr lang="en-US" sz="2100" dirty="0"/>
          </a:p>
        </p:txBody>
      </p:sp>
      <p:sp>
        <p:nvSpPr>
          <p:cNvPr id="32" name="Text 30"/>
          <p:cNvSpPr/>
          <p:nvPr/>
        </p:nvSpPr>
        <p:spPr>
          <a:xfrm>
            <a:off x="12033200" y="68569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12</a:t>
            </a:r>
            <a:endParaRPr lang="en-US" sz="2100" dirty="0"/>
          </a:p>
        </p:txBody>
      </p:sp>
      <p:sp>
        <p:nvSpPr>
          <p:cNvPr id="33" name="Text 31"/>
          <p:cNvSpPr/>
          <p:nvPr/>
        </p:nvSpPr>
        <p:spPr>
          <a:xfrm>
            <a:off x="12543830" y="6856958"/>
            <a:ext cx="2841313"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문제점과 해결 과정</a:t>
            </a:r>
            <a:endParaRPr lang="en-US" sz="2100" dirty="0"/>
          </a:p>
        </p:txBody>
      </p:sp>
      <p:sp>
        <p:nvSpPr>
          <p:cNvPr id="34" name="Text 32"/>
          <p:cNvSpPr/>
          <p:nvPr/>
        </p:nvSpPr>
        <p:spPr>
          <a:xfrm>
            <a:off x="12033200" y="7390358"/>
            <a:ext cx="39632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13</a:t>
            </a:r>
            <a:endParaRPr lang="en-US" sz="2100" dirty="0"/>
          </a:p>
        </p:txBody>
      </p:sp>
      <p:sp>
        <p:nvSpPr>
          <p:cNvPr id="35" name="Text 33"/>
          <p:cNvSpPr/>
          <p:nvPr/>
        </p:nvSpPr>
        <p:spPr>
          <a:xfrm>
            <a:off x="12543829" y="7390358"/>
            <a:ext cx="2171801"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Arial" pitchFamily="34" charset="0"/>
                <a:ea typeface="Arial" pitchFamily="34" charset="-122"/>
                <a:cs typeface="Arial" pitchFamily="34" charset="-120"/>
              </a:rPr>
              <a:t>향후 개선 계획</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01</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3214792"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프로젝트 소개 · 팀 역할 분담</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YEYU 터틀봇 프로젝트</a:t>
            </a:r>
            <a:endParaRPr lang="en-US" sz="4650" dirty="0"/>
          </a:p>
        </p:txBody>
      </p:sp>
      <p:sp>
        <p:nvSpPr>
          <p:cNvPr id="6" name="Shape 4"/>
          <p:cNvSpPr/>
          <p:nvPr/>
        </p:nvSpPr>
        <p:spPr>
          <a:xfrm>
            <a:off x="952500" y="2447925"/>
            <a:ext cx="8215610" cy="6534150"/>
          </a:xfrm>
          <a:prstGeom prst="roundRect">
            <a:avLst>
              <a:gd name="adj" fmla="val 2915"/>
            </a:avLst>
          </a:prstGeom>
          <a:ln w="19050">
            <a:solidFill>
              <a:srgbClr val="E5E7EB"/>
            </a:solidFill>
            <a:prstDash val="solid"/>
          </a:ln>
        </p:spPr>
        <p:txBody>
          <a:bodyPr/>
          <a:lstStyle/>
          <a:p>
            <a:endParaRPr lang="ko-KR" altLang="en-US"/>
          </a:p>
        </p:txBody>
      </p:sp>
      <p:sp>
        <p:nvSpPr>
          <p:cNvPr id="7" name="Shape 5"/>
          <p:cNvSpPr/>
          <p:nvPr/>
        </p:nvSpPr>
        <p:spPr>
          <a:xfrm>
            <a:off x="1352550" y="3390007"/>
            <a:ext cx="6795939" cy="4649837"/>
          </a:xfrm>
          <a:prstGeom prst="roundRect">
            <a:avLst>
              <a:gd name="adj" fmla="val 2458"/>
            </a:avLst>
          </a:prstGeom>
          <a:solidFill>
            <a:srgbClr val="F9FAFB"/>
          </a:solidFill>
          <a:ln/>
        </p:spPr>
        <p:txBody>
          <a:bodyPr/>
          <a:lstStyle/>
          <a:p>
            <a:endParaRPr lang="ko-KR" altLang="en-US"/>
          </a:p>
        </p:txBody>
      </p:sp>
      <p:sp>
        <p:nvSpPr>
          <p:cNvPr id="8" name="Shape 6"/>
          <p:cNvSpPr/>
          <p:nvPr/>
        </p:nvSpPr>
        <p:spPr>
          <a:xfrm>
            <a:off x="1352550" y="3390007"/>
            <a:ext cx="57150" cy="4649837"/>
          </a:xfrm>
          <a:prstGeom prst="rect">
            <a:avLst/>
          </a:prstGeom>
          <a:solidFill>
            <a:srgbClr val="6BC9BE"/>
          </a:solidFill>
          <a:ln/>
        </p:spPr>
        <p:txBody>
          <a:bodyPr/>
          <a:lstStyle/>
          <a:p>
            <a:endParaRPr lang="ko-KR" altLang="en-US"/>
          </a:p>
        </p:txBody>
      </p:sp>
      <p:sp>
        <p:nvSpPr>
          <p:cNvPr id="9" name="Text 7"/>
          <p:cNvSpPr/>
          <p:nvPr/>
        </p:nvSpPr>
        <p:spPr>
          <a:xfrm>
            <a:off x="1657350" y="3618607"/>
            <a:ext cx="6447367" cy="4230737"/>
          </a:xfrm>
          <a:prstGeom prst="rect">
            <a:avLst/>
          </a:prstGeom>
          <a:noFill/>
          <a:ln/>
        </p:spPr>
        <p:txBody>
          <a:bodyPr wrap="square" lIns="25400" tIns="25400" rIns="25400" bIns="25400" rtlCol="0" anchor="t">
            <a:normAutofit/>
          </a:bodyPr>
          <a:lstStyle/>
          <a:p>
            <a:pPr marL="0" indent="0" algn="l">
              <a:lnSpc>
                <a:spcPct val="135625"/>
              </a:lnSpc>
              <a:buNone/>
            </a:pPr>
            <a:r>
              <a:rPr lang="en-US" sz="3000" b="1" dirty="0">
                <a:solidFill>
                  <a:srgbClr val="111827"/>
                </a:solidFill>
                <a:highlight>
                  <a:srgbClr val="FFFFFF"/>
                </a:highlight>
                <a:latin typeface="Arial" pitchFamily="34" charset="0"/>
                <a:ea typeface="Arial" pitchFamily="34" charset="-122"/>
                <a:cs typeface="Arial" pitchFamily="34" charset="-120"/>
              </a:rPr>
              <a:t>로봇에게 운전 면허 시험을 치르게 한 후 그 결과로 자율주행 성능을 자동으로 검증하는 시스템</a:t>
            </a:r>
            <a:endParaRPr lang="en-US" sz="3000" dirty="0"/>
          </a:p>
        </p:txBody>
      </p:sp>
      <p:sp>
        <p:nvSpPr>
          <p:cNvPr id="10" name="Shape 8"/>
          <p:cNvSpPr/>
          <p:nvPr/>
        </p:nvSpPr>
        <p:spPr>
          <a:xfrm>
            <a:off x="9511010" y="2447925"/>
            <a:ext cx="7824490" cy="3152775"/>
          </a:xfrm>
          <a:prstGeom prst="roundRect">
            <a:avLst>
              <a:gd name="adj" fmla="val 6042"/>
            </a:avLst>
          </a:prstGeom>
          <a:solidFill>
            <a:srgbClr val="F7FCFB"/>
          </a:solidFill>
          <a:ln w="19050">
            <a:solidFill>
              <a:srgbClr val="6BC9BE"/>
            </a:solidFill>
            <a:prstDash val="solid"/>
          </a:ln>
        </p:spPr>
        <p:txBody>
          <a:bodyPr/>
          <a:lstStyle/>
          <a:p>
            <a:endParaRPr lang="ko-KR" altLang="en-US"/>
          </a:p>
        </p:txBody>
      </p:sp>
      <p:sp>
        <p:nvSpPr>
          <p:cNvPr id="11" name="Text 9"/>
          <p:cNvSpPr/>
          <p:nvPr/>
        </p:nvSpPr>
        <p:spPr>
          <a:xfrm>
            <a:off x="9892010" y="2828925"/>
            <a:ext cx="7768739"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117" dirty="0">
                <a:solidFill>
                  <a:srgbClr val="6BC9BE"/>
                </a:solidFill>
                <a:latin typeface="Arial" pitchFamily="34" charset="0"/>
                <a:ea typeface="Arial" pitchFamily="34" charset="-122"/>
                <a:cs typeface="Arial" pitchFamily="34" charset="-120"/>
              </a:rPr>
              <a:t>ROLE A · </a:t>
            </a:r>
            <a:r>
              <a:rPr lang="en-US" sz="1950" b="1" kern="0" spc="117" dirty="0">
                <a:solidFill>
                  <a:srgbClr val="6BC9BE"/>
                </a:solidFill>
                <a:highlight>
                  <a:srgbClr val="F7F8FE"/>
                </a:highlight>
                <a:latin typeface="Arial" pitchFamily="34" charset="0"/>
                <a:ea typeface="Arial" pitchFamily="34" charset="-122"/>
                <a:cs typeface="Arial" pitchFamily="34" charset="-120"/>
              </a:rPr>
              <a:t>VISION /SERVICE</a:t>
            </a:r>
            <a:endParaRPr lang="en-US" sz="1950" dirty="0"/>
          </a:p>
        </p:txBody>
      </p:sp>
      <p:sp>
        <p:nvSpPr>
          <p:cNvPr id="12" name="Text 10"/>
          <p:cNvSpPr/>
          <p:nvPr/>
        </p:nvSpPr>
        <p:spPr>
          <a:xfrm>
            <a:off x="9892010" y="3219450"/>
            <a:ext cx="7768739" cy="647700"/>
          </a:xfrm>
          <a:prstGeom prst="rect">
            <a:avLst/>
          </a:prstGeom>
          <a:noFill/>
          <a:ln/>
        </p:spPr>
        <p:txBody>
          <a:bodyPr wrap="square" lIns="25400" tIns="25400" rIns="25400" bIns="25400" rtlCol="0" anchor="t">
            <a:normAutofit/>
          </a:bodyPr>
          <a:lstStyle/>
          <a:p>
            <a:pPr marL="0" indent="0" algn="l">
              <a:buNone/>
            </a:pPr>
            <a:r>
              <a:rPr lang="en-US" sz="3300" b="1" dirty="0">
                <a:solidFill>
                  <a:srgbClr val="111827"/>
                </a:solidFill>
                <a:latin typeface="Arial" pitchFamily="34" charset="0"/>
                <a:ea typeface="Arial" pitchFamily="34" charset="-122"/>
                <a:cs typeface="Arial" pitchFamily="34" charset="-120"/>
              </a:rPr>
              <a:t>강유나</a:t>
            </a:r>
            <a:endParaRPr lang="en-US" sz="3300" dirty="0"/>
          </a:p>
        </p:txBody>
      </p:sp>
      <p:sp>
        <p:nvSpPr>
          <p:cNvPr id="13" name="Text 11"/>
          <p:cNvSpPr/>
          <p:nvPr/>
        </p:nvSpPr>
        <p:spPr>
          <a:xfrm>
            <a:off x="9892010" y="4019550"/>
            <a:ext cx="7768739" cy="466130"/>
          </a:xfrm>
          <a:prstGeom prst="rect">
            <a:avLst/>
          </a:prstGeom>
          <a:noFill/>
          <a:ln/>
        </p:spPr>
        <p:txBody>
          <a:bodyPr wrap="square" lIns="25400" tIns="25400" rIns="25400" bIns="25400" rtlCol="0" anchor="t">
            <a:normAutofit/>
          </a:bodyPr>
          <a:lstStyle/>
          <a:p>
            <a:pPr marL="0" indent="0" algn="l">
              <a:lnSpc>
                <a:spcPct val="136212"/>
              </a:lnSpc>
              <a:buNone/>
            </a:pPr>
            <a:r>
              <a:rPr lang="en-US" sz="2175" dirty="0">
                <a:solidFill>
                  <a:srgbClr val="374151"/>
                </a:solidFill>
                <a:latin typeface="Arial" pitchFamily="34" charset="0"/>
                <a:ea typeface="Arial" pitchFamily="34" charset="-122"/>
                <a:cs typeface="Arial" pitchFamily="34" charset="-120"/>
              </a:rPr>
              <a:t>라인트레이싱 , Aruco 정렬 , wifi 단절</a:t>
            </a:r>
            <a:endParaRPr lang="en-US" sz="2175" dirty="0"/>
          </a:p>
        </p:txBody>
      </p:sp>
      <p:sp>
        <p:nvSpPr>
          <p:cNvPr id="14" name="Shape 12"/>
          <p:cNvSpPr/>
          <p:nvPr/>
        </p:nvSpPr>
        <p:spPr>
          <a:xfrm>
            <a:off x="9511010" y="5829300"/>
            <a:ext cx="7824490" cy="3152775"/>
          </a:xfrm>
          <a:prstGeom prst="roundRect">
            <a:avLst>
              <a:gd name="adj" fmla="val 6042"/>
            </a:avLst>
          </a:prstGeom>
          <a:solidFill>
            <a:srgbClr val="F7F8FE"/>
          </a:solidFill>
          <a:ln w="19050">
            <a:solidFill>
              <a:srgbClr val="7188F1"/>
            </a:solidFill>
            <a:prstDash val="solid"/>
          </a:ln>
        </p:spPr>
        <p:txBody>
          <a:bodyPr/>
          <a:lstStyle/>
          <a:p>
            <a:endParaRPr lang="ko-KR" altLang="en-US"/>
          </a:p>
        </p:txBody>
      </p:sp>
      <p:sp>
        <p:nvSpPr>
          <p:cNvPr id="15" name="Text 13"/>
          <p:cNvSpPr/>
          <p:nvPr/>
        </p:nvSpPr>
        <p:spPr>
          <a:xfrm>
            <a:off x="9892010" y="6210300"/>
            <a:ext cx="7768739"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117" dirty="0">
                <a:solidFill>
                  <a:srgbClr val="7188F1"/>
                </a:solidFill>
                <a:latin typeface="Arial" pitchFamily="34" charset="0"/>
                <a:ea typeface="Arial" pitchFamily="34" charset="-122"/>
                <a:cs typeface="Arial" pitchFamily="34" charset="-120"/>
              </a:rPr>
              <a:t>ROLE B · </a:t>
            </a:r>
            <a:r>
              <a:rPr lang="en-US" sz="1950" b="1" kern="0" spc="117" dirty="0">
                <a:solidFill>
                  <a:srgbClr val="7188F1"/>
                </a:solidFill>
                <a:highlight>
                  <a:srgbClr val="F7FCFB"/>
                </a:highlight>
                <a:latin typeface="Arial" pitchFamily="34" charset="0"/>
                <a:ea typeface="Arial" pitchFamily="34" charset="-122"/>
                <a:cs typeface="Arial" pitchFamily="34" charset="-120"/>
              </a:rPr>
              <a:t>NAVIGATION/SYSTEM</a:t>
            </a:r>
            <a:endParaRPr lang="en-US" sz="1950" dirty="0"/>
          </a:p>
        </p:txBody>
      </p:sp>
      <p:sp>
        <p:nvSpPr>
          <p:cNvPr id="16" name="Text 14"/>
          <p:cNvSpPr/>
          <p:nvPr/>
        </p:nvSpPr>
        <p:spPr>
          <a:xfrm>
            <a:off x="9892010" y="6600825"/>
            <a:ext cx="7768739" cy="647700"/>
          </a:xfrm>
          <a:prstGeom prst="rect">
            <a:avLst/>
          </a:prstGeom>
          <a:noFill/>
          <a:ln/>
        </p:spPr>
        <p:txBody>
          <a:bodyPr wrap="square" lIns="25400" tIns="25400" rIns="25400" bIns="25400" rtlCol="0" anchor="t">
            <a:normAutofit/>
          </a:bodyPr>
          <a:lstStyle/>
          <a:p>
            <a:pPr marL="0" indent="0" algn="l">
              <a:buNone/>
            </a:pPr>
            <a:r>
              <a:rPr lang="en-US" sz="3300" b="1" dirty="0">
                <a:solidFill>
                  <a:srgbClr val="111827"/>
                </a:solidFill>
                <a:latin typeface="Arial" pitchFamily="34" charset="0"/>
                <a:ea typeface="Arial" pitchFamily="34" charset="-122"/>
                <a:cs typeface="Arial" pitchFamily="34" charset="-120"/>
              </a:rPr>
              <a:t>김예은</a:t>
            </a:r>
            <a:endParaRPr lang="en-US" sz="3300" dirty="0"/>
          </a:p>
        </p:txBody>
      </p:sp>
      <p:sp>
        <p:nvSpPr>
          <p:cNvPr id="17" name="Text 15"/>
          <p:cNvSpPr/>
          <p:nvPr/>
        </p:nvSpPr>
        <p:spPr>
          <a:xfrm>
            <a:off x="9892010" y="7400925"/>
            <a:ext cx="7768739" cy="466130"/>
          </a:xfrm>
          <a:prstGeom prst="rect">
            <a:avLst/>
          </a:prstGeom>
          <a:noFill/>
          <a:ln/>
        </p:spPr>
        <p:txBody>
          <a:bodyPr wrap="square" lIns="25400" tIns="25400" rIns="25400" bIns="25400" rtlCol="0" anchor="t">
            <a:normAutofit/>
          </a:bodyPr>
          <a:lstStyle/>
          <a:p>
            <a:pPr marL="0" indent="0" algn="l">
              <a:lnSpc>
                <a:spcPct val="136212"/>
              </a:lnSpc>
              <a:buNone/>
            </a:pPr>
            <a:r>
              <a:rPr lang="en-US" sz="2175" dirty="0">
                <a:solidFill>
                  <a:srgbClr val="374151"/>
                </a:solidFill>
                <a:latin typeface="Arial" pitchFamily="34" charset="0"/>
                <a:ea typeface="Arial" pitchFamily="34" charset="-122"/>
                <a:cs typeface="Arial" pitchFamily="34" charset="-120"/>
              </a:rPr>
              <a:t>전체노드 구성, 색상 검출 , PM2 통합</a:t>
            </a:r>
            <a:endParaRPr lang="en-US" sz="2175" dirty="0"/>
          </a:p>
        </p:txBody>
      </p:sp>
      <p:sp>
        <p:nvSpPr>
          <p:cNvPr id="18" name="Text 16"/>
          <p:cNvSpPr/>
          <p:nvPr/>
        </p:nvSpPr>
        <p:spPr>
          <a:xfrm>
            <a:off x="952500" y="9267825"/>
            <a:ext cx="3272745" cy="37147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19" name="Text 17"/>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01</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02</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234090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지도 매핑 · 시나리오</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SLAM 맵 위에 11개 웨이포인트를 배치</a:t>
            </a:r>
            <a:endParaRPr lang="en-US" sz="4650" dirty="0"/>
          </a:p>
        </p:txBody>
      </p:sp>
      <p:sp>
        <p:nvSpPr>
          <p:cNvPr id="6" name="Text 4"/>
          <p:cNvSpPr/>
          <p:nvPr/>
        </p:nvSpPr>
        <p:spPr>
          <a:xfrm>
            <a:off x="8143875" y="3114675"/>
            <a:ext cx="8721757" cy="933450"/>
          </a:xfrm>
          <a:prstGeom prst="rect">
            <a:avLst/>
          </a:prstGeom>
          <a:noFill/>
          <a:ln/>
        </p:spPr>
        <p:txBody>
          <a:bodyPr wrap="square" lIns="25400" tIns="25400" rIns="25400" bIns="25400" rtlCol="0" anchor="t">
            <a:normAutofit/>
          </a:bodyPr>
          <a:lstStyle/>
          <a:p>
            <a:pPr marL="0" indent="0" algn="l">
              <a:buNone/>
            </a:pPr>
            <a:r>
              <a:rPr lang="en-US" sz="2700" b="1" kern="0" spc="162" dirty="0">
                <a:solidFill>
                  <a:srgbClr val="000000"/>
                </a:solidFill>
                <a:latin typeface="Arial" pitchFamily="34" charset="0"/>
                <a:ea typeface="Arial" pitchFamily="34" charset="-122"/>
                <a:cs typeface="Arial" pitchFamily="34" charset="-120"/>
              </a:rPr>
              <a:t>주행 순서 TRAJECTORY 1</a:t>
            </a:r>
            <a:endParaRPr lang="en-US" sz="2700" dirty="0"/>
          </a:p>
        </p:txBody>
      </p:sp>
      <p:sp>
        <p:nvSpPr>
          <p:cNvPr id="7" name="Text 5"/>
          <p:cNvSpPr/>
          <p:nvPr/>
        </p:nvSpPr>
        <p:spPr>
          <a:xfrm>
            <a:off x="8143875" y="4324350"/>
            <a:ext cx="1028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wp1</a:t>
            </a:r>
            <a:endParaRPr lang="en-US" sz="2100" dirty="0"/>
          </a:p>
        </p:txBody>
      </p:sp>
      <p:sp>
        <p:nvSpPr>
          <p:cNvPr id="8" name="Text 6"/>
          <p:cNvSpPr/>
          <p:nvPr/>
        </p:nvSpPr>
        <p:spPr>
          <a:xfrm>
            <a:off x="9248775" y="4286250"/>
            <a:ext cx="4062323"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CD6FE8"/>
                </a:solidFill>
                <a:latin typeface="Arial" pitchFamily="34" charset="0"/>
                <a:ea typeface="Arial" pitchFamily="34" charset="-122"/>
                <a:cs typeface="Arial" pitchFamily="34" charset="-120"/>
              </a:rPr>
              <a:t>TRACING_CRANK</a:t>
            </a:r>
            <a:endParaRPr lang="en-US" sz="2700" dirty="0"/>
          </a:p>
        </p:txBody>
      </p:sp>
      <p:sp>
        <p:nvSpPr>
          <p:cNvPr id="9" name="Text 7"/>
          <p:cNvSpPr/>
          <p:nvPr/>
        </p:nvSpPr>
        <p:spPr>
          <a:xfrm>
            <a:off x="13094196" y="4200525"/>
            <a:ext cx="3164205" cy="533400"/>
          </a:xfrm>
          <a:prstGeom prst="rect">
            <a:avLst/>
          </a:prstGeom>
          <a:noFill/>
          <a:ln/>
        </p:spPr>
        <p:txBody>
          <a:bodyPr wrap="square" lIns="25400" tIns="25400" rIns="25400" bIns="25400" rtlCol="0" anchor="t">
            <a:normAutofit/>
          </a:bodyPr>
          <a:lstStyle/>
          <a:p>
            <a:pPr marL="0" indent="0" algn="l">
              <a:buNone/>
            </a:pPr>
            <a:r>
              <a:rPr lang="en-US" sz="2700" dirty="0">
                <a:solidFill>
                  <a:srgbClr val="6B7280"/>
                </a:solidFill>
                <a:latin typeface="Arial" pitchFamily="34" charset="0"/>
                <a:ea typeface="Arial" pitchFamily="34" charset="-122"/>
                <a:cs typeface="Arial" pitchFamily="34" charset="-120"/>
              </a:rPr>
              <a:t>IR 라인트레이싱</a:t>
            </a:r>
            <a:endParaRPr lang="en-US" sz="2700" dirty="0"/>
          </a:p>
        </p:txBody>
      </p:sp>
      <p:sp>
        <p:nvSpPr>
          <p:cNvPr id="10" name="Text 8"/>
          <p:cNvSpPr/>
          <p:nvPr/>
        </p:nvSpPr>
        <p:spPr>
          <a:xfrm>
            <a:off x="8143875" y="4953000"/>
            <a:ext cx="1028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wp3</a:t>
            </a:r>
            <a:endParaRPr lang="en-US" sz="2100" dirty="0"/>
          </a:p>
        </p:txBody>
      </p:sp>
      <p:sp>
        <p:nvSpPr>
          <p:cNvPr id="11" name="Text 9"/>
          <p:cNvSpPr/>
          <p:nvPr/>
        </p:nvSpPr>
        <p:spPr>
          <a:xfrm>
            <a:off x="9248775" y="4914900"/>
            <a:ext cx="4062323"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C68C4"/>
                </a:solidFill>
                <a:latin typeface="Arial" pitchFamily="34" charset="0"/>
                <a:ea typeface="Arial" pitchFamily="34" charset="-122"/>
                <a:cs typeface="Arial" pitchFamily="34" charset="-120"/>
              </a:rPr>
              <a:t>TRACING_S</a:t>
            </a:r>
            <a:endParaRPr lang="en-US" sz="2700" dirty="0"/>
          </a:p>
        </p:txBody>
      </p:sp>
      <p:sp>
        <p:nvSpPr>
          <p:cNvPr id="12" name="Text 10"/>
          <p:cNvSpPr/>
          <p:nvPr/>
        </p:nvSpPr>
        <p:spPr>
          <a:xfrm>
            <a:off x="13094196" y="4829175"/>
            <a:ext cx="3869144" cy="533400"/>
          </a:xfrm>
          <a:prstGeom prst="rect">
            <a:avLst/>
          </a:prstGeom>
          <a:noFill/>
          <a:ln/>
        </p:spPr>
        <p:txBody>
          <a:bodyPr wrap="square" lIns="25400" tIns="25400" rIns="25400" bIns="25400" rtlCol="0" anchor="t">
            <a:normAutofit/>
          </a:bodyPr>
          <a:lstStyle/>
          <a:p>
            <a:pPr marL="0" indent="0" algn="l">
              <a:buNone/>
            </a:pPr>
            <a:r>
              <a:rPr lang="en-US" sz="2700" dirty="0">
                <a:solidFill>
                  <a:srgbClr val="6B7280"/>
                </a:solidFill>
                <a:latin typeface="Arial" pitchFamily="34" charset="0"/>
                <a:ea typeface="Arial" pitchFamily="34" charset="-122"/>
                <a:cs typeface="Arial" pitchFamily="34" charset="-120"/>
              </a:rPr>
              <a:t>카메라 라인 인식</a:t>
            </a:r>
            <a:endParaRPr lang="en-US" sz="2700" dirty="0"/>
          </a:p>
        </p:txBody>
      </p:sp>
      <p:sp>
        <p:nvSpPr>
          <p:cNvPr id="13" name="Text 11"/>
          <p:cNvSpPr/>
          <p:nvPr/>
        </p:nvSpPr>
        <p:spPr>
          <a:xfrm>
            <a:off x="8143875" y="5581650"/>
            <a:ext cx="1028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wp6</a:t>
            </a:r>
            <a:endParaRPr lang="en-US" sz="2100" dirty="0"/>
          </a:p>
        </p:txBody>
      </p:sp>
      <p:sp>
        <p:nvSpPr>
          <p:cNvPr id="14" name="Text 12"/>
          <p:cNvSpPr/>
          <p:nvPr/>
        </p:nvSpPr>
        <p:spPr>
          <a:xfrm>
            <a:off x="9248775" y="5543550"/>
            <a:ext cx="4062323"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3FAA53"/>
                </a:solidFill>
                <a:latin typeface="Arial" pitchFamily="34" charset="0"/>
                <a:ea typeface="Arial" pitchFamily="34" charset="-122"/>
                <a:cs typeface="Arial" pitchFamily="34" charset="-120"/>
              </a:rPr>
              <a:t>SIGNAL_WAIT</a:t>
            </a:r>
            <a:endParaRPr lang="en-US" sz="2700" dirty="0"/>
          </a:p>
        </p:txBody>
      </p:sp>
      <p:sp>
        <p:nvSpPr>
          <p:cNvPr id="15" name="Text 13"/>
          <p:cNvSpPr/>
          <p:nvPr/>
        </p:nvSpPr>
        <p:spPr>
          <a:xfrm>
            <a:off x="13094196" y="5457825"/>
            <a:ext cx="3869144" cy="533400"/>
          </a:xfrm>
          <a:prstGeom prst="rect">
            <a:avLst/>
          </a:prstGeom>
          <a:noFill/>
          <a:ln/>
        </p:spPr>
        <p:txBody>
          <a:bodyPr wrap="square" lIns="25400" tIns="25400" rIns="25400" bIns="25400" rtlCol="0" anchor="t">
            <a:normAutofit/>
          </a:bodyPr>
          <a:lstStyle/>
          <a:p>
            <a:pPr marL="0" indent="0" algn="l">
              <a:buNone/>
            </a:pPr>
            <a:r>
              <a:rPr lang="en-US" sz="2700" dirty="0">
                <a:solidFill>
                  <a:srgbClr val="6B7280"/>
                </a:solidFill>
                <a:latin typeface="Arial" pitchFamily="34" charset="0"/>
                <a:ea typeface="Arial" pitchFamily="34" charset="-122"/>
                <a:cs typeface="Arial" pitchFamily="34" charset="-120"/>
              </a:rPr>
              <a:t>HSV 신호 판별</a:t>
            </a:r>
            <a:endParaRPr lang="en-US" sz="2700" dirty="0"/>
          </a:p>
        </p:txBody>
      </p:sp>
      <p:sp>
        <p:nvSpPr>
          <p:cNvPr id="16" name="Text 14"/>
          <p:cNvSpPr/>
          <p:nvPr/>
        </p:nvSpPr>
        <p:spPr>
          <a:xfrm>
            <a:off x="8143875" y="6210300"/>
            <a:ext cx="1028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wp7</a:t>
            </a:r>
            <a:endParaRPr lang="en-US" sz="2100" dirty="0"/>
          </a:p>
        </p:txBody>
      </p:sp>
      <p:sp>
        <p:nvSpPr>
          <p:cNvPr id="17" name="Text 15"/>
          <p:cNvSpPr/>
          <p:nvPr/>
        </p:nvSpPr>
        <p:spPr>
          <a:xfrm>
            <a:off x="9248775" y="6172200"/>
            <a:ext cx="4062323"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34B7FE"/>
                </a:solidFill>
                <a:latin typeface="Arial" pitchFamily="34" charset="0"/>
                <a:ea typeface="Arial" pitchFamily="34" charset="-122"/>
                <a:cs typeface="Arial" pitchFamily="34" charset="-120"/>
              </a:rPr>
              <a:t>ACCEL_ZONE</a:t>
            </a:r>
            <a:endParaRPr lang="en-US" sz="2700" dirty="0"/>
          </a:p>
        </p:txBody>
      </p:sp>
      <p:sp>
        <p:nvSpPr>
          <p:cNvPr id="18" name="Text 16"/>
          <p:cNvSpPr/>
          <p:nvPr/>
        </p:nvSpPr>
        <p:spPr>
          <a:xfrm>
            <a:off x="13094196" y="6086475"/>
            <a:ext cx="3520440" cy="552450"/>
          </a:xfrm>
          <a:prstGeom prst="rect">
            <a:avLst/>
          </a:prstGeom>
          <a:noFill/>
          <a:ln/>
        </p:spPr>
        <p:txBody>
          <a:bodyPr wrap="square" lIns="25400" tIns="25400" rIns="25400" bIns="25400" rtlCol="0" anchor="t">
            <a:normAutofit/>
          </a:bodyPr>
          <a:lstStyle/>
          <a:p>
            <a:pPr marL="0" indent="0" algn="l">
              <a:buNone/>
            </a:pPr>
            <a:r>
              <a:rPr lang="en-US" sz="2700" dirty="0">
                <a:solidFill>
                  <a:srgbClr val="6B7280"/>
                </a:solidFill>
                <a:latin typeface="Arial" pitchFamily="34" charset="0"/>
                <a:ea typeface="Arial" pitchFamily="34" charset="-122"/>
                <a:cs typeface="Arial" pitchFamily="34" charset="-120"/>
              </a:rPr>
              <a:t>표지판 인식 · 가속</a:t>
            </a:r>
            <a:endParaRPr lang="en-US" sz="2700" dirty="0"/>
          </a:p>
        </p:txBody>
      </p:sp>
      <p:sp>
        <p:nvSpPr>
          <p:cNvPr id="19" name="Text 17"/>
          <p:cNvSpPr/>
          <p:nvPr/>
        </p:nvSpPr>
        <p:spPr>
          <a:xfrm>
            <a:off x="8143875" y="6858000"/>
            <a:ext cx="1028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wp9</a:t>
            </a:r>
            <a:endParaRPr lang="en-US" sz="2100" dirty="0"/>
          </a:p>
        </p:txBody>
      </p:sp>
      <p:sp>
        <p:nvSpPr>
          <p:cNvPr id="20" name="Text 18"/>
          <p:cNvSpPr/>
          <p:nvPr/>
        </p:nvSpPr>
        <p:spPr>
          <a:xfrm>
            <a:off x="9248775" y="6819900"/>
            <a:ext cx="4062323"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C793A"/>
                </a:solidFill>
                <a:latin typeface="Arial" pitchFamily="34" charset="0"/>
                <a:ea typeface="Arial" pitchFamily="34" charset="-122"/>
                <a:cs typeface="Arial" pitchFamily="34" charset="-120"/>
              </a:rPr>
              <a:t>PARKING</a:t>
            </a:r>
            <a:endParaRPr lang="en-US" sz="2700" dirty="0"/>
          </a:p>
        </p:txBody>
      </p:sp>
      <p:sp>
        <p:nvSpPr>
          <p:cNvPr id="21" name="Text 19"/>
          <p:cNvSpPr/>
          <p:nvPr/>
        </p:nvSpPr>
        <p:spPr>
          <a:xfrm>
            <a:off x="13094196" y="6734175"/>
            <a:ext cx="3869144" cy="533400"/>
          </a:xfrm>
          <a:prstGeom prst="rect">
            <a:avLst/>
          </a:prstGeom>
          <a:noFill/>
          <a:ln/>
        </p:spPr>
        <p:txBody>
          <a:bodyPr wrap="square" lIns="25400" tIns="25400" rIns="25400" bIns="25400" rtlCol="0" anchor="t">
            <a:normAutofit/>
          </a:bodyPr>
          <a:lstStyle/>
          <a:p>
            <a:pPr marL="0" indent="0" algn="l">
              <a:buNone/>
            </a:pPr>
            <a:r>
              <a:rPr lang="en-US" sz="2700" dirty="0">
                <a:solidFill>
                  <a:srgbClr val="6B7280"/>
                </a:solidFill>
                <a:latin typeface="Arial" pitchFamily="34" charset="0"/>
                <a:ea typeface="Arial" pitchFamily="34" charset="-122"/>
                <a:cs typeface="Arial" pitchFamily="34" charset="-120"/>
              </a:rPr>
              <a:t>ArUco 정밀 도킹</a:t>
            </a:r>
            <a:endParaRPr lang="en-US" sz="2700" dirty="0"/>
          </a:p>
        </p:txBody>
      </p:sp>
      <p:sp>
        <p:nvSpPr>
          <p:cNvPr id="22" name="Text 20"/>
          <p:cNvSpPr/>
          <p:nvPr/>
        </p:nvSpPr>
        <p:spPr>
          <a:xfrm>
            <a:off x="8143875" y="7486650"/>
            <a:ext cx="1028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CA3AF"/>
                </a:solidFill>
                <a:latin typeface="Courier New" pitchFamily="34" charset="0"/>
                <a:ea typeface="Courier New" pitchFamily="34" charset="-122"/>
                <a:cs typeface="Courier New" pitchFamily="34" charset="-120"/>
              </a:rPr>
              <a:t>wp11</a:t>
            </a:r>
            <a:endParaRPr lang="en-US" sz="2100" dirty="0"/>
          </a:p>
        </p:txBody>
      </p:sp>
      <p:sp>
        <p:nvSpPr>
          <p:cNvPr id="23" name="Text 21"/>
          <p:cNvSpPr/>
          <p:nvPr/>
        </p:nvSpPr>
        <p:spPr>
          <a:xfrm>
            <a:off x="9248775" y="7448550"/>
            <a:ext cx="4062323"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11827"/>
                </a:solidFill>
                <a:latin typeface="Arial" pitchFamily="34" charset="0"/>
                <a:ea typeface="Arial" pitchFamily="34" charset="-122"/>
                <a:cs typeface="Arial" pitchFamily="34" charset="-120"/>
              </a:rPr>
              <a:t>NAV_TO_END</a:t>
            </a:r>
            <a:endParaRPr lang="en-US" sz="2700" dirty="0"/>
          </a:p>
        </p:txBody>
      </p:sp>
      <p:sp>
        <p:nvSpPr>
          <p:cNvPr id="24" name="Text 22"/>
          <p:cNvSpPr/>
          <p:nvPr/>
        </p:nvSpPr>
        <p:spPr>
          <a:xfrm>
            <a:off x="13094196" y="7362825"/>
            <a:ext cx="3869144" cy="533400"/>
          </a:xfrm>
          <a:prstGeom prst="rect">
            <a:avLst/>
          </a:prstGeom>
          <a:noFill/>
          <a:ln/>
        </p:spPr>
        <p:txBody>
          <a:bodyPr wrap="square" lIns="25400" tIns="25400" rIns="25400" bIns="25400" rtlCol="0" anchor="t">
            <a:normAutofit/>
          </a:bodyPr>
          <a:lstStyle/>
          <a:p>
            <a:pPr marL="0" indent="0" algn="l">
              <a:buNone/>
            </a:pPr>
            <a:r>
              <a:rPr lang="ko-KR" altLang="en-US" sz="2700" dirty="0">
                <a:solidFill>
                  <a:srgbClr val="6B7280"/>
                </a:solidFill>
                <a:latin typeface="Arial" pitchFamily="34" charset="0"/>
                <a:ea typeface="Arial" pitchFamily="34" charset="-122"/>
                <a:cs typeface="Arial" pitchFamily="34" charset="-120"/>
              </a:rPr>
              <a:t>장애물 감지 및 </a:t>
            </a:r>
            <a:r>
              <a:rPr lang="en-US" sz="2700" dirty="0" err="1">
                <a:solidFill>
                  <a:srgbClr val="6B7280"/>
                </a:solidFill>
                <a:latin typeface="Arial" pitchFamily="34" charset="0"/>
                <a:ea typeface="Arial" pitchFamily="34" charset="-122"/>
                <a:cs typeface="Arial" pitchFamily="34" charset="-120"/>
              </a:rPr>
              <a:t>복귀</a:t>
            </a:r>
            <a:endParaRPr lang="en-US" sz="2700" dirty="0"/>
          </a:p>
        </p:txBody>
      </p:sp>
      <p:pic>
        <p:nvPicPr>
          <p:cNvPr id="25" name="Image 0" descr="preencoded.png"/>
          <p:cNvPicPr>
            <a:picLocks noChangeAspect="1"/>
          </p:cNvPicPr>
          <p:nvPr/>
        </p:nvPicPr>
        <p:blipFill>
          <a:blip r:embed="rId3"/>
          <a:srcRect l="-16389" r="-16389"/>
          <a:stretch/>
        </p:blipFill>
        <p:spPr>
          <a:xfrm>
            <a:off x="1371600" y="2486025"/>
            <a:ext cx="6591300" cy="7724775"/>
          </a:xfrm>
          <a:prstGeom prst="rect">
            <a:avLst/>
          </a:prstGeom>
        </p:spPr>
      </p:pic>
      <p:sp>
        <p:nvSpPr>
          <p:cNvPr id="28" name="Text 25"/>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38200"/>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02</a:t>
            </a:r>
            <a:endParaRPr lang="en-US" sz="1950" dirty="0"/>
          </a:p>
        </p:txBody>
      </p:sp>
      <p:sp>
        <p:nvSpPr>
          <p:cNvPr id="3" name="Shape 1"/>
          <p:cNvSpPr/>
          <p:nvPr/>
        </p:nvSpPr>
        <p:spPr>
          <a:xfrm>
            <a:off x="1478012" y="976312"/>
            <a:ext cx="457200" cy="19050"/>
          </a:xfrm>
          <a:prstGeom prst="rect">
            <a:avLst/>
          </a:prstGeom>
          <a:solidFill>
            <a:srgbClr val="E5E7EB"/>
          </a:solidFill>
          <a:ln/>
        </p:spPr>
        <p:txBody>
          <a:bodyPr/>
          <a:lstStyle/>
          <a:p>
            <a:endParaRPr lang="ko-KR" altLang="en-US"/>
          </a:p>
        </p:txBody>
      </p:sp>
      <p:sp>
        <p:nvSpPr>
          <p:cNvPr id="4" name="Shape 2"/>
          <p:cNvSpPr/>
          <p:nvPr/>
        </p:nvSpPr>
        <p:spPr>
          <a:xfrm>
            <a:off x="1009650" y="2495550"/>
            <a:ext cx="2219325" cy="438150"/>
          </a:xfrm>
          <a:prstGeom prst="rect">
            <a:avLst/>
          </a:prstGeom>
          <a:solidFill>
            <a:srgbClr val="FFFFFF"/>
          </a:solidFill>
          <a:ln/>
        </p:spPr>
        <p:txBody>
          <a:bodyPr/>
          <a:lstStyle/>
          <a:p>
            <a:endParaRPr lang="ko-KR" altLang="en-US"/>
          </a:p>
        </p:txBody>
      </p:sp>
      <p:sp>
        <p:nvSpPr>
          <p:cNvPr id="5" name="Text 3"/>
          <p:cNvSpPr/>
          <p:nvPr/>
        </p:nvSpPr>
        <p:spPr>
          <a:xfrm>
            <a:off x="1009650" y="2495550"/>
            <a:ext cx="2441258" cy="47625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Arial" pitchFamily="34" charset="0"/>
                <a:ea typeface="Arial" pitchFamily="34" charset="-122"/>
                <a:cs typeface="Arial" pitchFamily="34" charset="-120"/>
              </a:rPr>
              <a:t>로봇 상태 표시</a:t>
            </a:r>
            <a:endParaRPr lang="en-US" sz="2250" dirty="0"/>
          </a:p>
        </p:txBody>
      </p:sp>
      <p:sp>
        <p:nvSpPr>
          <p:cNvPr id="6" name="Shape 4"/>
          <p:cNvSpPr/>
          <p:nvPr/>
        </p:nvSpPr>
        <p:spPr>
          <a:xfrm>
            <a:off x="1009650" y="3848100"/>
            <a:ext cx="2219325" cy="438150"/>
          </a:xfrm>
          <a:prstGeom prst="rect">
            <a:avLst/>
          </a:prstGeom>
          <a:solidFill>
            <a:srgbClr val="FFFFFF"/>
          </a:solidFill>
          <a:ln/>
        </p:spPr>
        <p:txBody>
          <a:bodyPr/>
          <a:lstStyle/>
          <a:p>
            <a:endParaRPr lang="ko-KR" altLang="en-US"/>
          </a:p>
        </p:txBody>
      </p:sp>
      <p:sp>
        <p:nvSpPr>
          <p:cNvPr id="7" name="Text 5"/>
          <p:cNvSpPr/>
          <p:nvPr/>
        </p:nvSpPr>
        <p:spPr>
          <a:xfrm>
            <a:off x="1009650" y="3848100"/>
            <a:ext cx="2441258" cy="47625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Arial" pitchFamily="34" charset="0"/>
                <a:ea typeface="Arial" pitchFamily="34" charset="-122"/>
                <a:cs typeface="Arial" pitchFamily="34" charset="-120"/>
              </a:rPr>
              <a:t>카메라 표시</a:t>
            </a:r>
            <a:endParaRPr lang="en-US" sz="2250" dirty="0"/>
          </a:p>
        </p:txBody>
      </p:sp>
      <p:sp>
        <p:nvSpPr>
          <p:cNvPr id="8" name="Shape 6"/>
          <p:cNvSpPr/>
          <p:nvPr/>
        </p:nvSpPr>
        <p:spPr>
          <a:xfrm>
            <a:off x="1009650" y="6010275"/>
            <a:ext cx="2219325" cy="438150"/>
          </a:xfrm>
          <a:prstGeom prst="rect">
            <a:avLst/>
          </a:prstGeom>
          <a:solidFill>
            <a:srgbClr val="FFFFFF"/>
          </a:solidFill>
          <a:ln/>
        </p:spPr>
        <p:txBody>
          <a:bodyPr/>
          <a:lstStyle/>
          <a:p>
            <a:endParaRPr lang="ko-KR" altLang="en-US"/>
          </a:p>
        </p:txBody>
      </p:sp>
      <p:sp>
        <p:nvSpPr>
          <p:cNvPr id="9" name="Text 7"/>
          <p:cNvSpPr/>
          <p:nvPr/>
        </p:nvSpPr>
        <p:spPr>
          <a:xfrm>
            <a:off x="1009650" y="6010275"/>
            <a:ext cx="2441258" cy="47625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Arial" pitchFamily="34" charset="0"/>
                <a:ea typeface="Arial" pitchFamily="34" charset="-122"/>
                <a:cs typeface="Arial" pitchFamily="34" charset="-120"/>
              </a:rPr>
              <a:t>구간별 진행상황</a:t>
            </a:r>
            <a:endParaRPr lang="en-US" sz="2250" dirty="0"/>
          </a:p>
        </p:txBody>
      </p:sp>
      <p:sp>
        <p:nvSpPr>
          <p:cNvPr id="10" name="Shape 8"/>
          <p:cNvSpPr/>
          <p:nvPr/>
        </p:nvSpPr>
        <p:spPr>
          <a:xfrm>
            <a:off x="1009650" y="6953250"/>
            <a:ext cx="2219325" cy="438150"/>
          </a:xfrm>
          <a:prstGeom prst="rect">
            <a:avLst/>
          </a:prstGeom>
          <a:solidFill>
            <a:srgbClr val="FFFFFF"/>
          </a:solidFill>
          <a:ln/>
        </p:spPr>
        <p:txBody>
          <a:bodyPr/>
          <a:lstStyle/>
          <a:p>
            <a:endParaRPr lang="ko-KR" altLang="en-US"/>
          </a:p>
        </p:txBody>
      </p:sp>
      <p:sp>
        <p:nvSpPr>
          <p:cNvPr id="11" name="Text 9"/>
          <p:cNvSpPr/>
          <p:nvPr/>
        </p:nvSpPr>
        <p:spPr>
          <a:xfrm>
            <a:off x="1009650" y="6953250"/>
            <a:ext cx="2441258" cy="47625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Arial" pitchFamily="34" charset="0"/>
                <a:ea typeface="Arial" pitchFamily="34" charset="-122"/>
                <a:cs typeface="Arial" pitchFamily="34" charset="-120"/>
              </a:rPr>
              <a:t>이상 이벤트</a:t>
            </a:r>
            <a:endParaRPr lang="en-US" sz="2250" dirty="0"/>
          </a:p>
        </p:txBody>
      </p:sp>
      <p:sp>
        <p:nvSpPr>
          <p:cNvPr id="12" name="Shape 10"/>
          <p:cNvSpPr/>
          <p:nvPr/>
        </p:nvSpPr>
        <p:spPr>
          <a:xfrm>
            <a:off x="1009650" y="9439275"/>
            <a:ext cx="2847975" cy="428625"/>
          </a:xfrm>
          <a:prstGeom prst="rect">
            <a:avLst/>
          </a:prstGeom>
          <a:solidFill>
            <a:srgbClr val="FFFFFF"/>
          </a:solidFill>
          <a:ln/>
        </p:spPr>
        <p:txBody>
          <a:bodyPr/>
          <a:lstStyle/>
          <a:p>
            <a:endParaRPr lang="ko-KR" altLang="en-US"/>
          </a:p>
        </p:txBody>
      </p:sp>
      <p:sp>
        <p:nvSpPr>
          <p:cNvPr id="13" name="Text 11"/>
          <p:cNvSpPr/>
          <p:nvPr/>
        </p:nvSpPr>
        <p:spPr>
          <a:xfrm>
            <a:off x="1009650" y="9439275"/>
            <a:ext cx="3132773" cy="466725"/>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Arial" pitchFamily="34" charset="0"/>
                <a:ea typeface="Arial" pitchFamily="34" charset="-122"/>
                <a:cs typeface="Arial" pitchFamily="34" charset="-120"/>
              </a:rPr>
              <a:t>재시험 Trajectory</a:t>
            </a:r>
            <a:endParaRPr lang="en-US" sz="2250"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67050" y="1847850"/>
            <a:ext cx="885825" cy="876300"/>
          </a:xfrm>
          <a:prstGeom prst="rect">
            <a:avLst/>
          </a:prstGeom>
        </p:spPr>
      </p:pic>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3275" y="6172200"/>
            <a:ext cx="609600" cy="76200"/>
          </a:xfrm>
          <a:prstGeom prst="rect">
            <a:avLst/>
          </a:prstGeom>
        </p:spPr>
      </p:pic>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43275" y="9648825"/>
            <a:ext cx="609600" cy="76200"/>
          </a:xfrm>
          <a:prstGeom prst="rect">
            <a:avLst/>
          </a:prstGeom>
        </p:spPr>
      </p:pic>
      <p:sp>
        <p:nvSpPr>
          <p:cNvPr id="17" name="Shape 12"/>
          <p:cNvSpPr/>
          <p:nvPr/>
        </p:nvSpPr>
        <p:spPr>
          <a:xfrm>
            <a:off x="4629150" y="1209675"/>
            <a:ext cx="12887325" cy="866775"/>
          </a:xfrm>
          <a:prstGeom prst="rect">
            <a:avLst/>
          </a:prstGeom>
          <a:ln w="47625">
            <a:solidFill>
              <a:srgbClr val="7289F1"/>
            </a:solidFill>
            <a:prstDash val="solid"/>
          </a:ln>
        </p:spPr>
        <p:txBody>
          <a:bodyPr/>
          <a:lstStyle/>
          <a:p>
            <a:endParaRPr lang="ko-KR" altLang="en-US"/>
          </a:p>
        </p:txBody>
      </p:sp>
      <p:sp>
        <p:nvSpPr>
          <p:cNvPr id="18" name="Shape 13"/>
          <p:cNvSpPr/>
          <p:nvPr/>
        </p:nvSpPr>
        <p:spPr>
          <a:xfrm>
            <a:off x="4648200" y="5800725"/>
            <a:ext cx="13030200" cy="828675"/>
          </a:xfrm>
          <a:prstGeom prst="rect">
            <a:avLst/>
          </a:prstGeom>
          <a:ln w="47625">
            <a:solidFill>
              <a:srgbClr val="7188F1"/>
            </a:solidFill>
            <a:prstDash val="solid"/>
          </a:ln>
        </p:spPr>
        <p:txBody>
          <a:bodyPr/>
          <a:lstStyle/>
          <a:p>
            <a:endParaRPr lang="ko-KR" altLang="en-US"/>
          </a:p>
        </p:txBody>
      </p:sp>
      <p:sp>
        <p:nvSpPr>
          <p:cNvPr id="19" name="Shape 14"/>
          <p:cNvSpPr/>
          <p:nvPr/>
        </p:nvSpPr>
        <p:spPr>
          <a:xfrm>
            <a:off x="4505325" y="9305925"/>
            <a:ext cx="13249275" cy="790575"/>
          </a:xfrm>
          <a:prstGeom prst="rect">
            <a:avLst/>
          </a:prstGeom>
          <a:ln w="47625">
            <a:solidFill>
              <a:srgbClr val="A8B6F7"/>
            </a:solidFill>
            <a:prstDash val="solid"/>
          </a:ln>
        </p:spPr>
        <p:txBody>
          <a:bodyPr/>
          <a:lstStyle/>
          <a:p>
            <a:endParaRPr lang="ko-KR" altLang="en-US"/>
          </a:p>
        </p:txBody>
      </p:sp>
      <p:pic>
        <p:nvPicPr>
          <p:cNvPr id="20" name="Image 3" descr="preencoded.png"/>
          <p:cNvPicPr>
            <a:picLocks noChangeAspect="1"/>
          </p:cNvPicPr>
          <p:nvPr/>
        </p:nvPicPr>
        <p:blipFill>
          <a:blip r:embed="rId6"/>
          <a:srcRect t="1000" b="1000"/>
          <a:stretch/>
        </p:blipFill>
        <p:spPr>
          <a:xfrm>
            <a:off x="4391025" y="285750"/>
            <a:ext cx="13449300" cy="9867900"/>
          </a:xfrm>
          <a:prstGeom prst="rect">
            <a:avLst/>
          </a:prstGeom>
        </p:spPr>
      </p:pic>
      <p:sp>
        <p:nvSpPr>
          <p:cNvPr id="21" name="Shape 15"/>
          <p:cNvSpPr/>
          <p:nvPr/>
        </p:nvSpPr>
        <p:spPr>
          <a:xfrm>
            <a:off x="6696075" y="7715250"/>
            <a:ext cx="323850" cy="476250"/>
          </a:xfrm>
          <a:prstGeom prst="roundRect">
            <a:avLst>
              <a:gd name="adj" fmla="val 23529"/>
            </a:avLst>
          </a:prstGeom>
          <a:solidFill>
            <a:srgbClr val="FFFFFF"/>
          </a:solidFill>
          <a:ln/>
        </p:spPr>
        <p:txBody>
          <a:bodyPr/>
          <a:lstStyle/>
          <a:p>
            <a:endParaRPr lang="ko-KR" altLang="en-US"/>
          </a:p>
        </p:txBody>
      </p:sp>
      <p:sp>
        <p:nvSpPr>
          <p:cNvPr id="22" name="Text 16"/>
          <p:cNvSpPr/>
          <p:nvPr/>
        </p:nvSpPr>
        <p:spPr>
          <a:xfrm>
            <a:off x="952500" y="1381125"/>
            <a:ext cx="18021300" cy="714375"/>
          </a:xfrm>
          <a:prstGeom prst="rect">
            <a:avLst/>
          </a:prstGeom>
          <a:noFill/>
          <a:ln/>
        </p:spPr>
        <p:txBody>
          <a:bodyPr wrap="square" lIns="25400" tIns="25400" rIns="25400" bIns="25400" rtlCol="0" anchor="t">
            <a:normAutofit lnSpcReduction="10000"/>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GUI</a:t>
            </a:r>
            <a:endParaRPr lang="en-US" sz="4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03</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209953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시스템 구성도</a:t>
            </a:r>
            <a:endParaRPr lang="en-US" sz="1950" dirty="0"/>
          </a:p>
        </p:txBody>
      </p:sp>
      <p:sp>
        <p:nvSpPr>
          <p:cNvPr id="5" name="Text 3"/>
          <p:cNvSpPr/>
          <p:nvPr/>
        </p:nvSpPr>
        <p:spPr>
          <a:xfrm>
            <a:off x="16871305" y="847725"/>
            <a:ext cx="54039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40초</a:t>
            </a:r>
            <a:endParaRPr lang="en-US" sz="1800" dirty="0"/>
          </a:p>
        </p:txBody>
      </p:sp>
      <p:sp>
        <p:nvSpPr>
          <p:cNvPr id="6" name="Text 4"/>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하드웨어 · ROS2 노드 · 배포 3단 구조</a:t>
            </a:r>
            <a:endParaRPr lang="en-US" sz="4650" dirty="0"/>
          </a:p>
        </p:txBody>
      </p:sp>
      <p:sp>
        <p:nvSpPr>
          <p:cNvPr id="7" name="Text 5"/>
          <p:cNvSpPr/>
          <p:nvPr/>
        </p:nvSpPr>
        <p:spPr>
          <a:xfrm>
            <a:off x="952500" y="2976563"/>
            <a:ext cx="2619375"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6BC9BE"/>
                </a:solidFill>
                <a:latin typeface="Arial" pitchFamily="34" charset="0"/>
                <a:ea typeface="Arial" pitchFamily="34" charset="-122"/>
                <a:cs typeface="Arial" pitchFamily="34" charset="-120"/>
              </a:rPr>
              <a:t>하드웨어</a:t>
            </a:r>
            <a:endParaRPr lang="en-US" sz="2250" dirty="0"/>
          </a:p>
        </p:txBody>
      </p:sp>
      <p:sp>
        <p:nvSpPr>
          <p:cNvPr id="8" name="Shape 6"/>
          <p:cNvSpPr/>
          <p:nvPr/>
        </p:nvSpPr>
        <p:spPr>
          <a:xfrm>
            <a:off x="3638550" y="2714625"/>
            <a:ext cx="2190750" cy="942975"/>
          </a:xfrm>
          <a:prstGeom prst="roundRect">
            <a:avLst>
              <a:gd name="adj" fmla="val 14141"/>
            </a:avLst>
          </a:prstGeom>
          <a:ln w="19050">
            <a:solidFill>
              <a:srgbClr val="E5E7EB"/>
            </a:solidFill>
            <a:prstDash val="solid"/>
          </a:ln>
        </p:spPr>
        <p:txBody>
          <a:bodyPr/>
          <a:lstStyle/>
          <a:p>
            <a:endParaRPr lang="ko-KR" altLang="en-US"/>
          </a:p>
        </p:txBody>
      </p:sp>
      <p:sp>
        <p:nvSpPr>
          <p:cNvPr id="9" name="Text 7"/>
          <p:cNvSpPr/>
          <p:nvPr/>
        </p:nvSpPr>
        <p:spPr>
          <a:xfrm>
            <a:off x="3829050" y="3000375"/>
            <a:ext cx="1809750" cy="409575"/>
          </a:xfrm>
          <a:prstGeom prst="rect">
            <a:avLst/>
          </a:prstGeom>
          <a:noFill/>
          <a:ln/>
        </p:spPr>
        <p:txBody>
          <a:bodyPr wrap="square" lIns="25400" tIns="25400" rIns="25400" bIns="25400" rtlCol="0" anchor="t">
            <a:normAutofit/>
          </a:bodyPr>
          <a:lstStyle/>
          <a:p>
            <a:pPr marL="0" indent="0" algn="ctr">
              <a:buNone/>
            </a:pPr>
            <a:r>
              <a:rPr lang="en-US" sz="2025" dirty="0">
                <a:solidFill>
                  <a:srgbClr val="111827"/>
                </a:solidFill>
                <a:latin typeface="Arial" pitchFamily="34" charset="0"/>
                <a:ea typeface="Arial" pitchFamily="34" charset="-122"/>
                <a:cs typeface="Arial" pitchFamily="34" charset="-120"/>
              </a:rPr>
              <a:t>라즈베리파이4</a:t>
            </a:r>
            <a:endParaRPr lang="en-US" sz="2025" dirty="0"/>
          </a:p>
        </p:txBody>
      </p:sp>
      <p:sp>
        <p:nvSpPr>
          <p:cNvPr id="10" name="Shape 8"/>
          <p:cNvSpPr/>
          <p:nvPr/>
        </p:nvSpPr>
        <p:spPr>
          <a:xfrm>
            <a:off x="5962650" y="2714625"/>
            <a:ext cx="2190750" cy="942975"/>
          </a:xfrm>
          <a:prstGeom prst="roundRect">
            <a:avLst>
              <a:gd name="adj" fmla="val 14141"/>
            </a:avLst>
          </a:prstGeom>
          <a:ln w="19050">
            <a:solidFill>
              <a:srgbClr val="E5E7EB"/>
            </a:solidFill>
            <a:prstDash val="solid"/>
          </a:ln>
        </p:spPr>
        <p:txBody>
          <a:bodyPr/>
          <a:lstStyle/>
          <a:p>
            <a:endParaRPr lang="ko-KR" altLang="en-US"/>
          </a:p>
        </p:txBody>
      </p:sp>
      <p:sp>
        <p:nvSpPr>
          <p:cNvPr id="11" name="Text 9"/>
          <p:cNvSpPr/>
          <p:nvPr/>
        </p:nvSpPr>
        <p:spPr>
          <a:xfrm>
            <a:off x="6153150" y="3000375"/>
            <a:ext cx="1809750" cy="409575"/>
          </a:xfrm>
          <a:prstGeom prst="rect">
            <a:avLst/>
          </a:prstGeom>
          <a:noFill/>
          <a:ln/>
        </p:spPr>
        <p:txBody>
          <a:bodyPr wrap="square" lIns="25400" tIns="25400" rIns="25400" bIns="25400" rtlCol="0" anchor="t">
            <a:normAutofit/>
          </a:bodyPr>
          <a:lstStyle/>
          <a:p>
            <a:pPr marL="0" indent="0" algn="ctr">
              <a:buNone/>
            </a:pPr>
            <a:r>
              <a:rPr lang="en-US" sz="2025" dirty="0">
                <a:solidFill>
                  <a:srgbClr val="111827"/>
                </a:solidFill>
                <a:latin typeface="Arial" pitchFamily="34" charset="0"/>
                <a:ea typeface="Arial" pitchFamily="34" charset="-122"/>
                <a:cs typeface="Arial" pitchFamily="34" charset="-120"/>
              </a:rPr>
              <a:t>아두이노</a:t>
            </a:r>
            <a:endParaRPr lang="en-US" sz="2025" dirty="0"/>
          </a:p>
        </p:txBody>
      </p:sp>
      <p:sp>
        <p:nvSpPr>
          <p:cNvPr id="12" name="Shape 10"/>
          <p:cNvSpPr/>
          <p:nvPr/>
        </p:nvSpPr>
        <p:spPr>
          <a:xfrm>
            <a:off x="8286750" y="2714625"/>
            <a:ext cx="2190750" cy="942975"/>
          </a:xfrm>
          <a:prstGeom prst="roundRect">
            <a:avLst>
              <a:gd name="adj" fmla="val 14141"/>
            </a:avLst>
          </a:prstGeom>
          <a:ln w="19050">
            <a:solidFill>
              <a:srgbClr val="E5E7EB"/>
            </a:solidFill>
            <a:prstDash val="solid"/>
          </a:ln>
        </p:spPr>
        <p:txBody>
          <a:bodyPr/>
          <a:lstStyle/>
          <a:p>
            <a:endParaRPr lang="ko-KR" altLang="en-US"/>
          </a:p>
        </p:txBody>
      </p:sp>
      <p:sp>
        <p:nvSpPr>
          <p:cNvPr id="13" name="Text 11"/>
          <p:cNvSpPr/>
          <p:nvPr/>
        </p:nvSpPr>
        <p:spPr>
          <a:xfrm>
            <a:off x="8477250" y="3000375"/>
            <a:ext cx="1809750" cy="409575"/>
          </a:xfrm>
          <a:prstGeom prst="rect">
            <a:avLst/>
          </a:prstGeom>
          <a:noFill/>
          <a:ln/>
        </p:spPr>
        <p:txBody>
          <a:bodyPr wrap="square" lIns="25400" tIns="25400" rIns="25400" bIns="25400" rtlCol="0" anchor="t">
            <a:normAutofit/>
          </a:bodyPr>
          <a:lstStyle/>
          <a:p>
            <a:pPr marL="0" indent="0" algn="ctr">
              <a:buNone/>
            </a:pPr>
            <a:r>
              <a:rPr lang="en-US" sz="2025" dirty="0">
                <a:solidFill>
                  <a:srgbClr val="111827"/>
                </a:solidFill>
                <a:latin typeface="Arial" pitchFamily="34" charset="0"/>
                <a:ea typeface="Arial" pitchFamily="34" charset="-122"/>
                <a:cs typeface="Arial" pitchFamily="34" charset="-120"/>
              </a:rPr>
              <a:t>Pi Camera</a:t>
            </a:r>
            <a:endParaRPr lang="en-US" sz="2025" dirty="0"/>
          </a:p>
        </p:txBody>
      </p:sp>
      <p:sp>
        <p:nvSpPr>
          <p:cNvPr id="14" name="Shape 12"/>
          <p:cNvSpPr/>
          <p:nvPr/>
        </p:nvSpPr>
        <p:spPr>
          <a:xfrm>
            <a:off x="10610850" y="2714625"/>
            <a:ext cx="2152650" cy="942975"/>
          </a:xfrm>
          <a:prstGeom prst="roundRect">
            <a:avLst>
              <a:gd name="adj" fmla="val 14141"/>
            </a:avLst>
          </a:prstGeom>
          <a:solidFill>
            <a:srgbClr val="EAF7F5"/>
          </a:solidFill>
          <a:ln/>
        </p:spPr>
        <p:txBody>
          <a:bodyPr/>
          <a:lstStyle/>
          <a:p>
            <a:endParaRPr lang="ko-KR" altLang="en-US"/>
          </a:p>
        </p:txBody>
      </p:sp>
      <p:sp>
        <p:nvSpPr>
          <p:cNvPr id="15" name="Text 13"/>
          <p:cNvSpPr/>
          <p:nvPr/>
        </p:nvSpPr>
        <p:spPr>
          <a:xfrm>
            <a:off x="10782300" y="2981325"/>
            <a:ext cx="1809750" cy="447675"/>
          </a:xfrm>
          <a:prstGeom prst="rect">
            <a:avLst/>
          </a:prstGeom>
          <a:noFill/>
          <a:ln/>
        </p:spPr>
        <p:txBody>
          <a:bodyPr wrap="square" lIns="25400" tIns="25400" rIns="25400" bIns="25400" rtlCol="0" anchor="t">
            <a:normAutofit/>
          </a:bodyPr>
          <a:lstStyle/>
          <a:p>
            <a:pPr marL="0" indent="0" algn="ctr">
              <a:buNone/>
            </a:pPr>
            <a:r>
              <a:rPr lang="en-US" sz="2025" dirty="0">
                <a:solidFill>
                  <a:srgbClr val="111827"/>
                </a:solidFill>
                <a:latin typeface="Arial" pitchFamily="34" charset="0"/>
                <a:ea typeface="Arial" pitchFamily="34" charset="-122"/>
                <a:cs typeface="Arial" pitchFamily="34" charset="-120"/>
              </a:rPr>
              <a:t>LED 3개</a:t>
            </a:r>
            <a:endParaRPr lang="en-US" sz="2025" dirty="0"/>
          </a:p>
        </p:txBody>
      </p:sp>
      <p:sp>
        <p:nvSpPr>
          <p:cNvPr id="16" name="Shape 14"/>
          <p:cNvSpPr/>
          <p:nvPr/>
        </p:nvSpPr>
        <p:spPr>
          <a:xfrm>
            <a:off x="12896850" y="2714625"/>
            <a:ext cx="2152650" cy="942975"/>
          </a:xfrm>
          <a:prstGeom prst="roundRect">
            <a:avLst>
              <a:gd name="adj" fmla="val 14141"/>
            </a:avLst>
          </a:prstGeom>
          <a:solidFill>
            <a:srgbClr val="EAF7F5"/>
          </a:solidFill>
          <a:ln/>
        </p:spPr>
        <p:txBody>
          <a:bodyPr/>
          <a:lstStyle/>
          <a:p>
            <a:endParaRPr lang="ko-KR" altLang="en-US"/>
          </a:p>
        </p:txBody>
      </p:sp>
      <p:sp>
        <p:nvSpPr>
          <p:cNvPr id="17" name="Text 15"/>
          <p:cNvSpPr/>
          <p:nvPr/>
        </p:nvSpPr>
        <p:spPr>
          <a:xfrm>
            <a:off x="13068300" y="2981325"/>
            <a:ext cx="1809750" cy="447675"/>
          </a:xfrm>
          <a:prstGeom prst="rect">
            <a:avLst/>
          </a:prstGeom>
          <a:noFill/>
          <a:ln/>
        </p:spPr>
        <p:txBody>
          <a:bodyPr wrap="square" lIns="25400" tIns="25400" rIns="25400" bIns="25400" rtlCol="0" anchor="t">
            <a:normAutofit/>
          </a:bodyPr>
          <a:lstStyle/>
          <a:p>
            <a:pPr marL="0" indent="0" algn="ctr">
              <a:buNone/>
            </a:pPr>
            <a:r>
              <a:rPr lang="en-US" sz="2025" dirty="0">
                <a:solidFill>
                  <a:srgbClr val="111827"/>
                </a:solidFill>
                <a:latin typeface="Arial" pitchFamily="34" charset="0"/>
                <a:ea typeface="Arial" pitchFamily="34" charset="-122"/>
                <a:cs typeface="Arial" pitchFamily="34" charset="-120"/>
              </a:rPr>
              <a:t>IR 트레킹 센서</a:t>
            </a:r>
            <a:endParaRPr lang="en-US" sz="2025" dirty="0"/>
          </a:p>
        </p:txBody>
      </p:sp>
      <p:sp>
        <p:nvSpPr>
          <p:cNvPr id="18" name="Shape 16"/>
          <p:cNvSpPr/>
          <p:nvPr/>
        </p:nvSpPr>
        <p:spPr>
          <a:xfrm>
            <a:off x="15182850" y="2714625"/>
            <a:ext cx="2152650" cy="942975"/>
          </a:xfrm>
          <a:prstGeom prst="roundRect">
            <a:avLst>
              <a:gd name="adj" fmla="val 14141"/>
            </a:avLst>
          </a:prstGeom>
          <a:solidFill>
            <a:srgbClr val="EAF7F5"/>
          </a:solidFill>
          <a:ln/>
        </p:spPr>
        <p:txBody>
          <a:bodyPr/>
          <a:lstStyle/>
          <a:p>
            <a:endParaRPr lang="ko-KR" altLang="en-US"/>
          </a:p>
        </p:txBody>
      </p:sp>
      <p:sp>
        <p:nvSpPr>
          <p:cNvPr id="19" name="Text 17"/>
          <p:cNvSpPr/>
          <p:nvPr/>
        </p:nvSpPr>
        <p:spPr>
          <a:xfrm>
            <a:off x="15354300" y="2981325"/>
            <a:ext cx="1809750" cy="447675"/>
          </a:xfrm>
          <a:prstGeom prst="rect">
            <a:avLst/>
          </a:prstGeom>
          <a:noFill/>
          <a:ln/>
        </p:spPr>
        <p:txBody>
          <a:bodyPr wrap="square" lIns="25400" tIns="25400" rIns="25400" bIns="25400" rtlCol="0" anchor="t">
            <a:normAutofit/>
          </a:bodyPr>
          <a:lstStyle/>
          <a:p>
            <a:pPr marL="0" indent="0" algn="ctr">
              <a:buNone/>
            </a:pPr>
            <a:r>
              <a:rPr lang="en-US" sz="2025" dirty="0">
                <a:solidFill>
                  <a:srgbClr val="111827"/>
                </a:solidFill>
                <a:latin typeface="Arial" pitchFamily="34" charset="0"/>
                <a:ea typeface="Arial" pitchFamily="34" charset="-122"/>
                <a:cs typeface="Arial" pitchFamily="34" charset="-120"/>
              </a:rPr>
              <a:t>초음파 센서</a:t>
            </a:r>
            <a:endParaRPr lang="en-US" sz="2025" dirty="0"/>
          </a:p>
        </p:txBody>
      </p:sp>
      <p:sp>
        <p:nvSpPr>
          <p:cNvPr id="20" name="Text 18"/>
          <p:cNvSpPr/>
          <p:nvPr/>
        </p:nvSpPr>
        <p:spPr>
          <a:xfrm>
            <a:off x="933450" y="4629150"/>
            <a:ext cx="2619375"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7188F1"/>
                </a:solidFill>
                <a:latin typeface="Arial" pitchFamily="34" charset="0"/>
                <a:ea typeface="Arial" pitchFamily="34" charset="-122"/>
                <a:cs typeface="Arial" pitchFamily="34" charset="-120"/>
              </a:rPr>
              <a:t>ROS2 노드 계층</a:t>
            </a:r>
            <a:endParaRPr lang="en-US" sz="2250" dirty="0"/>
          </a:p>
        </p:txBody>
      </p:sp>
      <p:sp>
        <p:nvSpPr>
          <p:cNvPr id="21" name="Shape 19"/>
          <p:cNvSpPr/>
          <p:nvPr/>
        </p:nvSpPr>
        <p:spPr>
          <a:xfrm>
            <a:off x="3619500" y="4019550"/>
            <a:ext cx="2651820" cy="1638300"/>
          </a:xfrm>
          <a:prstGeom prst="roundRect">
            <a:avLst>
              <a:gd name="adj" fmla="val 8140"/>
            </a:avLst>
          </a:prstGeom>
          <a:solidFill>
            <a:srgbClr val="EEF1FE"/>
          </a:solidFill>
          <a:ln/>
        </p:spPr>
        <p:txBody>
          <a:bodyPr/>
          <a:lstStyle/>
          <a:p>
            <a:endParaRPr lang="ko-KR" altLang="en-US"/>
          </a:p>
        </p:txBody>
      </p:sp>
      <p:sp>
        <p:nvSpPr>
          <p:cNvPr id="22" name="Text 20"/>
          <p:cNvSpPr/>
          <p:nvPr/>
        </p:nvSpPr>
        <p:spPr>
          <a:xfrm>
            <a:off x="3829050" y="4267200"/>
            <a:ext cx="2455991"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11827"/>
                </a:solidFill>
                <a:latin typeface="Arial" pitchFamily="34" charset="0"/>
                <a:ea typeface="Arial" pitchFamily="34" charset="-122"/>
                <a:cs typeface="Arial" pitchFamily="34" charset="-120"/>
              </a:rPr>
              <a:t>인지</a:t>
            </a:r>
            <a:endParaRPr lang="en-US" sz="1950" dirty="0"/>
          </a:p>
        </p:txBody>
      </p:sp>
      <p:sp>
        <p:nvSpPr>
          <p:cNvPr id="23" name="Text 21"/>
          <p:cNvSpPr/>
          <p:nvPr/>
        </p:nvSpPr>
        <p:spPr>
          <a:xfrm>
            <a:off x="3829050" y="4695825"/>
            <a:ext cx="2308920" cy="752475"/>
          </a:xfrm>
          <a:prstGeom prst="rect">
            <a:avLst/>
          </a:prstGeom>
          <a:noFill/>
          <a:ln/>
        </p:spPr>
        <p:txBody>
          <a:bodyPr wrap="square" lIns="25400" tIns="25400" rIns="25400" bIns="25400" rtlCol="0" anchor="t">
            <a:normAutofit lnSpcReduction="10000"/>
          </a:bodyPr>
          <a:lstStyle/>
          <a:p>
            <a:pPr marL="0" indent="0" algn="l">
              <a:lnSpc>
                <a:spcPct val="129310"/>
              </a:lnSpc>
              <a:buNone/>
            </a:pPr>
            <a:r>
              <a:rPr lang="en-US" sz="1875" dirty="0">
                <a:solidFill>
                  <a:srgbClr val="4B5563"/>
                </a:solidFill>
                <a:latin typeface="Arial" pitchFamily="34" charset="0"/>
                <a:ea typeface="Arial" pitchFamily="34" charset="-122"/>
                <a:cs typeface="Arial" pitchFamily="34" charset="-120"/>
              </a:rPr>
              <a:t>카메라 · IR · 초음파 브리지</a:t>
            </a:r>
            <a:endParaRPr lang="en-US" sz="1875" dirty="0"/>
          </a:p>
        </p:txBody>
      </p:sp>
      <p:sp>
        <p:nvSpPr>
          <p:cNvPr id="24" name="Text 22"/>
          <p:cNvSpPr/>
          <p:nvPr/>
        </p:nvSpPr>
        <p:spPr>
          <a:xfrm>
            <a:off x="6404670" y="4662488"/>
            <a:ext cx="32399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7188F1"/>
                </a:solidFill>
                <a:latin typeface="Arial" pitchFamily="34" charset="0"/>
                <a:ea typeface="Arial" pitchFamily="34" charset="-122"/>
                <a:cs typeface="Arial" pitchFamily="34" charset="-120"/>
              </a:rPr>
              <a:t>→</a:t>
            </a:r>
            <a:endParaRPr lang="en-US" sz="1950" dirty="0"/>
          </a:p>
        </p:txBody>
      </p:sp>
      <p:sp>
        <p:nvSpPr>
          <p:cNvPr id="25" name="Shape 23"/>
          <p:cNvSpPr/>
          <p:nvPr/>
        </p:nvSpPr>
        <p:spPr>
          <a:xfrm>
            <a:off x="6785818" y="4019550"/>
            <a:ext cx="2651968" cy="1638300"/>
          </a:xfrm>
          <a:prstGeom prst="roundRect">
            <a:avLst>
              <a:gd name="adj" fmla="val 8140"/>
            </a:avLst>
          </a:prstGeom>
          <a:solidFill>
            <a:srgbClr val="7188F1"/>
          </a:solidFill>
          <a:ln/>
        </p:spPr>
        <p:txBody>
          <a:bodyPr/>
          <a:lstStyle/>
          <a:p>
            <a:endParaRPr lang="ko-KR" altLang="en-US"/>
          </a:p>
        </p:txBody>
      </p:sp>
      <p:sp>
        <p:nvSpPr>
          <p:cNvPr id="26" name="Text 24"/>
          <p:cNvSpPr/>
          <p:nvPr/>
        </p:nvSpPr>
        <p:spPr>
          <a:xfrm>
            <a:off x="6995368" y="4267200"/>
            <a:ext cx="2456155"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Arial" pitchFamily="34" charset="0"/>
                <a:ea typeface="Arial" pitchFamily="34" charset="-122"/>
                <a:cs typeface="Arial" pitchFamily="34" charset="-120"/>
              </a:rPr>
              <a:t>판단</a:t>
            </a:r>
            <a:endParaRPr lang="en-US" sz="1950" dirty="0"/>
          </a:p>
        </p:txBody>
      </p:sp>
      <p:sp>
        <p:nvSpPr>
          <p:cNvPr id="27" name="Text 25"/>
          <p:cNvSpPr/>
          <p:nvPr/>
        </p:nvSpPr>
        <p:spPr>
          <a:xfrm>
            <a:off x="6995368" y="4695825"/>
            <a:ext cx="2309068" cy="752475"/>
          </a:xfrm>
          <a:prstGeom prst="rect">
            <a:avLst/>
          </a:prstGeom>
          <a:noFill/>
          <a:ln/>
        </p:spPr>
        <p:txBody>
          <a:bodyPr wrap="square" lIns="25400" tIns="25400" rIns="25400" bIns="25400" rtlCol="0" anchor="t">
            <a:normAutofit lnSpcReduction="10000"/>
          </a:bodyPr>
          <a:lstStyle/>
          <a:p>
            <a:pPr marL="0" indent="0" algn="l">
              <a:lnSpc>
                <a:spcPct val="129310"/>
              </a:lnSpc>
              <a:buNone/>
            </a:pPr>
            <a:r>
              <a:rPr lang="en-US" sz="1875" dirty="0">
                <a:solidFill>
                  <a:srgbClr val="FFFFFF"/>
                </a:solidFill>
                <a:latin typeface="Arial" pitchFamily="34" charset="0"/>
                <a:ea typeface="Arial" pitchFamily="34" charset="-122"/>
                <a:cs typeface="Arial" pitchFamily="34" charset="-120"/>
              </a:rPr>
              <a:t>driving_node 상태 머신</a:t>
            </a:r>
            <a:endParaRPr lang="en-US" sz="1875" dirty="0"/>
          </a:p>
        </p:txBody>
      </p:sp>
      <p:sp>
        <p:nvSpPr>
          <p:cNvPr id="28" name="Text 26"/>
          <p:cNvSpPr/>
          <p:nvPr/>
        </p:nvSpPr>
        <p:spPr>
          <a:xfrm>
            <a:off x="9571137" y="4662488"/>
            <a:ext cx="32399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7188F1"/>
                </a:solidFill>
                <a:latin typeface="Arial" pitchFamily="34" charset="0"/>
                <a:ea typeface="Arial" pitchFamily="34" charset="-122"/>
                <a:cs typeface="Arial" pitchFamily="34" charset="-120"/>
              </a:rPr>
              <a:t>→</a:t>
            </a:r>
            <a:endParaRPr lang="en-US" sz="1950" dirty="0"/>
          </a:p>
        </p:txBody>
      </p:sp>
      <p:sp>
        <p:nvSpPr>
          <p:cNvPr id="29" name="Shape 27"/>
          <p:cNvSpPr/>
          <p:nvPr/>
        </p:nvSpPr>
        <p:spPr>
          <a:xfrm>
            <a:off x="9952286" y="4019550"/>
            <a:ext cx="2651968" cy="1638300"/>
          </a:xfrm>
          <a:prstGeom prst="roundRect">
            <a:avLst>
              <a:gd name="adj" fmla="val 8140"/>
            </a:avLst>
          </a:prstGeom>
          <a:solidFill>
            <a:srgbClr val="EEF1FE"/>
          </a:solidFill>
          <a:ln/>
        </p:spPr>
        <p:txBody>
          <a:bodyPr/>
          <a:lstStyle/>
          <a:p>
            <a:endParaRPr lang="ko-KR" altLang="en-US"/>
          </a:p>
        </p:txBody>
      </p:sp>
      <p:sp>
        <p:nvSpPr>
          <p:cNvPr id="30" name="Text 28"/>
          <p:cNvSpPr/>
          <p:nvPr/>
        </p:nvSpPr>
        <p:spPr>
          <a:xfrm>
            <a:off x="10161836" y="4267200"/>
            <a:ext cx="2456155"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11827"/>
                </a:solidFill>
                <a:latin typeface="Arial" pitchFamily="34" charset="0"/>
                <a:ea typeface="Arial" pitchFamily="34" charset="-122"/>
                <a:cs typeface="Arial" pitchFamily="34" charset="-120"/>
              </a:rPr>
              <a:t>제어</a:t>
            </a:r>
            <a:endParaRPr lang="en-US" sz="1950" dirty="0"/>
          </a:p>
        </p:txBody>
      </p:sp>
      <p:sp>
        <p:nvSpPr>
          <p:cNvPr id="31" name="Text 29"/>
          <p:cNvSpPr/>
          <p:nvPr/>
        </p:nvSpPr>
        <p:spPr>
          <a:xfrm>
            <a:off x="10161836" y="4695825"/>
            <a:ext cx="2456155" cy="395288"/>
          </a:xfrm>
          <a:prstGeom prst="rect">
            <a:avLst/>
          </a:prstGeom>
          <a:noFill/>
          <a:ln/>
        </p:spPr>
        <p:txBody>
          <a:bodyPr wrap="square" lIns="25400" tIns="25400" rIns="25400" bIns="25400" rtlCol="0" anchor="t">
            <a:normAutofit/>
          </a:bodyPr>
          <a:lstStyle/>
          <a:p>
            <a:pPr marL="0" indent="0" algn="l">
              <a:lnSpc>
                <a:spcPct val="129310"/>
              </a:lnSpc>
              <a:buNone/>
            </a:pPr>
            <a:r>
              <a:rPr lang="en-US" sz="1875" dirty="0">
                <a:solidFill>
                  <a:srgbClr val="4B5563"/>
                </a:solidFill>
                <a:latin typeface="Arial" pitchFamily="34" charset="0"/>
                <a:ea typeface="Arial" pitchFamily="34" charset="-122"/>
                <a:cs typeface="Arial" pitchFamily="34" charset="-120"/>
              </a:rPr>
              <a:t>Nav2 + 직접 제어 루프</a:t>
            </a:r>
            <a:endParaRPr lang="en-US" sz="1875" dirty="0"/>
          </a:p>
        </p:txBody>
      </p:sp>
      <p:sp>
        <p:nvSpPr>
          <p:cNvPr id="32" name="Text 30"/>
          <p:cNvSpPr/>
          <p:nvPr/>
        </p:nvSpPr>
        <p:spPr>
          <a:xfrm>
            <a:off x="962025" y="6448425"/>
            <a:ext cx="2619375"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6BC9BE"/>
                </a:solidFill>
                <a:latin typeface="Arial" pitchFamily="34" charset="0"/>
                <a:ea typeface="Arial" pitchFamily="34" charset="-122"/>
                <a:cs typeface="Arial" pitchFamily="34" charset="-120"/>
              </a:rPr>
              <a:t>배포 계층</a:t>
            </a:r>
            <a:endParaRPr lang="en-US" sz="2250" dirty="0"/>
          </a:p>
        </p:txBody>
      </p:sp>
      <p:sp>
        <p:nvSpPr>
          <p:cNvPr id="33" name="Shape 31"/>
          <p:cNvSpPr/>
          <p:nvPr/>
        </p:nvSpPr>
        <p:spPr>
          <a:xfrm>
            <a:off x="3648075" y="6219825"/>
            <a:ext cx="1072604" cy="876300"/>
          </a:xfrm>
          <a:prstGeom prst="roundRect">
            <a:avLst>
              <a:gd name="adj" fmla="val 15217"/>
            </a:avLst>
          </a:prstGeom>
          <a:ln w="19050">
            <a:solidFill>
              <a:srgbClr val="E5E7EB"/>
            </a:solidFill>
            <a:prstDash val="solid"/>
          </a:ln>
        </p:spPr>
        <p:txBody>
          <a:bodyPr/>
          <a:lstStyle/>
          <a:p>
            <a:endParaRPr lang="ko-KR" altLang="en-US"/>
          </a:p>
        </p:txBody>
      </p:sp>
      <p:sp>
        <p:nvSpPr>
          <p:cNvPr id="34" name="Text 32"/>
          <p:cNvSpPr/>
          <p:nvPr/>
        </p:nvSpPr>
        <p:spPr>
          <a:xfrm>
            <a:off x="3952875" y="6486525"/>
            <a:ext cx="539204" cy="381000"/>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latin typeface="Courier New" pitchFamily="34" charset="0"/>
                <a:ea typeface="Courier New" pitchFamily="34" charset="-122"/>
                <a:cs typeface="Courier New" pitchFamily="34" charset="-120"/>
              </a:rPr>
              <a:t>PM2</a:t>
            </a:r>
            <a:endParaRPr lang="en-US" sz="2025" dirty="0"/>
          </a:p>
        </p:txBody>
      </p:sp>
      <p:sp>
        <p:nvSpPr>
          <p:cNvPr id="35" name="Text 33"/>
          <p:cNvSpPr/>
          <p:nvPr/>
        </p:nvSpPr>
        <p:spPr>
          <a:xfrm>
            <a:off x="4873079" y="6481763"/>
            <a:ext cx="32399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C9BE"/>
                </a:solidFill>
                <a:latin typeface="Arial" pitchFamily="34" charset="0"/>
                <a:ea typeface="Arial" pitchFamily="34" charset="-122"/>
                <a:cs typeface="Arial" pitchFamily="34" charset="-120"/>
              </a:rPr>
              <a:t>→</a:t>
            </a:r>
            <a:endParaRPr lang="en-US" sz="1950" dirty="0"/>
          </a:p>
        </p:txBody>
      </p:sp>
      <p:sp>
        <p:nvSpPr>
          <p:cNvPr id="36" name="Shape 34"/>
          <p:cNvSpPr/>
          <p:nvPr/>
        </p:nvSpPr>
        <p:spPr>
          <a:xfrm>
            <a:off x="5273278" y="6219825"/>
            <a:ext cx="2152650" cy="876300"/>
          </a:xfrm>
          <a:prstGeom prst="roundRect">
            <a:avLst>
              <a:gd name="adj" fmla="val 15217"/>
            </a:avLst>
          </a:prstGeom>
          <a:ln w="19050">
            <a:solidFill>
              <a:srgbClr val="E5E7EB"/>
            </a:solidFill>
            <a:prstDash val="solid"/>
          </a:ln>
        </p:spPr>
        <p:txBody>
          <a:bodyPr/>
          <a:lstStyle/>
          <a:p>
            <a:endParaRPr lang="ko-KR" altLang="en-US"/>
          </a:p>
        </p:txBody>
      </p:sp>
      <p:sp>
        <p:nvSpPr>
          <p:cNvPr id="37" name="Text 35"/>
          <p:cNvSpPr/>
          <p:nvPr/>
        </p:nvSpPr>
        <p:spPr>
          <a:xfrm>
            <a:off x="5578078" y="6486525"/>
            <a:ext cx="1619250" cy="381000"/>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latin typeface="Courier New" pitchFamily="34" charset="0"/>
                <a:ea typeface="Courier New" pitchFamily="34" charset="-122"/>
                <a:cs typeface="Courier New" pitchFamily="34" charset="-120"/>
              </a:rPr>
              <a:t>supervisor</a:t>
            </a:r>
            <a:endParaRPr lang="en-US" sz="2025" dirty="0"/>
          </a:p>
        </p:txBody>
      </p:sp>
      <p:sp>
        <p:nvSpPr>
          <p:cNvPr id="38" name="Text 36"/>
          <p:cNvSpPr/>
          <p:nvPr/>
        </p:nvSpPr>
        <p:spPr>
          <a:xfrm>
            <a:off x="7578328" y="6481763"/>
            <a:ext cx="32399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C9BE"/>
                </a:solidFill>
                <a:latin typeface="Arial" pitchFamily="34" charset="0"/>
                <a:ea typeface="Arial" pitchFamily="34" charset="-122"/>
                <a:cs typeface="Arial" pitchFamily="34" charset="-120"/>
              </a:rPr>
              <a:t>→</a:t>
            </a:r>
            <a:endParaRPr lang="en-US" sz="1950" dirty="0"/>
          </a:p>
        </p:txBody>
      </p:sp>
      <p:sp>
        <p:nvSpPr>
          <p:cNvPr id="39" name="Shape 37"/>
          <p:cNvSpPr/>
          <p:nvPr/>
        </p:nvSpPr>
        <p:spPr>
          <a:xfrm>
            <a:off x="7978527" y="6224588"/>
            <a:ext cx="3297585" cy="866775"/>
          </a:xfrm>
          <a:prstGeom prst="roundRect">
            <a:avLst>
              <a:gd name="adj" fmla="val 15385"/>
            </a:avLst>
          </a:prstGeom>
          <a:solidFill>
            <a:srgbClr val="EAF7F5"/>
          </a:solidFill>
          <a:ln/>
        </p:spPr>
        <p:txBody>
          <a:bodyPr/>
          <a:lstStyle/>
          <a:p>
            <a:endParaRPr lang="ko-KR" altLang="en-US"/>
          </a:p>
        </p:txBody>
      </p:sp>
      <p:sp>
        <p:nvSpPr>
          <p:cNvPr id="40" name="Text 38"/>
          <p:cNvSpPr/>
          <p:nvPr/>
        </p:nvSpPr>
        <p:spPr>
          <a:xfrm>
            <a:off x="8264277" y="6472238"/>
            <a:ext cx="3135214" cy="409575"/>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latin typeface="Courier New" pitchFamily="34" charset="0"/>
                <a:ea typeface="Courier New" pitchFamily="34" charset="-122"/>
                <a:cs typeface="Courier New" pitchFamily="34" charset="-120"/>
              </a:rPr>
              <a:t>tmux 세션 · 6개 노드</a:t>
            </a:r>
            <a:endParaRPr lang="en-US" sz="2025" dirty="0"/>
          </a:p>
        </p:txBody>
      </p:sp>
      <p:pic>
        <p:nvPicPr>
          <p:cNvPr id="41" name="Image 0" descr="preencoded.png"/>
          <p:cNvPicPr>
            <a:picLocks noChangeAspect="1"/>
          </p:cNvPicPr>
          <p:nvPr/>
        </p:nvPicPr>
        <p:blipFill>
          <a:blip r:embed="rId3"/>
          <a:srcRect t="1" b="1"/>
          <a:stretch/>
        </p:blipFill>
        <p:spPr>
          <a:xfrm>
            <a:off x="12934950" y="4038600"/>
            <a:ext cx="3829050" cy="5137398"/>
          </a:xfrm>
          <a:prstGeom prst="rect">
            <a:avLst/>
          </a:prstGeom>
        </p:spPr>
      </p:pic>
      <p:sp>
        <p:nvSpPr>
          <p:cNvPr id="42" name="Text 39"/>
          <p:cNvSpPr/>
          <p:nvPr/>
        </p:nvSpPr>
        <p:spPr>
          <a:xfrm>
            <a:off x="952500" y="9267825"/>
            <a:ext cx="3768179"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43" name="Text 40"/>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03</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04</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1" y="838200"/>
            <a:ext cx="2504345"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ROS2 노드 구성</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driving_node 하나가 전체를 조율합니다</a:t>
            </a:r>
            <a:endParaRPr lang="en-US" sz="4650" dirty="0"/>
          </a:p>
        </p:txBody>
      </p:sp>
      <p:sp>
        <p:nvSpPr>
          <p:cNvPr id="6" name="Shape 4"/>
          <p:cNvSpPr/>
          <p:nvPr/>
        </p:nvSpPr>
        <p:spPr>
          <a:xfrm>
            <a:off x="952500" y="3367088"/>
            <a:ext cx="6362700" cy="800100"/>
          </a:xfrm>
          <a:prstGeom prst="roundRect">
            <a:avLst>
              <a:gd name="adj" fmla="val 16667"/>
            </a:avLst>
          </a:prstGeom>
          <a:solidFill>
            <a:srgbClr val="EAF7F5"/>
          </a:solidFill>
          <a:ln/>
        </p:spPr>
        <p:txBody>
          <a:bodyPr/>
          <a:lstStyle/>
          <a:p>
            <a:endParaRPr lang="ko-KR" altLang="en-US"/>
          </a:p>
        </p:txBody>
      </p:sp>
      <p:sp>
        <p:nvSpPr>
          <p:cNvPr id="7" name="Text 5"/>
          <p:cNvSpPr/>
          <p:nvPr/>
        </p:nvSpPr>
        <p:spPr>
          <a:xfrm>
            <a:off x="1200150" y="3595688"/>
            <a:ext cx="6058281" cy="381000"/>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highlight>
                  <a:srgbClr val="EAF7F5"/>
                </a:highlight>
                <a:latin typeface="Courier New" pitchFamily="34" charset="0"/>
                <a:ea typeface="Courier New" pitchFamily="34" charset="-122"/>
                <a:cs typeface="Courier New" pitchFamily="34" charset="-120"/>
              </a:rPr>
              <a:t>yeyu_bringup</a:t>
            </a:r>
            <a:r>
              <a:rPr lang="en-US" sz="1800" dirty="0">
                <a:solidFill>
                  <a:srgbClr val="4B5563"/>
                </a:solidFill>
                <a:latin typeface="Arial" pitchFamily="34" charset="0"/>
                <a:ea typeface="Arial" pitchFamily="34" charset="-122"/>
                <a:cs typeface="Arial" pitchFamily="34" charset="-120"/>
              </a:rPr>
              <a:t>· 하드웨어</a:t>
            </a:r>
            <a:endParaRPr lang="en-US" sz="2025" dirty="0"/>
          </a:p>
        </p:txBody>
      </p:sp>
      <p:sp>
        <p:nvSpPr>
          <p:cNvPr id="8" name="Shape 6"/>
          <p:cNvSpPr/>
          <p:nvPr/>
        </p:nvSpPr>
        <p:spPr>
          <a:xfrm>
            <a:off x="952500" y="4319588"/>
            <a:ext cx="6362700" cy="800100"/>
          </a:xfrm>
          <a:prstGeom prst="roundRect">
            <a:avLst>
              <a:gd name="adj" fmla="val 16667"/>
            </a:avLst>
          </a:prstGeom>
          <a:solidFill>
            <a:srgbClr val="EAF7F5"/>
          </a:solidFill>
          <a:ln/>
        </p:spPr>
        <p:txBody>
          <a:bodyPr/>
          <a:lstStyle/>
          <a:p>
            <a:endParaRPr lang="ko-KR" altLang="en-US"/>
          </a:p>
        </p:txBody>
      </p:sp>
      <p:sp>
        <p:nvSpPr>
          <p:cNvPr id="9" name="Text 7"/>
          <p:cNvSpPr/>
          <p:nvPr/>
        </p:nvSpPr>
        <p:spPr>
          <a:xfrm>
            <a:off x="1200150" y="4548188"/>
            <a:ext cx="6058281" cy="381000"/>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highlight>
                  <a:srgbClr val="EAF7F5"/>
                </a:highlight>
                <a:latin typeface="Courier New" pitchFamily="34" charset="0"/>
                <a:ea typeface="Courier New" pitchFamily="34" charset="-122"/>
                <a:cs typeface="Courier New" pitchFamily="34" charset="-120"/>
              </a:rPr>
              <a:t>arduino_sensor_bridge</a:t>
            </a:r>
            <a:r>
              <a:rPr lang="en-US" sz="1800" dirty="0">
                <a:solidFill>
                  <a:srgbClr val="4B5563"/>
                </a:solidFill>
                <a:latin typeface="Arial" pitchFamily="34" charset="0"/>
                <a:ea typeface="Arial" pitchFamily="34" charset="-122"/>
                <a:cs typeface="Arial" pitchFamily="34" charset="-120"/>
              </a:rPr>
              <a:t>· IR/LED/초음파</a:t>
            </a:r>
            <a:endParaRPr lang="en-US" sz="2025" dirty="0"/>
          </a:p>
        </p:txBody>
      </p:sp>
      <p:sp>
        <p:nvSpPr>
          <p:cNvPr id="10" name="Shape 8"/>
          <p:cNvSpPr/>
          <p:nvPr/>
        </p:nvSpPr>
        <p:spPr>
          <a:xfrm>
            <a:off x="952500" y="5272088"/>
            <a:ext cx="6362700" cy="800100"/>
          </a:xfrm>
          <a:prstGeom prst="roundRect">
            <a:avLst>
              <a:gd name="adj" fmla="val 16667"/>
            </a:avLst>
          </a:prstGeom>
          <a:solidFill>
            <a:srgbClr val="EAF7F5"/>
          </a:solidFill>
          <a:ln/>
        </p:spPr>
        <p:txBody>
          <a:bodyPr/>
          <a:lstStyle/>
          <a:p>
            <a:endParaRPr lang="ko-KR" altLang="en-US"/>
          </a:p>
        </p:txBody>
      </p:sp>
      <p:sp>
        <p:nvSpPr>
          <p:cNvPr id="11" name="Text 9"/>
          <p:cNvSpPr/>
          <p:nvPr/>
        </p:nvSpPr>
        <p:spPr>
          <a:xfrm>
            <a:off x="1200150" y="5500688"/>
            <a:ext cx="6058281" cy="381000"/>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highlight>
                  <a:srgbClr val="EAF7F5"/>
                </a:highlight>
                <a:latin typeface="Courier New" pitchFamily="34" charset="0"/>
                <a:ea typeface="Courier New" pitchFamily="34" charset="-122"/>
                <a:cs typeface="Courier New" pitchFamily="34" charset="-120"/>
              </a:rPr>
              <a:t>camera_node</a:t>
            </a:r>
            <a:r>
              <a:rPr lang="en-US" sz="1800" dirty="0">
                <a:solidFill>
                  <a:srgbClr val="4B5563"/>
                </a:solidFill>
                <a:latin typeface="Arial" pitchFamily="34" charset="0"/>
                <a:ea typeface="Arial" pitchFamily="34" charset="-122"/>
                <a:cs typeface="Arial" pitchFamily="34" charset="-120"/>
              </a:rPr>
              <a:t>· 영상</a:t>
            </a:r>
            <a:endParaRPr lang="en-US" sz="2025" dirty="0"/>
          </a:p>
        </p:txBody>
      </p:sp>
      <p:sp>
        <p:nvSpPr>
          <p:cNvPr id="12" name="Shape 10"/>
          <p:cNvSpPr/>
          <p:nvPr/>
        </p:nvSpPr>
        <p:spPr>
          <a:xfrm>
            <a:off x="952500" y="6224588"/>
            <a:ext cx="6362700" cy="800100"/>
          </a:xfrm>
          <a:prstGeom prst="roundRect">
            <a:avLst>
              <a:gd name="adj" fmla="val 16667"/>
            </a:avLst>
          </a:prstGeom>
          <a:solidFill>
            <a:srgbClr val="EAF7F5"/>
          </a:solidFill>
          <a:ln/>
        </p:spPr>
        <p:txBody>
          <a:bodyPr/>
          <a:lstStyle/>
          <a:p>
            <a:endParaRPr lang="ko-KR" altLang="en-US"/>
          </a:p>
        </p:txBody>
      </p:sp>
      <p:sp>
        <p:nvSpPr>
          <p:cNvPr id="13" name="Text 11"/>
          <p:cNvSpPr/>
          <p:nvPr/>
        </p:nvSpPr>
        <p:spPr>
          <a:xfrm>
            <a:off x="1200150" y="6453188"/>
            <a:ext cx="6058281" cy="381000"/>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highlight>
                  <a:srgbClr val="EAF7F5"/>
                </a:highlight>
                <a:latin typeface="Courier New" pitchFamily="34" charset="0"/>
                <a:ea typeface="Courier New" pitchFamily="34" charset="-122"/>
                <a:cs typeface="Courier New" pitchFamily="34" charset="-120"/>
              </a:rPr>
              <a:t>audio_output_node</a:t>
            </a:r>
            <a:r>
              <a:rPr lang="en-US" sz="1800" dirty="0">
                <a:solidFill>
                  <a:srgbClr val="4B5563"/>
                </a:solidFill>
                <a:latin typeface="Arial" pitchFamily="34" charset="0"/>
                <a:ea typeface="Arial" pitchFamily="34" charset="-122"/>
                <a:cs typeface="Arial" pitchFamily="34" charset="-120"/>
              </a:rPr>
              <a:t>· TTS</a:t>
            </a:r>
            <a:endParaRPr lang="en-US" sz="2025" dirty="0"/>
          </a:p>
        </p:txBody>
      </p:sp>
      <p:sp>
        <p:nvSpPr>
          <p:cNvPr id="14" name="Shape 12"/>
          <p:cNvSpPr/>
          <p:nvPr/>
        </p:nvSpPr>
        <p:spPr>
          <a:xfrm>
            <a:off x="952500" y="7177088"/>
            <a:ext cx="6362700" cy="828675"/>
          </a:xfrm>
          <a:prstGeom prst="roundRect">
            <a:avLst>
              <a:gd name="adj" fmla="val 16092"/>
            </a:avLst>
          </a:prstGeom>
          <a:solidFill>
            <a:srgbClr val="EAF7F5"/>
          </a:solidFill>
          <a:ln/>
        </p:spPr>
        <p:txBody>
          <a:bodyPr/>
          <a:lstStyle/>
          <a:p>
            <a:endParaRPr lang="ko-KR" altLang="en-US"/>
          </a:p>
        </p:txBody>
      </p:sp>
      <p:sp>
        <p:nvSpPr>
          <p:cNvPr id="15" name="Text 13"/>
          <p:cNvSpPr/>
          <p:nvPr/>
        </p:nvSpPr>
        <p:spPr>
          <a:xfrm>
            <a:off x="1200150" y="7405687"/>
            <a:ext cx="6058281" cy="409575"/>
          </a:xfrm>
          <a:prstGeom prst="rect">
            <a:avLst/>
          </a:prstGeom>
          <a:noFill/>
          <a:ln/>
        </p:spPr>
        <p:txBody>
          <a:bodyPr wrap="square" lIns="25400" tIns="25400" rIns="25400" bIns="25400" rtlCol="0" anchor="t">
            <a:normAutofit/>
          </a:bodyPr>
          <a:lstStyle/>
          <a:p>
            <a:pPr marL="0" indent="0" algn="l">
              <a:buNone/>
            </a:pPr>
            <a:r>
              <a:rPr lang="en-US" sz="2025" dirty="0">
                <a:solidFill>
                  <a:srgbClr val="111827"/>
                </a:solidFill>
                <a:highlight>
                  <a:srgbClr val="EAF7F5"/>
                </a:highlight>
                <a:latin typeface="Courier New" pitchFamily="34" charset="0"/>
                <a:ea typeface="Courier New" pitchFamily="34" charset="-122"/>
                <a:cs typeface="Courier New" pitchFamily="34" charset="-120"/>
              </a:rPr>
              <a:t>Nav2 스택</a:t>
            </a:r>
            <a:r>
              <a:rPr lang="en-US" sz="1800" dirty="0">
                <a:solidFill>
                  <a:srgbClr val="4B5563"/>
                </a:solidFill>
                <a:latin typeface="Arial" pitchFamily="34" charset="0"/>
                <a:ea typeface="Arial" pitchFamily="34" charset="-122"/>
                <a:cs typeface="Arial" pitchFamily="34" charset="-120"/>
              </a:rPr>
              <a:t>· AMCL/costmap</a:t>
            </a:r>
            <a:endParaRPr lang="en-US" sz="2025" dirty="0"/>
          </a:p>
        </p:txBody>
      </p:sp>
      <p:sp>
        <p:nvSpPr>
          <p:cNvPr id="16" name="Text 14"/>
          <p:cNvSpPr/>
          <p:nvPr/>
        </p:nvSpPr>
        <p:spPr>
          <a:xfrm>
            <a:off x="8905875" y="4043363"/>
            <a:ext cx="552450" cy="723900"/>
          </a:xfrm>
          <a:prstGeom prst="rect">
            <a:avLst/>
          </a:prstGeom>
          <a:noFill/>
          <a:ln/>
        </p:spPr>
        <p:txBody>
          <a:bodyPr wrap="square" lIns="25400" tIns="25400" rIns="25400" bIns="25400" rtlCol="0" anchor="t">
            <a:normAutofit/>
          </a:bodyPr>
          <a:lstStyle/>
          <a:p>
            <a:pPr marL="0" indent="0" algn="l">
              <a:buNone/>
            </a:pPr>
            <a:r>
              <a:rPr lang="en-US" sz="3750" dirty="0">
                <a:solidFill>
                  <a:srgbClr val="7188F1"/>
                </a:solidFill>
                <a:latin typeface="Arial" pitchFamily="34" charset="0"/>
                <a:ea typeface="Arial" pitchFamily="34" charset="-122"/>
                <a:cs typeface="Arial" pitchFamily="34" charset="-120"/>
              </a:rPr>
              <a:t>⇄</a:t>
            </a:r>
            <a:endParaRPr lang="en-US" sz="3750" dirty="0"/>
          </a:p>
        </p:txBody>
      </p:sp>
      <p:sp>
        <p:nvSpPr>
          <p:cNvPr id="17" name="Shape 15"/>
          <p:cNvSpPr/>
          <p:nvPr/>
        </p:nvSpPr>
        <p:spPr>
          <a:xfrm>
            <a:off x="7353300" y="4881563"/>
            <a:ext cx="3581400" cy="1609725"/>
          </a:xfrm>
          <a:prstGeom prst="roundRect">
            <a:avLst>
              <a:gd name="adj" fmla="val 11834"/>
            </a:avLst>
          </a:prstGeom>
          <a:solidFill>
            <a:srgbClr val="7188F1"/>
          </a:solidFill>
          <a:ln/>
        </p:spPr>
        <p:txBody>
          <a:bodyPr/>
          <a:lstStyle/>
          <a:p>
            <a:endParaRPr lang="ko-KR" altLang="en-US"/>
          </a:p>
        </p:txBody>
      </p:sp>
      <p:sp>
        <p:nvSpPr>
          <p:cNvPr id="18" name="Text 16"/>
          <p:cNvSpPr/>
          <p:nvPr/>
        </p:nvSpPr>
        <p:spPr>
          <a:xfrm>
            <a:off x="7467600" y="5262563"/>
            <a:ext cx="3352800" cy="400050"/>
          </a:xfrm>
          <a:prstGeom prst="rect">
            <a:avLst/>
          </a:prstGeom>
          <a:noFill/>
          <a:ln/>
        </p:spPr>
        <p:txBody>
          <a:bodyPr wrap="square" lIns="25400" tIns="25400" rIns="25400" bIns="25400" rtlCol="0" anchor="t">
            <a:normAutofit lnSpcReduction="10000"/>
          </a:bodyP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driving_node</a:t>
            </a:r>
            <a:endParaRPr lang="en-US" sz="2400" dirty="0"/>
          </a:p>
        </p:txBody>
      </p:sp>
      <p:sp>
        <p:nvSpPr>
          <p:cNvPr id="19" name="Text 17"/>
          <p:cNvSpPr/>
          <p:nvPr/>
        </p:nvSpPr>
        <p:spPr>
          <a:xfrm>
            <a:off x="7467600" y="5738813"/>
            <a:ext cx="3352800" cy="409575"/>
          </a:xfrm>
          <a:prstGeom prst="rect">
            <a:avLst/>
          </a:prstGeom>
          <a:noFill/>
          <a:ln/>
        </p:spPr>
        <p:txBody>
          <a:bodyPr wrap="square" lIns="25400" tIns="25400" rIns="25400" bIns="25400" rtlCol="0" anchor="t">
            <a:normAutofit/>
          </a:bodyPr>
          <a:lstStyle/>
          <a:p>
            <a:pPr marL="0" indent="0" algn="ctr">
              <a:lnSpc>
                <a:spcPct val="125806"/>
              </a:lnSpc>
              <a:buNone/>
            </a:pPr>
            <a:r>
              <a:rPr lang="en-US" sz="1950" dirty="0">
                <a:solidFill>
                  <a:srgbClr val="FFFFFF"/>
                </a:solidFill>
                <a:latin typeface="Arial" pitchFamily="34" charset="0"/>
                <a:ea typeface="Arial" pitchFamily="34" charset="-122"/>
                <a:cs typeface="Arial" pitchFamily="34" charset="-120"/>
              </a:rPr>
              <a:t>전체 주행 상태 머신</a:t>
            </a:r>
            <a:endParaRPr lang="en-US" sz="1950" dirty="0"/>
          </a:p>
        </p:txBody>
      </p:sp>
      <p:sp>
        <p:nvSpPr>
          <p:cNvPr id="20" name="Text 18"/>
          <p:cNvSpPr/>
          <p:nvPr/>
        </p:nvSpPr>
        <p:spPr>
          <a:xfrm>
            <a:off x="8905875" y="6643688"/>
            <a:ext cx="552450" cy="723900"/>
          </a:xfrm>
          <a:prstGeom prst="rect">
            <a:avLst/>
          </a:prstGeom>
          <a:noFill/>
          <a:ln/>
        </p:spPr>
        <p:txBody>
          <a:bodyPr wrap="square" lIns="25400" tIns="25400" rIns="25400" bIns="25400" rtlCol="0" anchor="t">
            <a:normAutofit/>
          </a:bodyPr>
          <a:lstStyle/>
          <a:p>
            <a:pPr marL="0" indent="0" algn="l">
              <a:buNone/>
            </a:pPr>
            <a:r>
              <a:rPr lang="en-US" sz="3750" dirty="0">
                <a:solidFill>
                  <a:srgbClr val="7188F1"/>
                </a:solidFill>
                <a:latin typeface="Arial" pitchFamily="34" charset="0"/>
                <a:ea typeface="Arial" pitchFamily="34" charset="-122"/>
                <a:cs typeface="Arial" pitchFamily="34" charset="-120"/>
              </a:rPr>
              <a:t>⇄</a:t>
            </a:r>
            <a:endParaRPr lang="en-US" sz="3750" dirty="0"/>
          </a:p>
        </p:txBody>
      </p:sp>
      <p:sp>
        <p:nvSpPr>
          <p:cNvPr id="21" name="Text 19"/>
          <p:cNvSpPr/>
          <p:nvPr/>
        </p:nvSpPr>
        <p:spPr>
          <a:xfrm>
            <a:off x="10972800" y="3248025"/>
            <a:ext cx="6998970" cy="390525"/>
          </a:xfrm>
          <a:prstGeom prst="rect">
            <a:avLst/>
          </a:prstGeom>
          <a:noFill/>
          <a:ln/>
        </p:spPr>
        <p:txBody>
          <a:bodyPr wrap="square" lIns="25400" tIns="25400" rIns="25400" bIns="25400" rtlCol="0" anchor="t">
            <a:normAutofit/>
          </a:bodyPr>
          <a:lstStyle/>
          <a:p>
            <a:pPr marL="0" indent="0" algn="l">
              <a:buNone/>
            </a:pPr>
            <a:r>
              <a:rPr lang="en-US" sz="1950" b="1" kern="0" spc="117" dirty="0">
                <a:solidFill>
                  <a:srgbClr val="7188F1"/>
                </a:solidFill>
                <a:latin typeface="Arial" pitchFamily="34" charset="0"/>
                <a:ea typeface="Arial" pitchFamily="34" charset="-122"/>
                <a:cs typeface="Arial" pitchFamily="34" charset="-120"/>
              </a:rPr>
              <a:t>주요 토픽 · 서비스·액션</a:t>
            </a:r>
            <a:endParaRPr lang="en-US" sz="1950" dirty="0"/>
          </a:p>
        </p:txBody>
      </p:sp>
      <p:sp>
        <p:nvSpPr>
          <p:cNvPr id="22" name="Shape 20"/>
          <p:cNvSpPr/>
          <p:nvPr/>
        </p:nvSpPr>
        <p:spPr>
          <a:xfrm>
            <a:off x="10972800" y="3810000"/>
            <a:ext cx="6362700" cy="1323975"/>
          </a:xfrm>
          <a:prstGeom prst="roundRect">
            <a:avLst>
              <a:gd name="adj" fmla="val 10072"/>
            </a:avLst>
          </a:prstGeom>
          <a:ln w="19050">
            <a:solidFill>
              <a:srgbClr val="EEF1FE"/>
            </a:solidFill>
            <a:prstDash val="solid"/>
          </a:ln>
        </p:spPr>
        <p:txBody>
          <a:bodyPr/>
          <a:lstStyle/>
          <a:p>
            <a:endParaRPr lang="ko-KR" altLang="en-US"/>
          </a:p>
        </p:txBody>
      </p:sp>
      <p:sp>
        <p:nvSpPr>
          <p:cNvPr id="23" name="Text 21"/>
          <p:cNvSpPr/>
          <p:nvPr/>
        </p:nvSpPr>
        <p:spPr>
          <a:xfrm>
            <a:off x="11258550" y="4095750"/>
            <a:ext cx="6370320" cy="36195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11827"/>
                </a:solidFill>
                <a:latin typeface="Courier New" pitchFamily="34" charset="0"/>
                <a:ea typeface="Courier New" pitchFamily="34" charset="-122"/>
                <a:cs typeface="Courier New" pitchFamily="34" charset="-120"/>
              </a:rPr>
              <a:t>/driving_status</a:t>
            </a:r>
            <a:endParaRPr lang="en-US" sz="2175" dirty="0"/>
          </a:p>
        </p:txBody>
      </p:sp>
      <p:sp>
        <p:nvSpPr>
          <p:cNvPr id="24" name="Text 22"/>
          <p:cNvSpPr/>
          <p:nvPr/>
        </p:nvSpPr>
        <p:spPr>
          <a:xfrm>
            <a:off x="11258550" y="4495800"/>
            <a:ext cx="637032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Arial" pitchFamily="34" charset="0"/>
                <a:ea typeface="Arial" pitchFamily="34" charset="-122"/>
                <a:cs typeface="Arial" pitchFamily="34" charset="-120"/>
              </a:rPr>
              <a:t>GUI로 현재 구간·판정 발행</a:t>
            </a:r>
            <a:endParaRPr lang="en-US" sz="1950" dirty="0"/>
          </a:p>
        </p:txBody>
      </p:sp>
      <p:sp>
        <p:nvSpPr>
          <p:cNvPr id="25" name="Shape 23"/>
          <p:cNvSpPr/>
          <p:nvPr/>
        </p:nvSpPr>
        <p:spPr>
          <a:xfrm>
            <a:off x="10972800" y="5305425"/>
            <a:ext cx="6362700" cy="1323975"/>
          </a:xfrm>
          <a:prstGeom prst="roundRect">
            <a:avLst>
              <a:gd name="adj" fmla="val 10072"/>
            </a:avLst>
          </a:prstGeom>
          <a:ln w="19050">
            <a:solidFill>
              <a:srgbClr val="EEF1FE"/>
            </a:solidFill>
            <a:prstDash val="solid"/>
          </a:ln>
        </p:spPr>
        <p:txBody>
          <a:bodyPr/>
          <a:lstStyle/>
          <a:p>
            <a:endParaRPr lang="ko-KR" altLang="en-US"/>
          </a:p>
        </p:txBody>
      </p:sp>
      <p:sp>
        <p:nvSpPr>
          <p:cNvPr id="26" name="Text 24"/>
          <p:cNvSpPr/>
          <p:nvPr/>
        </p:nvSpPr>
        <p:spPr>
          <a:xfrm>
            <a:off x="11258550" y="5591175"/>
            <a:ext cx="6370320" cy="36195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11827"/>
                </a:solidFill>
                <a:latin typeface="Courier New" pitchFamily="34" charset="0"/>
                <a:ea typeface="Courier New" pitchFamily="34" charset="-122"/>
                <a:cs typeface="Courier New" pitchFamily="34" charset="-120"/>
              </a:rPr>
              <a:t>/start_retry</a:t>
            </a:r>
            <a:endParaRPr lang="en-US" sz="2175" dirty="0"/>
          </a:p>
        </p:txBody>
      </p:sp>
      <p:sp>
        <p:nvSpPr>
          <p:cNvPr id="27" name="Text 25"/>
          <p:cNvSpPr/>
          <p:nvPr/>
        </p:nvSpPr>
        <p:spPr>
          <a:xfrm>
            <a:off x="11258550" y="5991225"/>
            <a:ext cx="637032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Arial" pitchFamily="34" charset="0"/>
                <a:ea typeface="Arial" pitchFamily="34" charset="-122"/>
                <a:cs typeface="Arial" pitchFamily="34" charset="-120"/>
              </a:rPr>
              <a:t>구간별 재시험 서비스</a:t>
            </a:r>
            <a:endParaRPr lang="en-US" sz="1950" dirty="0"/>
          </a:p>
        </p:txBody>
      </p:sp>
      <p:sp>
        <p:nvSpPr>
          <p:cNvPr id="28" name="Shape 26"/>
          <p:cNvSpPr/>
          <p:nvPr/>
        </p:nvSpPr>
        <p:spPr>
          <a:xfrm>
            <a:off x="10972800" y="6800850"/>
            <a:ext cx="6362700" cy="1323975"/>
          </a:xfrm>
          <a:prstGeom prst="roundRect">
            <a:avLst>
              <a:gd name="adj" fmla="val 10072"/>
            </a:avLst>
          </a:prstGeom>
          <a:ln w="19050">
            <a:solidFill>
              <a:srgbClr val="EEF1FE"/>
            </a:solidFill>
            <a:prstDash val="solid"/>
          </a:ln>
        </p:spPr>
        <p:txBody>
          <a:bodyPr/>
          <a:lstStyle/>
          <a:p>
            <a:endParaRPr lang="ko-KR" altLang="en-US"/>
          </a:p>
        </p:txBody>
      </p:sp>
      <p:sp>
        <p:nvSpPr>
          <p:cNvPr id="29" name="Text 27"/>
          <p:cNvSpPr/>
          <p:nvPr/>
        </p:nvSpPr>
        <p:spPr>
          <a:xfrm>
            <a:off x="11258550" y="7086600"/>
            <a:ext cx="6370320" cy="36195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111827"/>
                </a:solidFill>
                <a:latin typeface="Courier New" pitchFamily="34" charset="0"/>
                <a:ea typeface="Courier New" pitchFamily="34" charset="-122"/>
                <a:cs typeface="Courier New" pitchFamily="34" charset="-120"/>
              </a:rPr>
              <a:t>navigate_to_pose</a:t>
            </a:r>
            <a:endParaRPr lang="en-US" sz="2175" dirty="0"/>
          </a:p>
        </p:txBody>
      </p:sp>
      <p:sp>
        <p:nvSpPr>
          <p:cNvPr id="30" name="Text 28"/>
          <p:cNvSpPr/>
          <p:nvPr/>
        </p:nvSpPr>
        <p:spPr>
          <a:xfrm>
            <a:off x="11258550" y="7486650"/>
            <a:ext cx="637032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Arial" pitchFamily="34" charset="0"/>
                <a:ea typeface="Arial" pitchFamily="34" charset="-122"/>
                <a:cs typeface="Arial" pitchFamily="34" charset="-120"/>
              </a:rPr>
              <a:t>Nav2에 다음 목적지 이동 지시 (액션)</a:t>
            </a:r>
            <a:endParaRPr lang="en-US" sz="1950" dirty="0"/>
          </a:p>
        </p:txBody>
      </p:sp>
      <p:sp>
        <p:nvSpPr>
          <p:cNvPr id="31" name="Text 29"/>
          <p:cNvSpPr/>
          <p:nvPr/>
        </p:nvSpPr>
        <p:spPr>
          <a:xfrm>
            <a:off x="952500" y="9267825"/>
            <a:ext cx="3517900"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32" name="Text 30"/>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05</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2831544"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Nav2 파라미터 조정 결과</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기본값으로는 안 되던 5가지를 조정했습니다</a:t>
            </a:r>
            <a:endParaRPr lang="en-US" sz="4650" dirty="0"/>
          </a:p>
        </p:txBody>
      </p:sp>
      <p:sp>
        <p:nvSpPr>
          <p:cNvPr id="6" name="Shape 4"/>
          <p:cNvSpPr/>
          <p:nvPr/>
        </p:nvSpPr>
        <p:spPr>
          <a:xfrm>
            <a:off x="952500" y="3238500"/>
            <a:ext cx="9170640" cy="19050"/>
          </a:xfrm>
          <a:prstGeom prst="rect">
            <a:avLst/>
          </a:prstGeom>
          <a:solidFill>
            <a:srgbClr val="111827"/>
          </a:solidFill>
          <a:ln/>
        </p:spPr>
        <p:txBody>
          <a:bodyPr/>
          <a:lstStyle/>
          <a:p>
            <a:endParaRPr lang="ko-KR" altLang="en-US"/>
          </a:p>
        </p:txBody>
      </p:sp>
      <p:sp>
        <p:nvSpPr>
          <p:cNvPr id="7" name="Text 5"/>
          <p:cNvSpPr/>
          <p:nvPr/>
        </p:nvSpPr>
        <p:spPr>
          <a:xfrm>
            <a:off x="952500" y="2771775"/>
            <a:ext cx="3270126"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6B7280"/>
                </a:solidFill>
                <a:latin typeface="Arial" pitchFamily="34" charset="0"/>
                <a:ea typeface="Arial" pitchFamily="34" charset="-122"/>
                <a:cs typeface="Arial" pitchFamily="34" charset="-120"/>
              </a:rPr>
              <a:t>파라미터</a:t>
            </a:r>
            <a:endParaRPr lang="en-US" sz="1800" dirty="0"/>
          </a:p>
        </p:txBody>
      </p:sp>
      <p:sp>
        <p:nvSpPr>
          <p:cNvPr id="8" name="Text 6"/>
          <p:cNvSpPr/>
          <p:nvPr/>
        </p:nvSpPr>
        <p:spPr>
          <a:xfrm>
            <a:off x="4115842" y="2771775"/>
            <a:ext cx="2417192"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6B7280"/>
                </a:solidFill>
                <a:latin typeface="Arial" pitchFamily="34" charset="0"/>
                <a:ea typeface="Arial" pitchFamily="34" charset="-122"/>
                <a:cs typeface="Arial" pitchFamily="34" charset="-120"/>
              </a:rPr>
              <a:t>조정값</a:t>
            </a:r>
            <a:endParaRPr lang="en-US" sz="1800" dirty="0"/>
          </a:p>
        </p:txBody>
      </p:sp>
      <p:sp>
        <p:nvSpPr>
          <p:cNvPr id="9" name="Text 7"/>
          <p:cNvSpPr/>
          <p:nvPr/>
        </p:nvSpPr>
        <p:spPr>
          <a:xfrm>
            <a:off x="6503789" y="2771775"/>
            <a:ext cx="3981123"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6B7280"/>
                </a:solidFill>
                <a:latin typeface="Arial" pitchFamily="34" charset="0"/>
                <a:ea typeface="Arial" pitchFamily="34" charset="-122"/>
                <a:cs typeface="Arial" pitchFamily="34" charset="-120"/>
              </a:rPr>
              <a:t>이유</a:t>
            </a:r>
            <a:endParaRPr lang="en-US" sz="1800" dirty="0"/>
          </a:p>
        </p:txBody>
      </p:sp>
      <p:sp>
        <p:nvSpPr>
          <p:cNvPr id="10" name="Shape 8"/>
          <p:cNvSpPr/>
          <p:nvPr/>
        </p:nvSpPr>
        <p:spPr>
          <a:xfrm>
            <a:off x="952500" y="4090987"/>
            <a:ext cx="9170640" cy="9525"/>
          </a:xfrm>
          <a:prstGeom prst="rect">
            <a:avLst/>
          </a:prstGeom>
          <a:solidFill>
            <a:srgbClr val="F3F4F6"/>
          </a:solidFill>
          <a:ln/>
        </p:spPr>
        <p:txBody>
          <a:bodyPr/>
          <a:lstStyle/>
          <a:p>
            <a:endParaRPr lang="ko-KR" altLang="en-US"/>
          </a:p>
        </p:txBody>
      </p:sp>
      <p:sp>
        <p:nvSpPr>
          <p:cNvPr id="11" name="Text 9"/>
          <p:cNvSpPr/>
          <p:nvPr/>
        </p:nvSpPr>
        <p:spPr>
          <a:xfrm>
            <a:off x="952500" y="3483769"/>
            <a:ext cx="3270126" cy="41910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Courier New" pitchFamily="34" charset="0"/>
                <a:ea typeface="Courier New" pitchFamily="34" charset="-122"/>
                <a:cs typeface="Courier New" pitchFamily="34" charset="-120"/>
              </a:rPr>
              <a:t>max_vel_theta</a:t>
            </a:r>
            <a:endParaRPr lang="en-US" sz="2250" dirty="0"/>
          </a:p>
        </p:txBody>
      </p:sp>
      <p:sp>
        <p:nvSpPr>
          <p:cNvPr id="12" name="Text 10"/>
          <p:cNvSpPr/>
          <p:nvPr/>
        </p:nvSpPr>
        <p:spPr>
          <a:xfrm>
            <a:off x="4115842" y="3512344"/>
            <a:ext cx="2417192"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BC9BE"/>
                </a:solidFill>
                <a:latin typeface="Arial" pitchFamily="34" charset="0"/>
                <a:ea typeface="Arial" pitchFamily="34" charset="-122"/>
                <a:cs typeface="Arial" pitchFamily="34" charset="-120"/>
              </a:rPr>
              <a:t>1.0 → 0.7</a:t>
            </a:r>
            <a:endParaRPr lang="en-US" sz="2250" dirty="0"/>
          </a:p>
        </p:txBody>
      </p:sp>
      <p:sp>
        <p:nvSpPr>
          <p:cNvPr id="13" name="Text 11"/>
          <p:cNvSpPr/>
          <p:nvPr/>
        </p:nvSpPr>
        <p:spPr>
          <a:xfrm>
            <a:off x="6503789" y="3467100"/>
            <a:ext cx="3981123" cy="452438"/>
          </a:xfrm>
          <a:prstGeom prst="rect">
            <a:avLst/>
          </a:prstGeom>
          <a:noFill/>
          <a:ln/>
        </p:spPr>
        <p:txBody>
          <a:bodyPr wrap="square" lIns="25400" tIns="25400" rIns="25400" bIns="25400" rtlCol="0" anchor="t">
            <a:normAutofit lnSpcReduction="10000"/>
          </a:bodyPr>
          <a:lstStyle/>
          <a:p>
            <a:pPr marL="0" indent="0" algn="l">
              <a:lnSpc>
                <a:spcPct val="127941"/>
              </a:lnSpc>
              <a:buNone/>
            </a:pPr>
            <a:r>
              <a:rPr lang="en-US" sz="2250" dirty="0">
                <a:solidFill>
                  <a:srgbClr val="4B5563"/>
                </a:solidFill>
                <a:latin typeface="Arial" pitchFamily="34" charset="0"/>
                <a:ea typeface="Arial" pitchFamily="34" charset="-122"/>
                <a:cs typeface="Arial" pitchFamily="34" charset="-120"/>
              </a:rPr>
              <a:t>좁은 통로에서 급회전 방지</a:t>
            </a:r>
            <a:endParaRPr lang="en-US" sz="2250" dirty="0"/>
          </a:p>
        </p:txBody>
      </p:sp>
      <p:sp>
        <p:nvSpPr>
          <p:cNvPr id="14" name="Shape 12"/>
          <p:cNvSpPr/>
          <p:nvPr/>
        </p:nvSpPr>
        <p:spPr>
          <a:xfrm>
            <a:off x="952500" y="4933950"/>
            <a:ext cx="9170640" cy="9525"/>
          </a:xfrm>
          <a:prstGeom prst="rect">
            <a:avLst/>
          </a:prstGeom>
          <a:solidFill>
            <a:srgbClr val="F3F4F6"/>
          </a:solidFill>
          <a:ln/>
        </p:spPr>
        <p:txBody>
          <a:bodyPr/>
          <a:lstStyle/>
          <a:p>
            <a:endParaRPr lang="ko-KR" altLang="en-US"/>
          </a:p>
        </p:txBody>
      </p:sp>
      <p:sp>
        <p:nvSpPr>
          <p:cNvPr id="15" name="Text 13"/>
          <p:cNvSpPr/>
          <p:nvPr/>
        </p:nvSpPr>
        <p:spPr>
          <a:xfrm>
            <a:off x="952500" y="4326731"/>
            <a:ext cx="3270126" cy="41910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Courier New" pitchFamily="34" charset="0"/>
                <a:ea typeface="Courier New" pitchFamily="34" charset="-122"/>
                <a:cs typeface="Courier New" pitchFamily="34" charset="-120"/>
              </a:rPr>
              <a:t>inflation_radius</a:t>
            </a:r>
            <a:endParaRPr lang="en-US" sz="2250" dirty="0"/>
          </a:p>
        </p:txBody>
      </p:sp>
      <p:sp>
        <p:nvSpPr>
          <p:cNvPr id="16" name="Text 14"/>
          <p:cNvSpPr/>
          <p:nvPr/>
        </p:nvSpPr>
        <p:spPr>
          <a:xfrm>
            <a:off x="4115842" y="4355306"/>
            <a:ext cx="2417192"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BC9BE"/>
                </a:solidFill>
                <a:latin typeface="Arial" pitchFamily="34" charset="0"/>
                <a:ea typeface="Arial" pitchFamily="34" charset="-122"/>
                <a:cs typeface="Arial" pitchFamily="34" charset="-120"/>
              </a:rPr>
              <a:t>0.25 → 0.15</a:t>
            </a:r>
            <a:endParaRPr lang="en-US" sz="2250" dirty="0"/>
          </a:p>
        </p:txBody>
      </p:sp>
      <p:sp>
        <p:nvSpPr>
          <p:cNvPr id="17" name="Text 15"/>
          <p:cNvSpPr/>
          <p:nvPr/>
        </p:nvSpPr>
        <p:spPr>
          <a:xfrm>
            <a:off x="6503789" y="4310063"/>
            <a:ext cx="3981123" cy="452438"/>
          </a:xfrm>
          <a:prstGeom prst="rect">
            <a:avLst/>
          </a:prstGeom>
          <a:noFill/>
          <a:ln/>
        </p:spPr>
        <p:txBody>
          <a:bodyPr wrap="square" lIns="25400" tIns="25400" rIns="25400" bIns="25400" rtlCol="0" anchor="t">
            <a:normAutofit lnSpcReduction="10000"/>
          </a:bodyPr>
          <a:lstStyle/>
          <a:p>
            <a:pPr marL="0" indent="0" algn="l">
              <a:lnSpc>
                <a:spcPct val="127941"/>
              </a:lnSpc>
              <a:buNone/>
            </a:pPr>
            <a:r>
              <a:rPr lang="en-US" sz="2250" dirty="0">
                <a:solidFill>
                  <a:srgbClr val="4B5563"/>
                </a:solidFill>
                <a:latin typeface="Arial" pitchFamily="34" charset="0"/>
                <a:ea typeface="Arial" pitchFamily="34" charset="-122"/>
                <a:cs typeface="Arial" pitchFamily="34" charset="-120"/>
              </a:rPr>
              <a:t>좁은 통로에서 여유공간 확보</a:t>
            </a:r>
            <a:endParaRPr lang="en-US" sz="2250" dirty="0"/>
          </a:p>
        </p:txBody>
      </p:sp>
      <p:sp>
        <p:nvSpPr>
          <p:cNvPr id="18" name="Shape 16"/>
          <p:cNvSpPr/>
          <p:nvPr/>
        </p:nvSpPr>
        <p:spPr>
          <a:xfrm>
            <a:off x="952500" y="5776913"/>
            <a:ext cx="9170640" cy="9525"/>
          </a:xfrm>
          <a:prstGeom prst="rect">
            <a:avLst/>
          </a:prstGeom>
          <a:solidFill>
            <a:srgbClr val="F3F4F6"/>
          </a:solidFill>
          <a:ln/>
        </p:spPr>
        <p:txBody>
          <a:bodyPr/>
          <a:lstStyle/>
          <a:p>
            <a:endParaRPr lang="ko-KR" altLang="en-US"/>
          </a:p>
        </p:txBody>
      </p:sp>
      <p:sp>
        <p:nvSpPr>
          <p:cNvPr id="19" name="Text 17"/>
          <p:cNvSpPr/>
          <p:nvPr/>
        </p:nvSpPr>
        <p:spPr>
          <a:xfrm>
            <a:off x="952500" y="5169694"/>
            <a:ext cx="3270126" cy="41910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Courier New" pitchFamily="34" charset="0"/>
                <a:ea typeface="Courier New" pitchFamily="34" charset="-122"/>
                <a:cs typeface="Courier New" pitchFamily="34" charset="-120"/>
              </a:rPr>
              <a:t>cost_scaling</a:t>
            </a:r>
            <a:endParaRPr lang="en-US" sz="2250" dirty="0"/>
          </a:p>
        </p:txBody>
      </p:sp>
      <p:sp>
        <p:nvSpPr>
          <p:cNvPr id="20" name="Text 18"/>
          <p:cNvSpPr/>
          <p:nvPr/>
        </p:nvSpPr>
        <p:spPr>
          <a:xfrm>
            <a:off x="4115842" y="5198269"/>
            <a:ext cx="2417192"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BC9BE"/>
                </a:solidFill>
                <a:latin typeface="Arial" pitchFamily="34" charset="0"/>
                <a:ea typeface="Arial" pitchFamily="34" charset="-122"/>
                <a:cs typeface="Arial" pitchFamily="34" charset="-120"/>
              </a:rPr>
              <a:t>3.0 → 6.0</a:t>
            </a:r>
            <a:endParaRPr lang="en-US" sz="2250" dirty="0"/>
          </a:p>
        </p:txBody>
      </p:sp>
      <p:sp>
        <p:nvSpPr>
          <p:cNvPr id="21" name="Text 19"/>
          <p:cNvSpPr/>
          <p:nvPr/>
        </p:nvSpPr>
        <p:spPr>
          <a:xfrm>
            <a:off x="6503789" y="5153025"/>
            <a:ext cx="3981123" cy="452438"/>
          </a:xfrm>
          <a:prstGeom prst="rect">
            <a:avLst/>
          </a:prstGeom>
          <a:noFill/>
          <a:ln/>
        </p:spPr>
        <p:txBody>
          <a:bodyPr wrap="square" lIns="25400" tIns="25400" rIns="25400" bIns="25400" rtlCol="0" anchor="t">
            <a:normAutofit lnSpcReduction="10000"/>
          </a:bodyPr>
          <a:lstStyle/>
          <a:p>
            <a:pPr marL="0" indent="0" algn="l">
              <a:lnSpc>
                <a:spcPct val="127941"/>
              </a:lnSpc>
              <a:buNone/>
            </a:pPr>
            <a:r>
              <a:rPr lang="en-US" sz="2250" dirty="0">
                <a:solidFill>
                  <a:srgbClr val="4B5563"/>
                </a:solidFill>
                <a:latin typeface="Arial" pitchFamily="34" charset="0"/>
                <a:ea typeface="Arial" pitchFamily="34" charset="-122"/>
                <a:cs typeface="Arial" pitchFamily="34" charset="-120"/>
              </a:rPr>
              <a:t>안전거리 확보</a:t>
            </a:r>
            <a:endParaRPr lang="en-US" sz="2250" dirty="0"/>
          </a:p>
        </p:txBody>
      </p:sp>
      <p:sp>
        <p:nvSpPr>
          <p:cNvPr id="22" name="Shape 20"/>
          <p:cNvSpPr/>
          <p:nvPr/>
        </p:nvSpPr>
        <p:spPr>
          <a:xfrm>
            <a:off x="952500" y="7034213"/>
            <a:ext cx="9170640" cy="9525"/>
          </a:xfrm>
          <a:prstGeom prst="rect">
            <a:avLst/>
          </a:prstGeom>
          <a:solidFill>
            <a:srgbClr val="F3F4F6"/>
          </a:solidFill>
          <a:ln/>
        </p:spPr>
        <p:txBody>
          <a:bodyPr/>
          <a:lstStyle/>
          <a:p>
            <a:endParaRPr lang="ko-KR" altLang="en-US"/>
          </a:p>
        </p:txBody>
      </p:sp>
      <p:sp>
        <p:nvSpPr>
          <p:cNvPr id="23" name="Text 21"/>
          <p:cNvSpPr/>
          <p:nvPr/>
        </p:nvSpPr>
        <p:spPr>
          <a:xfrm>
            <a:off x="952500" y="6219825"/>
            <a:ext cx="3270126" cy="41910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Courier New" pitchFamily="34" charset="0"/>
                <a:ea typeface="Courier New" pitchFamily="34" charset="-122"/>
                <a:cs typeface="Courier New" pitchFamily="34" charset="-120"/>
              </a:rPr>
              <a:t>max_particles</a:t>
            </a:r>
            <a:endParaRPr lang="en-US" sz="2250" dirty="0"/>
          </a:p>
        </p:txBody>
      </p:sp>
      <p:sp>
        <p:nvSpPr>
          <p:cNvPr id="24" name="Text 22"/>
          <p:cNvSpPr/>
          <p:nvPr/>
        </p:nvSpPr>
        <p:spPr>
          <a:xfrm>
            <a:off x="4115842" y="6248400"/>
            <a:ext cx="2417192"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BC9BE"/>
                </a:solidFill>
                <a:latin typeface="Arial" pitchFamily="34" charset="0"/>
                <a:ea typeface="Arial" pitchFamily="34" charset="-122"/>
                <a:cs typeface="Arial" pitchFamily="34" charset="-120"/>
              </a:rPr>
              <a:t>2000 → 1000</a:t>
            </a:r>
            <a:endParaRPr lang="en-US" sz="2250" dirty="0"/>
          </a:p>
        </p:txBody>
      </p:sp>
      <p:sp>
        <p:nvSpPr>
          <p:cNvPr id="25" name="Text 23"/>
          <p:cNvSpPr/>
          <p:nvPr/>
        </p:nvSpPr>
        <p:spPr>
          <a:xfrm>
            <a:off x="6503789" y="5995988"/>
            <a:ext cx="3727778" cy="866775"/>
          </a:xfrm>
          <a:prstGeom prst="rect">
            <a:avLst/>
          </a:prstGeom>
          <a:noFill/>
          <a:ln/>
        </p:spPr>
        <p:txBody>
          <a:bodyPr wrap="square" lIns="25400" tIns="25400" rIns="25400" bIns="25400" rtlCol="0" anchor="t">
            <a:normAutofit lnSpcReduction="10000"/>
          </a:bodyPr>
          <a:lstStyle/>
          <a:p>
            <a:pPr marL="0" indent="0" algn="l">
              <a:lnSpc>
                <a:spcPct val="127941"/>
              </a:lnSpc>
              <a:buNone/>
            </a:pPr>
            <a:r>
              <a:rPr lang="en-US" sz="2250" dirty="0">
                <a:solidFill>
                  <a:srgbClr val="4B5563"/>
                </a:solidFill>
                <a:latin typeface="Arial" pitchFamily="34" charset="0"/>
                <a:ea typeface="Arial" pitchFamily="34" charset="-122"/>
                <a:cs typeface="Arial" pitchFamily="34" charset="-120"/>
              </a:rPr>
              <a:t>CPU 부하 절감 위해 AMCL 경량화</a:t>
            </a:r>
            <a:endParaRPr lang="en-US" sz="2250" dirty="0"/>
          </a:p>
        </p:txBody>
      </p:sp>
      <p:sp>
        <p:nvSpPr>
          <p:cNvPr id="26" name="Shape 24"/>
          <p:cNvSpPr/>
          <p:nvPr/>
        </p:nvSpPr>
        <p:spPr>
          <a:xfrm>
            <a:off x="952500" y="7877175"/>
            <a:ext cx="9170640" cy="9525"/>
          </a:xfrm>
          <a:prstGeom prst="rect">
            <a:avLst/>
          </a:prstGeom>
          <a:solidFill>
            <a:srgbClr val="F3F4F6"/>
          </a:solidFill>
          <a:ln/>
        </p:spPr>
        <p:txBody>
          <a:bodyPr/>
          <a:lstStyle/>
          <a:p>
            <a:endParaRPr lang="ko-KR" altLang="en-US"/>
          </a:p>
        </p:txBody>
      </p:sp>
      <p:sp>
        <p:nvSpPr>
          <p:cNvPr id="27" name="Text 25"/>
          <p:cNvSpPr/>
          <p:nvPr/>
        </p:nvSpPr>
        <p:spPr>
          <a:xfrm>
            <a:off x="952500" y="7269956"/>
            <a:ext cx="3270126" cy="419100"/>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Courier New" pitchFamily="34" charset="0"/>
                <a:ea typeface="Courier New" pitchFamily="34" charset="-122"/>
                <a:cs typeface="Courier New" pitchFamily="34" charset="-120"/>
              </a:rPr>
              <a:t>xy_goal_tolerance</a:t>
            </a:r>
            <a:endParaRPr lang="en-US" sz="2250" dirty="0"/>
          </a:p>
        </p:txBody>
      </p:sp>
      <p:sp>
        <p:nvSpPr>
          <p:cNvPr id="28" name="Text 26"/>
          <p:cNvSpPr/>
          <p:nvPr/>
        </p:nvSpPr>
        <p:spPr>
          <a:xfrm>
            <a:off x="4115842" y="7298531"/>
            <a:ext cx="2417192"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BC9BE"/>
                </a:solidFill>
                <a:latin typeface="Arial" pitchFamily="34" charset="0"/>
                <a:ea typeface="Arial" pitchFamily="34" charset="-122"/>
                <a:cs typeface="Arial" pitchFamily="34" charset="-120"/>
              </a:rPr>
              <a:t>0.05 → 0.25</a:t>
            </a:r>
            <a:endParaRPr lang="en-US" sz="2250" dirty="0"/>
          </a:p>
        </p:txBody>
      </p:sp>
      <p:sp>
        <p:nvSpPr>
          <p:cNvPr id="29" name="Text 27"/>
          <p:cNvSpPr/>
          <p:nvPr/>
        </p:nvSpPr>
        <p:spPr>
          <a:xfrm>
            <a:off x="6503789" y="7253288"/>
            <a:ext cx="3981123" cy="452438"/>
          </a:xfrm>
          <a:prstGeom prst="rect">
            <a:avLst/>
          </a:prstGeom>
          <a:noFill/>
          <a:ln/>
        </p:spPr>
        <p:txBody>
          <a:bodyPr wrap="square" lIns="25400" tIns="25400" rIns="25400" bIns="25400" rtlCol="0" anchor="t">
            <a:normAutofit lnSpcReduction="10000"/>
          </a:bodyPr>
          <a:lstStyle/>
          <a:p>
            <a:pPr marL="0" indent="0" algn="l">
              <a:lnSpc>
                <a:spcPct val="127941"/>
              </a:lnSpc>
              <a:buNone/>
            </a:pPr>
            <a:r>
              <a:rPr lang="en-US" sz="2250" dirty="0">
                <a:solidFill>
                  <a:srgbClr val="4B5563"/>
                </a:solidFill>
                <a:latin typeface="Arial" pitchFamily="34" charset="0"/>
                <a:ea typeface="Arial" pitchFamily="34" charset="-122"/>
                <a:cs typeface="Arial" pitchFamily="34" charset="-120"/>
              </a:rPr>
              <a:t>wp 도착 실패 반복 해결</a:t>
            </a:r>
            <a:endParaRPr lang="en-US" sz="2250" dirty="0"/>
          </a:p>
        </p:txBody>
      </p:sp>
      <p:pic>
        <p:nvPicPr>
          <p:cNvPr id="31" name="Image 0" descr="preencoded.png"/>
          <p:cNvPicPr>
            <a:picLocks noChangeAspect="1"/>
          </p:cNvPicPr>
          <p:nvPr/>
        </p:nvPicPr>
        <p:blipFill>
          <a:blip r:embed="rId3"/>
          <a:srcRect l="326" t="29222" r="455" b="11129"/>
          <a:stretch>
            <a:fillRect/>
          </a:stretch>
        </p:blipFill>
        <p:spPr>
          <a:xfrm>
            <a:off x="12766075" y="767330"/>
            <a:ext cx="4780951" cy="4612336"/>
          </a:xfrm>
          <a:prstGeom prst="rect">
            <a:avLst/>
          </a:prstGeom>
        </p:spPr>
      </p:pic>
      <p:pic>
        <p:nvPicPr>
          <p:cNvPr id="33" name="Image 1" descr="preencoded.png"/>
          <p:cNvPicPr>
            <a:picLocks noChangeAspect="1"/>
          </p:cNvPicPr>
          <p:nvPr/>
        </p:nvPicPr>
        <p:blipFill>
          <a:blip r:embed="rId4"/>
          <a:srcRect l="3049" r="268"/>
          <a:stretch>
            <a:fillRect/>
          </a:stretch>
        </p:blipFill>
        <p:spPr>
          <a:xfrm>
            <a:off x="10456757" y="5736208"/>
            <a:ext cx="5523471" cy="4302619"/>
          </a:xfrm>
          <a:prstGeom prst="rect">
            <a:avLst/>
          </a:prstGeom>
        </p:spPr>
      </p:pic>
      <p:sp>
        <p:nvSpPr>
          <p:cNvPr id="34" name="Text 30"/>
          <p:cNvSpPr/>
          <p:nvPr/>
        </p:nvSpPr>
        <p:spPr>
          <a:xfrm>
            <a:off x="952500" y="9267825"/>
            <a:ext cx="4004756"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35" name="Text 31"/>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06</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3406661" cy="390525"/>
          </a:xfrm>
          <a:prstGeom prst="rect">
            <a:avLst/>
          </a:prstGeom>
          <a:noFill/>
          <a:ln/>
        </p:spPr>
        <p:txBody>
          <a:bodyPr wrap="square" lIns="25400" tIns="25400" rIns="25400" bIns="25400" rtlCol="0" anchor="t">
            <a:normAutofit/>
          </a:bodyPr>
          <a:lstStyle/>
          <a:p>
            <a:r>
              <a:rPr lang="ko-KR" altLang="en-US" sz="1950" dirty="0" err="1">
                <a:solidFill>
                  <a:srgbClr val="6B7280"/>
                </a:solidFill>
                <a:latin typeface="Arial" pitchFamily="34" charset="0"/>
                <a:ea typeface="Arial" pitchFamily="34" charset="-122"/>
                <a:cs typeface="Arial" pitchFamily="34" charset="-120"/>
              </a:rPr>
              <a:t>트레이싱</a:t>
            </a:r>
            <a:r>
              <a:rPr lang="ko-KR" altLang="en-US" sz="1950" dirty="0">
                <a:solidFill>
                  <a:srgbClr val="6B7280"/>
                </a:solidFill>
                <a:latin typeface="Arial" pitchFamily="34" charset="0"/>
                <a:ea typeface="Arial" pitchFamily="34" charset="-122"/>
                <a:cs typeface="Arial" pitchFamily="34" charset="-120"/>
              </a:rPr>
              <a:t> </a:t>
            </a:r>
            <a:r>
              <a:rPr lang="en-US" altLang="ko-KR" sz="1950" dirty="0">
                <a:solidFill>
                  <a:srgbClr val="6B7280"/>
                </a:solidFill>
                <a:latin typeface="Arial" pitchFamily="34" charset="0"/>
                <a:ea typeface="Arial" pitchFamily="34" charset="-122"/>
                <a:cs typeface="Arial" pitchFamily="34" charset="-120"/>
              </a:rPr>
              <a:t>- IR </a:t>
            </a:r>
            <a:r>
              <a:rPr lang="ko-KR" altLang="en-US" sz="1950" dirty="0" err="1">
                <a:solidFill>
                  <a:srgbClr val="6B7280"/>
                </a:solidFill>
                <a:latin typeface="Arial" pitchFamily="34" charset="0"/>
                <a:ea typeface="Arial" pitchFamily="34" charset="-122"/>
                <a:cs typeface="Arial" pitchFamily="34" charset="-120"/>
              </a:rPr>
              <a:t>트래킹</a:t>
            </a:r>
            <a:r>
              <a:rPr lang="ko-KR" altLang="en-US" sz="1950" dirty="0">
                <a:solidFill>
                  <a:srgbClr val="6B7280"/>
                </a:solidFill>
                <a:latin typeface="Arial" pitchFamily="34" charset="0"/>
                <a:ea typeface="Arial" pitchFamily="34" charset="-122"/>
                <a:cs typeface="Arial" pitchFamily="34" charset="-120"/>
              </a:rPr>
              <a:t> 모듈</a:t>
            </a:r>
            <a:endParaRPr lang="en-US" altLang="ko-KR"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ko-KR" altLang="en-US" sz="4650" b="1" kern="0" spc="-93" dirty="0">
                <a:solidFill>
                  <a:srgbClr val="111827"/>
                </a:solidFill>
                <a:latin typeface="Arial" pitchFamily="34" charset="0"/>
                <a:ea typeface="Arial" pitchFamily="34" charset="-122"/>
                <a:cs typeface="Arial" pitchFamily="34" charset="-120"/>
              </a:rPr>
              <a:t>크랭크 코스 </a:t>
            </a:r>
            <a:r>
              <a:rPr lang="en-US" altLang="ko-KR" sz="4650" b="1" kern="0" spc="-93" dirty="0">
                <a:solidFill>
                  <a:srgbClr val="111827"/>
                </a:solidFill>
                <a:latin typeface="Arial" pitchFamily="34" charset="0"/>
                <a:ea typeface="Arial" pitchFamily="34" charset="-122"/>
                <a:cs typeface="Arial" pitchFamily="34" charset="-120"/>
              </a:rPr>
              <a:t>– </a:t>
            </a:r>
            <a:r>
              <a:rPr lang="ko-KR" altLang="en-US" sz="4650" b="1" kern="0" spc="-93" dirty="0">
                <a:solidFill>
                  <a:srgbClr val="111827"/>
                </a:solidFill>
                <a:latin typeface="Arial" pitchFamily="34" charset="0"/>
                <a:ea typeface="Arial" pitchFamily="34" charset="-122"/>
                <a:cs typeface="Arial" pitchFamily="34" charset="-120"/>
              </a:rPr>
              <a:t>올바르게 선 따라갈 때</a:t>
            </a:r>
            <a:endParaRPr lang="en-US" sz="4650" dirty="0"/>
          </a:p>
        </p:txBody>
      </p:sp>
      <p:sp>
        <p:nvSpPr>
          <p:cNvPr id="6" name="Shape 4"/>
          <p:cNvSpPr/>
          <p:nvPr/>
        </p:nvSpPr>
        <p:spPr>
          <a:xfrm>
            <a:off x="9591675" y="3430365"/>
            <a:ext cx="1143000" cy="2562225"/>
          </a:xfrm>
          <a:prstGeom prst="roundRect">
            <a:avLst>
              <a:gd name="adj" fmla="val 6667"/>
            </a:avLst>
          </a:prstGeom>
          <a:solidFill>
            <a:srgbClr val="000000"/>
          </a:solidFill>
          <a:ln/>
        </p:spPr>
        <p:txBody>
          <a:bodyPr/>
          <a:lstStyle/>
          <a:p>
            <a:endParaRPr lang="ko-KR" altLang="en-US"/>
          </a:p>
        </p:txBody>
      </p:sp>
      <p:sp>
        <p:nvSpPr>
          <p:cNvPr id="7" name="Shape 5"/>
          <p:cNvSpPr/>
          <p:nvPr/>
        </p:nvSpPr>
        <p:spPr>
          <a:xfrm>
            <a:off x="3105150" y="4954365"/>
            <a:ext cx="7591425" cy="1038225"/>
          </a:xfrm>
          <a:prstGeom prst="roundRect">
            <a:avLst>
              <a:gd name="adj" fmla="val 7339"/>
            </a:avLst>
          </a:prstGeom>
          <a:solidFill>
            <a:srgbClr val="000000"/>
          </a:solidFill>
          <a:ln/>
        </p:spPr>
        <p:txBody>
          <a:bodyPr/>
          <a:lstStyle/>
          <a:p>
            <a:endParaRPr lang="ko-KR" altLang="en-US"/>
          </a:p>
        </p:txBody>
      </p:sp>
      <p:sp>
        <p:nvSpPr>
          <p:cNvPr id="8" name="Shape 6"/>
          <p:cNvSpPr/>
          <p:nvPr/>
        </p:nvSpPr>
        <p:spPr>
          <a:xfrm>
            <a:off x="3095625" y="4992465"/>
            <a:ext cx="1076325" cy="3829050"/>
          </a:xfrm>
          <a:prstGeom prst="roundRect">
            <a:avLst>
              <a:gd name="adj" fmla="val 7080"/>
            </a:avLst>
          </a:prstGeom>
          <a:solidFill>
            <a:srgbClr val="000000"/>
          </a:solidFill>
          <a:ln/>
        </p:spPr>
        <p:txBody>
          <a:bodyPr/>
          <a:lstStyle/>
          <a:p>
            <a:endParaRPr lang="ko-KR" altLang="en-US"/>
          </a:p>
        </p:txBody>
      </p:sp>
      <p:sp>
        <p:nvSpPr>
          <p:cNvPr id="9" name="Shape 7"/>
          <p:cNvSpPr/>
          <p:nvPr/>
        </p:nvSpPr>
        <p:spPr>
          <a:xfrm>
            <a:off x="8929688" y="3687540"/>
            <a:ext cx="419100" cy="419100"/>
          </a:xfrm>
          <a:prstGeom prst="ellipse">
            <a:avLst/>
          </a:prstGeom>
          <a:solidFill>
            <a:srgbClr val="F30606"/>
          </a:solidFill>
          <a:ln/>
        </p:spPr>
        <p:txBody>
          <a:bodyPr/>
          <a:lstStyle/>
          <a:p>
            <a:endParaRPr lang="ko-KR" altLang="en-US"/>
          </a:p>
        </p:txBody>
      </p:sp>
      <p:sp>
        <p:nvSpPr>
          <p:cNvPr id="10" name="Text 8"/>
          <p:cNvSpPr/>
          <p:nvPr/>
        </p:nvSpPr>
        <p:spPr>
          <a:xfrm>
            <a:off x="9064823" y="4201890"/>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Courier New" pitchFamily="34" charset="0"/>
                <a:ea typeface="Courier New" pitchFamily="34" charset="-122"/>
                <a:cs typeface="Courier New" pitchFamily="34" charset="-120"/>
              </a:rPr>
              <a:t>L</a:t>
            </a:r>
            <a:endParaRPr lang="en-US" sz="1950" dirty="0"/>
          </a:p>
        </p:txBody>
      </p:sp>
      <p:sp>
        <p:nvSpPr>
          <p:cNvPr id="11" name="Shape 9"/>
          <p:cNvSpPr/>
          <p:nvPr/>
        </p:nvSpPr>
        <p:spPr>
          <a:xfrm>
            <a:off x="9920288" y="3687540"/>
            <a:ext cx="419100" cy="419100"/>
          </a:xfrm>
          <a:prstGeom prst="ellipse">
            <a:avLst/>
          </a:prstGeom>
          <a:solidFill>
            <a:srgbClr val="E9D9D9">
              <a:alpha val="52000"/>
            </a:srgbClr>
          </a:solidFill>
          <a:ln/>
        </p:spPr>
        <p:txBody>
          <a:bodyPr/>
          <a:lstStyle/>
          <a:p>
            <a:endParaRPr lang="ko-KR" altLang="en-US"/>
          </a:p>
        </p:txBody>
      </p:sp>
      <p:sp>
        <p:nvSpPr>
          <p:cNvPr id="12" name="Text 10"/>
          <p:cNvSpPr/>
          <p:nvPr/>
        </p:nvSpPr>
        <p:spPr>
          <a:xfrm>
            <a:off x="10055423" y="4201890"/>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Courier New" pitchFamily="34" charset="0"/>
                <a:ea typeface="Courier New" pitchFamily="34" charset="-122"/>
                <a:cs typeface="Courier New" pitchFamily="34" charset="-120"/>
              </a:rPr>
              <a:t>C</a:t>
            </a:r>
            <a:endParaRPr lang="en-US" sz="1950" dirty="0"/>
          </a:p>
        </p:txBody>
      </p:sp>
      <p:sp>
        <p:nvSpPr>
          <p:cNvPr id="13" name="Shape 11"/>
          <p:cNvSpPr/>
          <p:nvPr/>
        </p:nvSpPr>
        <p:spPr>
          <a:xfrm>
            <a:off x="10910888" y="3687540"/>
            <a:ext cx="419100" cy="419100"/>
          </a:xfrm>
          <a:prstGeom prst="ellipse">
            <a:avLst/>
          </a:prstGeom>
          <a:solidFill>
            <a:srgbClr val="F30606"/>
          </a:solidFill>
          <a:ln/>
        </p:spPr>
        <p:txBody>
          <a:bodyPr/>
          <a:lstStyle/>
          <a:p>
            <a:endParaRPr lang="ko-KR" altLang="en-US"/>
          </a:p>
        </p:txBody>
      </p:sp>
      <p:sp>
        <p:nvSpPr>
          <p:cNvPr id="14" name="Text 12"/>
          <p:cNvSpPr/>
          <p:nvPr/>
        </p:nvSpPr>
        <p:spPr>
          <a:xfrm>
            <a:off x="11046023" y="4201890"/>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Courier New" pitchFamily="34" charset="0"/>
                <a:ea typeface="Courier New" pitchFamily="34" charset="-122"/>
                <a:cs typeface="Courier New" pitchFamily="34" charset="-120"/>
              </a:rPr>
              <a:t>R</a:t>
            </a:r>
            <a:endParaRPr lang="en-US" sz="1950" dirty="0"/>
          </a:p>
        </p:txBody>
      </p:sp>
      <p:sp>
        <p:nvSpPr>
          <p:cNvPr id="18" name="Text 16"/>
          <p:cNvSpPr/>
          <p:nvPr/>
        </p:nvSpPr>
        <p:spPr>
          <a:xfrm>
            <a:off x="952500" y="9267825"/>
            <a:ext cx="3677557"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19" name="Text 17"/>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06</a:t>
            </a:r>
            <a:endParaRPr lang="en-US" sz="1800" dirty="0"/>
          </a:p>
        </p:txBody>
      </p:sp>
      <p:pic>
        <p:nvPicPr>
          <p:cNvPr id="20" name="IMG_6198 (2)">
            <a:hlinkClick r:id="" action="ppaction://media"/>
            <a:extLst>
              <a:ext uri="{FF2B5EF4-FFF2-40B4-BE49-F238E27FC236}">
                <a16:creationId xmlns:a16="http://schemas.microsoft.com/office/drawing/2014/main" id="{2DCECA71-949F-4CA0-2CA7-BEBB6E9CEFC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509748" y="2867025"/>
            <a:ext cx="4572000" cy="5772150"/>
          </a:xfrm>
          <a:prstGeom prst="rect">
            <a:avLst/>
          </a:prstGeom>
        </p:spPr>
      </p:pic>
      <p:sp>
        <p:nvSpPr>
          <p:cNvPr id="21" name="순서도: 연결자 20">
            <a:extLst>
              <a:ext uri="{FF2B5EF4-FFF2-40B4-BE49-F238E27FC236}">
                <a16:creationId xmlns:a16="http://schemas.microsoft.com/office/drawing/2014/main" id="{535AC7F2-26BF-243F-6FBB-593AD5D1ACAC}"/>
              </a:ext>
            </a:extLst>
          </p:cNvPr>
          <p:cNvSpPr/>
          <p:nvPr/>
        </p:nvSpPr>
        <p:spPr>
          <a:xfrm>
            <a:off x="8813346" y="2471737"/>
            <a:ext cx="2699658" cy="1200150"/>
          </a:xfrm>
          <a:prstGeom prst="flowChartConnector">
            <a:avLst/>
          </a:prstGeom>
          <a:solidFill>
            <a:schemeClr val="accent1">
              <a:lumMod val="20000"/>
              <a:lumOff val="8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TextBox 21">
            <a:extLst>
              <a:ext uri="{FF2B5EF4-FFF2-40B4-BE49-F238E27FC236}">
                <a16:creationId xmlns:a16="http://schemas.microsoft.com/office/drawing/2014/main" id="{E2D0DB44-371D-06A5-7A23-2AF05EC2A8D1}"/>
              </a:ext>
            </a:extLst>
          </p:cNvPr>
          <p:cNvSpPr txBox="1"/>
          <p:nvPr/>
        </p:nvSpPr>
        <p:spPr>
          <a:xfrm>
            <a:off x="9626679" y="2745361"/>
            <a:ext cx="1107996" cy="646331"/>
          </a:xfrm>
          <a:prstGeom prst="rect">
            <a:avLst/>
          </a:prstGeom>
          <a:noFill/>
        </p:spPr>
        <p:txBody>
          <a:bodyPr wrap="none" rtlCol="0">
            <a:spAutoFit/>
          </a:bodyPr>
          <a:lstStyle/>
          <a:p>
            <a:r>
              <a:rPr lang="ko-KR" altLang="en-US" sz="3600" b="1" dirty="0">
                <a:solidFill>
                  <a:schemeClr val="accent1"/>
                </a:solidFill>
              </a:rPr>
              <a:t>로봇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06</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3406661" cy="390525"/>
          </a:xfrm>
          <a:prstGeom prst="rect">
            <a:avLst/>
          </a:prstGeom>
          <a:noFill/>
          <a:ln/>
        </p:spPr>
        <p:txBody>
          <a:bodyPr wrap="square" lIns="25400" tIns="25400" rIns="25400" bIns="25400" rtlCol="0" anchor="t">
            <a:normAutofit/>
          </a:bodyPr>
          <a:lstStyle/>
          <a:p>
            <a:r>
              <a:rPr lang="ko-KR" altLang="en-US" sz="1950" dirty="0" err="1">
                <a:solidFill>
                  <a:srgbClr val="6B7280"/>
                </a:solidFill>
                <a:latin typeface="Arial" pitchFamily="34" charset="0"/>
                <a:ea typeface="Arial" pitchFamily="34" charset="-122"/>
                <a:cs typeface="Arial" pitchFamily="34" charset="-120"/>
              </a:rPr>
              <a:t>트레이싱</a:t>
            </a:r>
            <a:r>
              <a:rPr lang="ko-KR" altLang="en-US" sz="1950" dirty="0">
                <a:solidFill>
                  <a:srgbClr val="6B7280"/>
                </a:solidFill>
                <a:latin typeface="Arial" pitchFamily="34" charset="0"/>
                <a:ea typeface="Arial" pitchFamily="34" charset="-122"/>
                <a:cs typeface="Arial" pitchFamily="34" charset="-120"/>
              </a:rPr>
              <a:t> </a:t>
            </a:r>
            <a:r>
              <a:rPr lang="en-US" altLang="ko-KR" sz="1950" dirty="0">
                <a:solidFill>
                  <a:srgbClr val="6B7280"/>
                </a:solidFill>
                <a:latin typeface="Arial" pitchFamily="34" charset="0"/>
                <a:ea typeface="Arial" pitchFamily="34" charset="-122"/>
                <a:cs typeface="Arial" pitchFamily="34" charset="-120"/>
              </a:rPr>
              <a:t>- IR </a:t>
            </a:r>
            <a:r>
              <a:rPr lang="ko-KR" altLang="en-US" sz="1950" dirty="0" err="1">
                <a:solidFill>
                  <a:srgbClr val="6B7280"/>
                </a:solidFill>
                <a:latin typeface="Arial" pitchFamily="34" charset="0"/>
                <a:ea typeface="Arial" pitchFamily="34" charset="-122"/>
                <a:cs typeface="Arial" pitchFamily="34" charset="-120"/>
              </a:rPr>
              <a:t>트래킹</a:t>
            </a:r>
            <a:r>
              <a:rPr lang="ko-KR" altLang="en-US" sz="1950" dirty="0">
                <a:solidFill>
                  <a:srgbClr val="6B7280"/>
                </a:solidFill>
                <a:latin typeface="Arial" pitchFamily="34" charset="0"/>
                <a:ea typeface="Arial" pitchFamily="34" charset="-122"/>
                <a:cs typeface="Arial" pitchFamily="34" charset="-120"/>
              </a:rPr>
              <a:t> 모듈</a:t>
            </a:r>
            <a:endParaRPr lang="en-US" altLang="ko-KR"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ko-KR" altLang="en-US" sz="4650" b="1" kern="0" spc="-93" dirty="0">
                <a:solidFill>
                  <a:srgbClr val="111827"/>
                </a:solidFill>
                <a:latin typeface="Arial" pitchFamily="34" charset="0"/>
                <a:ea typeface="Arial" pitchFamily="34" charset="-122"/>
                <a:cs typeface="Arial" pitchFamily="34" charset="-120"/>
              </a:rPr>
              <a:t>크랭크 코스 </a:t>
            </a:r>
            <a:r>
              <a:rPr lang="en-US" altLang="ko-KR" sz="4650" b="1" kern="0" spc="-93" dirty="0">
                <a:solidFill>
                  <a:srgbClr val="111827"/>
                </a:solidFill>
                <a:latin typeface="Arial" pitchFamily="34" charset="0"/>
                <a:ea typeface="Arial" pitchFamily="34" charset="-122"/>
                <a:cs typeface="Arial" pitchFamily="34" charset="-120"/>
              </a:rPr>
              <a:t>– </a:t>
            </a:r>
            <a:r>
              <a:rPr lang="ko-KR" altLang="en-US" sz="4650" b="1" kern="0" spc="-93" dirty="0">
                <a:solidFill>
                  <a:srgbClr val="111827"/>
                </a:solidFill>
                <a:latin typeface="Arial" pitchFamily="34" charset="0"/>
                <a:ea typeface="Arial" pitchFamily="34" charset="-122"/>
                <a:cs typeface="Arial" pitchFamily="34" charset="-120"/>
              </a:rPr>
              <a:t>코너 회전</a:t>
            </a:r>
            <a:endParaRPr lang="en-US" sz="4650" dirty="0"/>
          </a:p>
        </p:txBody>
      </p:sp>
      <p:sp>
        <p:nvSpPr>
          <p:cNvPr id="6" name="Shape 4"/>
          <p:cNvSpPr/>
          <p:nvPr/>
        </p:nvSpPr>
        <p:spPr>
          <a:xfrm>
            <a:off x="10215791" y="3590019"/>
            <a:ext cx="1143000" cy="2562225"/>
          </a:xfrm>
          <a:prstGeom prst="roundRect">
            <a:avLst>
              <a:gd name="adj" fmla="val 6667"/>
            </a:avLst>
          </a:prstGeom>
          <a:solidFill>
            <a:srgbClr val="000000"/>
          </a:solidFill>
          <a:ln/>
        </p:spPr>
        <p:txBody>
          <a:bodyPr/>
          <a:lstStyle/>
          <a:p>
            <a:endParaRPr lang="ko-KR" altLang="en-US"/>
          </a:p>
        </p:txBody>
      </p:sp>
      <p:sp>
        <p:nvSpPr>
          <p:cNvPr id="7" name="Shape 5"/>
          <p:cNvSpPr/>
          <p:nvPr/>
        </p:nvSpPr>
        <p:spPr>
          <a:xfrm>
            <a:off x="3729266" y="5114019"/>
            <a:ext cx="7591425" cy="1038225"/>
          </a:xfrm>
          <a:prstGeom prst="roundRect">
            <a:avLst>
              <a:gd name="adj" fmla="val 7339"/>
            </a:avLst>
          </a:prstGeom>
          <a:solidFill>
            <a:srgbClr val="000000"/>
          </a:solidFill>
          <a:ln/>
        </p:spPr>
        <p:txBody>
          <a:bodyPr/>
          <a:lstStyle/>
          <a:p>
            <a:endParaRPr lang="ko-KR" altLang="en-US"/>
          </a:p>
        </p:txBody>
      </p:sp>
      <p:sp>
        <p:nvSpPr>
          <p:cNvPr id="8" name="Shape 6"/>
          <p:cNvSpPr/>
          <p:nvPr/>
        </p:nvSpPr>
        <p:spPr>
          <a:xfrm>
            <a:off x="3719741" y="5152119"/>
            <a:ext cx="1076325" cy="3829050"/>
          </a:xfrm>
          <a:prstGeom prst="roundRect">
            <a:avLst>
              <a:gd name="adj" fmla="val 7080"/>
            </a:avLst>
          </a:prstGeom>
          <a:solidFill>
            <a:srgbClr val="000000"/>
          </a:solidFill>
          <a:ln/>
        </p:spPr>
        <p:txBody>
          <a:bodyPr/>
          <a:lstStyle/>
          <a:p>
            <a:endParaRPr lang="ko-KR" altLang="en-US"/>
          </a:p>
        </p:txBody>
      </p:sp>
      <p:sp>
        <p:nvSpPr>
          <p:cNvPr id="18" name="Text 16"/>
          <p:cNvSpPr/>
          <p:nvPr/>
        </p:nvSpPr>
        <p:spPr>
          <a:xfrm>
            <a:off x="952500" y="9267825"/>
            <a:ext cx="3604986"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19" name="Text 17"/>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07</a:t>
            </a:r>
            <a:endParaRPr lang="en-US" sz="1800" dirty="0"/>
          </a:p>
        </p:txBody>
      </p:sp>
      <p:grpSp>
        <p:nvGrpSpPr>
          <p:cNvPr id="25" name="그룹 24">
            <a:extLst>
              <a:ext uri="{FF2B5EF4-FFF2-40B4-BE49-F238E27FC236}">
                <a16:creationId xmlns:a16="http://schemas.microsoft.com/office/drawing/2014/main" id="{969F104A-9621-E66E-77C8-EB1455F7E6D6}"/>
              </a:ext>
            </a:extLst>
          </p:cNvPr>
          <p:cNvGrpSpPr/>
          <p:nvPr/>
        </p:nvGrpSpPr>
        <p:grpSpPr>
          <a:xfrm>
            <a:off x="9320185" y="4037694"/>
            <a:ext cx="2699658" cy="2133600"/>
            <a:chOff x="9320185" y="4037694"/>
            <a:chExt cx="2699658" cy="2133600"/>
          </a:xfrm>
        </p:grpSpPr>
        <p:sp>
          <p:nvSpPr>
            <p:cNvPr id="9" name="Shape 7"/>
            <p:cNvSpPr/>
            <p:nvPr/>
          </p:nvSpPr>
          <p:spPr>
            <a:xfrm>
              <a:off x="9544279" y="5285469"/>
              <a:ext cx="419100" cy="419100"/>
            </a:xfrm>
            <a:prstGeom prst="ellipse">
              <a:avLst/>
            </a:prstGeom>
            <a:solidFill>
              <a:srgbClr val="797070"/>
            </a:solidFill>
            <a:ln/>
          </p:spPr>
          <p:txBody>
            <a:bodyPr/>
            <a:lstStyle/>
            <a:p>
              <a:endParaRPr lang="ko-KR" altLang="en-US"/>
            </a:p>
          </p:txBody>
        </p:sp>
        <p:sp>
          <p:nvSpPr>
            <p:cNvPr id="10" name="Text 8"/>
            <p:cNvSpPr/>
            <p:nvPr/>
          </p:nvSpPr>
          <p:spPr>
            <a:xfrm>
              <a:off x="9679414" y="5799819"/>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Courier New" pitchFamily="34" charset="0"/>
                  <a:ea typeface="Courier New" pitchFamily="34" charset="-122"/>
                  <a:cs typeface="Courier New" pitchFamily="34" charset="-120"/>
                </a:rPr>
                <a:t>L</a:t>
              </a:r>
              <a:endParaRPr lang="en-US" sz="1950" dirty="0"/>
            </a:p>
          </p:txBody>
        </p:sp>
        <p:sp>
          <p:nvSpPr>
            <p:cNvPr id="11" name="Shape 9"/>
            <p:cNvSpPr/>
            <p:nvPr/>
          </p:nvSpPr>
          <p:spPr>
            <a:xfrm>
              <a:off x="10534879" y="5285469"/>
              <a:ext cx="419100" cy="419100"/>
            </a:xfrm>
            <a:prstGeom prst="ellipse">
              <a:avLst/>
            </a:prstGeom>
            <a:solidFill>
              <a:srgbClr val="E9D9D9">
                <a:alpha val="52000"/>
              </a:srgbClr>
            </a:solidFill>
            <a:ln/>
          </p:spPr>
          <p:txBody>
            <a:bodyPr/>
            <a:lstStyle/>
            <a:p>
              <a:endParaRPr lang="ko-KR" altLang="en-US"/>
            </a:p>
          </p:txBody>
        </p:sp>
        <p:sp>
          <p:nvSpPr>
            <p:cNvPr id="12" name="Text 10"/>
            <p:cNvSpPr/>
            <p:nvPr/>
          </p:nvSpPr>
          <p:spPr>
            <a:xfrm>
              <a:off x="10670014" y="5799819"/>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Courier New" pitchFamily="34" charset="0"/>
                  <a:ea typeface="Courier New" pitchFamily="34" charset="-122"/>
                  <a:cs typeface="Courier New" pitchFamily="34" charset="-120"/>
                </a:rPr>
                <a:t>C</a:t>
              </a:r>
              <a:endParaRPr lang="en-US" sz="1950" dirty="0"/>
            </a:p>
          </p:txBody>
        </p:sp>
        <p:sp>
          <p:nvSpPr>
            <p:cNvPr id="13" name="Shape 11"/>
            <p:cNvSpPr/>
            <p:nvPr/>
          </p:nvSpPr>
          <p:spPr>
            <a:xfrm>
              <a:off x="11525479" y="5285469"/>
              <a:ext cx="419100" cy="419100"/>
            </a:xfrm>
            <a:prstGeom prst="ellipse">
              <a:avLst/>
            </a:prstGeom>
            <a:solidFill>
              <a:srgbClr val="F30606"/>
            </a:solidFill>
            <a:ln/>
          </p:spPr>
          <p:txBody>
            <a:bodyPr/>
            <a:lstStyle/>
            <a:p>
              <a:endParaRPr lang="ko-KR" altLang="en-US"/>
            </a:p>
          </p:txBody>
        </p:sp>
        <p:sp>
          <p:nvSpPr>
            <p:cNvPr id="14" name="Text 12"/>
            <p:cNvSpPr/>
            <p:nvPr/>
          </p:nvSpPr>
          <p:spPr>
            <a:xfrm>
              <a:off x="11660614" y="5799819"/>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Courier New" pitchFamily="34" charset="0"/>
                  <a:ea typeface="Courier New" pitchFamily="34" charset="-122"/>
                  <a:cs typeface="Courier New" pitchFamily="34" charset="-120"/>
                </a:rPr>
                <a:t>R</a:t>
              </a:r>
              <a:endParaRPr lang="en-US" sz="1950" dirty="0"/>
            </a:p>
          </p:txBody>
        </p:sp>
        <p:sp>
          <p:nvSpPr>
            <p:cNvPr id="21" name="순서도: 연결자 20">
              <a:extLst>
                <a:ext uri="{FF2B5EF4-FFF2-40B4-BE49-F238E27FC236}">
                  <a16:creationId xmlns:a16="http://schemas.microsoft.com/office/drawing/2014/main" id="{2DEAC3E9-DE15-5F8D-E3DC-7689DA8D9661}"/>
                </a:ext>
              </a:extLst>
            </p:cNvPr>
            <p:cNvSpPr/>
            <p:nvPr/>
          </p:nvSpPr>
          <p:spPr>
            <a:xfrm>
              <a:off x="9320185" y="4037694"/>
              <a:ext cx="2699658" cy="1200150"/>
            </a:xfrm>
            <a:prstGeom prst="flowChartConnector">
              <a:avLst/>
            </a:prstGeom>
            <a:solidFill>
              <a:schemeClr val="accent1">
                <a:lumMod val="20000"/>
                <a:lumOff val="8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390F75B7-679A-1DB3-F4EA-23BC6A53A89F}"/>
                </a:ext>
              </a:extLst>
            </p:cNvPr>
            <p:cNvSpPr txBox="1"/>
            <p:nvPr/>
          </p:nvSpPr>
          <p:spPr>
            <a:xfrm>
              <a:off x="10133518" y="4311318"/>
              <a:ext cx="1107996" cy="646331"/>
            </a:xfrm>
            <a:prstGeom prst="rect">
              <a:avLst/>
            </a:prstGeom>
            <a:noFill/>
          </p:spPr>
          <p:txBody>
            <a:bodyPr wrap="none" rtlCol="0">
              <a:spAutoFit/>
            </a:bodyPr>
            <a:lstStyle/>
            <a:p>
              <a:r>
                <a:rPr lang="ko-KR" altLang="en-US" sz="3600" b="1" dirty="0">
                  <a:solidFill>
                    <a:schemeClr val="accent1"/>
                  </a:solidFill>
                </a:rPr>
                <a:t>로봇</a:t>
              </a:r>
            </a:p>
          </p:txBody>
        </p:sp>
      </p:grpSp>
      <p:pic>
        <p:nvPicPr>
          <p:cNvPr id="24" name="IMG_6198">
            <a:hlinkClick r:id="" action="ppaction://media"/>
            <a:extLst>
              <a:ext uri="{FF2B5EF4-FFF2-40B4-BE49-F238E27FC236}">
                <a16:creationId xmlns:a16="http://schemas.microsoft.com/office/drawing/2014/main" id="{7879C993-2738-FFFA-7A91-478F63625EE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915449" y="3486150"/>
            <a:ext cx="4572000" cy="491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333"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4"/>
                </p:tgtEl>
              </p:cMediaNode>
            </p:video>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00165 -0.01219 L -0.00165 -0.01219 C -0.00087 -0.00802 -1.38889E-7 -0.00386 0.00069 0.00046 C 0.00156 0.00587 0.00243 0.01296 0.00304 0.01883 C 0.00399 0.02763 0.00451 0.03472 0.0046 0.04414 C 0.00486 0.06111 0.0046 0.07809 0.0046 0.09506 " pathEditMode="relative" ptsTypes="AAAAAA">
                                      <p:cBhvr>
                                        <p:cTn id="12" dur="2000" fill="hold"/>
                                        <p:tgtEl>
                                          <p:spTgt spid="25"/>
                                        </p:tgtEl>
                                        <p:attrNameLst>
                                          <p:attrName>ppt_x</p:attrName>
                                          <p:attrName>ppt_y</p:attrName>
                                        </p:attrNameLst>
                                      </p:cBhvr>
                                    </p:animMotion>
                                  </p:childTnLst>
                                </p:cTn>
                              </p:par>
                            </p:childTnLst>
                          </p:cTn>
                        </p:par>
                      </p:childTnLst>
                    </p:cTn>
                  </p:par>
                </p:childTnLst>
              </p:cTn>
              <p:nextCondLst>
                <p:cond evt="onClick" delay="0">
                  <p:tgtEl>
                    <p:spTgt spid="2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06</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3406661" cy="390525"/>
          </a:xfrm>
          <a:prstGeom prst="rect">
            <a:avLst/>
          </a:prstGeom>
          <a:noFill/>
          <a:ln/>
        </p:spPr>
        <p:txBody>
          <a:bodyPr wrap="square" lIns="25400" tIns="25400" rIns="25400" bIns="25400" rtlCol="0" anchor="t">
            <a:normAutofit/>
          </a:bodyPr>
          <a:lstStyle/>
          <a:p>
            <a:pPr marL="0" indent="0" algn="l">
              <a:buNone/>
            </a:pPr>
            <a:r>
              <a:rPr lang="ko-KR" altLang="en-US" sz="1950" dirty="0" err="1">
                <a:solidFill>
                  <a:srgbClr val="6B7280"/>
                </a:solidFill>
                <a:latin typeface="Arial" pitchFamily="34" charset="0"/>
                <a:ea typeface="Arial" pitchFamily="34" charset="-122"/>
                <a:cs typeface="Arial" pitchFamily="34" charset="-120"/>
              </a:rPr>
              <a:t>트레이싱</a:t>
            </a:r>
            <a:r>
              <a:rPr lang="ko-KR" altLang="en-US" sz="1950" dirty="0">
                <a:solidFill>
                  <a:srgbClr val="6B7280"/>
                </a:solidFill>
                <a:latin typeface="Arial" pitchFamily="34" charset="0"/>
                <a:ea typeface="Arial" pitchFamily="34" charset="-122"/>
                <a:cs typeface="Arial" pitchFamily="34" charset="-120"/>
              </a:rPr>
              <a:t> </a:t>
            </a:r>
            <a:r>
              <a:rPr lang="en-US" altLang="ko-KR" sz="1950" dirty="0">
                <a:solidFill>
                  <a:srgbClr val="6B7280"/>
                </a:solidFill>
                <a:latin typeface="Arial" pitchFamily="34" charset="0"/>
                <a:ea typeface="Arial" pitchFamily="34" charset="-122"/>
                <a:cs typeface="Arial" pitchFamily="34" charset="-120"/>
              </a:rPr>
              <a:t>- </a:t>
            </a:r>
            <a:r>
              <a:rPr lang="en-US" sz="1950" dirty="0">
                <a:solidFill>
                  <a:srgbClr val="6B7280"/>
                </a:solidFill>
                <a:latin typeface="Arial" pitchFamily="34" charset="0"/>
                <a:ea typeface="Arial" pitchFamily="34" charset="-122"/>
                <a:cs typeface="Arial" pitchFamily="34" charset="-120"/>
              </a:rPr>
              <a:t>IR </a:t>
            </a:r>
            <a:r>
              <a:rPr lang="ko-KR" altLang="en-US" sz="1950" dirty="0" err="1">
                <a:solidFill>
                  <a:srgbClr val="6B7280"/>
                </a:solidFill>
                <a:latin typeface="Arial" pitchFamily="34" charset="0"/>
                <a:ea typeface="Arial" pitchFamily="34" charset="-122"/>
                <a:cs typeface="Arial" pitchFamily="34" charset="-120"/>
              </a:rPr>
              <a:t>트래킹</a:t>
            </a:r>
            <a:r>
              <a:rPr lang="ko-KR" altLang="en-US" sz="1950" dirty="0">
                <a:solidFill>
                  <a:srgbClr val="6B7280"/>
                </a:solidFill>
                <a:latin typeface="Arial" pitchFamily="34" charset="0"/>
                <a:ea typeface="Arial" pitchFamily="34" charset="-122"/>
                <a:cs typeface="Arial" pitchFamily="34" charset="-120"/>
              </a:rPr>
              <a:t> 모듈</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ko-KR" altLang="en-US" sz="4650" b="1" kern="0" spc="-93" dirty="0">
                <a:solidFill>
                  <a:srgbClr val="111827"/>
                </a:solidFill>
                <a:latin typeface="Arial" pitchFamily="34" charset="0"/>
                <a:ea typeface="Arial" pitchFamily="34" charset="-122"/>
                <a:cs typeface="Arial" pitchFamily="34" charset="-120"/>
              </a:rPr>
              <a:t>크랭크 코스 </a:t>
            </a:r>
            <a:r>
              <a:rPr lang="en-US" altLang="ko-KR" sz="4650" b="1" kern="0" spc="-93" dirty="0">
                <a:solidFill>
                  <a:srgbClr val="111827"/>
                </a:solidFill>
                <a:latin typeface="Arial" pitchFamily="34" charset="0"/>
                <a:ea typeface="Arial" pitchFamily="34" charset="-122"/>
                <a:cs typeface="Arial" pitchFamily="34" charset="-120"/>
              </a:rPr>
              <a:t>– </a:t>
            </a:r>
            <a:r>
              <a:rPr lang="ko-KR" altLang="en-US" sz="4650" b="1" kern="0" spc="-93" dirty="0">
                <a:solidFill>
                  <a:srgbClr val="111827"/>
                </a:solidFill>
                <a:latin typeface="Arial" pitchFamily="34" charset="0"/>
                <a:ea typeface="Arial" pitchFamily="34" charset="-122"/>
                <a:cs typeface="Arial" pitchFamily="34" charset="-120"/>
              </a:rPr>
              <a:t>선 이탈 시 미세조정</a:t>
            </a:r>
            <a:endParaRPr lang="en-US" sz="4650" dirty="0"/>
          </a:p>
        </p:txBody>
      </p:sp>
      <p:sp>
        <p:nvSpPr>
          <p:cNvPr id="6" name="Shape 4"/>
          <p:cNvSpPr/>
          <p:nvPr/>
        </p:nvSpPr>
        <p:spPr>
          <a:xfrm>
            <a:off x="8223185" y="3154593"/>
            <a:ext cx="1143000" cy="2562225"/>
          </a:xfrm>
          <a:prstGeom prst="roundRect">
            <a:avLst>
              <a:gd name="adj" fmla="val 6667"/>
            </a:avLst>
          </a:prstGeom>
          <a:solidFill>
            <a:srgbClr val="000000"/>
          </a:solidFill>
          <a:ln/>
        </p:spPr>
        <p:txBody>
          <a:bodyPr/>
          <a:lstStyle/>
          <a:p>
            <a:endParaRPr lang="ko-KR" altLang="en-US"/>
          </a:p>
        </p:txBody>
      </p:sp>
      <p:sp>
        <p:nvSpPr>
          <p:cNvPr id="7" name="Shape 5"/>
          <p:cNvSpPr/>
          <p:nvPr/>
        </p:nvSpPr>
        <p:spPr>
          <a:xfrm>
            <a:off x="1736660" y="4678593"/>
            <a:ext cx="7591425" cy="1038225"/>
          </a:xfrm>
          <a:prstGeom prst="roundRect">
            <a:avLst>
              <a:gd name="adj" fmla="val 7339"/>
            </a:avLst>
          </a:prstGeom>
          <a:solidFill>
            <a:srgbClr val="000000"/>
          </a:solidFill>
          <a:ln/>
        </p:spPr>
        <p:txBody>
          <a:bodyPr/>
          <a:lstStyle/>
          <a:p>
            <a:endParaRPr lang="ko-KR" altLang="en-US"/>
          </a:p>
        </p:txBody>
      </p:sp>
      <p:sp>
        <p:nvSpPr>
          <p:cNvPr id="8" name="Text 6"/>
          <p:cNvSpPr/>
          <p:nvPr/>
        </p:nvSpPr>
        <p:spPr>
          <a:xfrm>
            <a:off x="3972770" y="5687796"/>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000000"/>
                </a:solidFill>
                <a:latin typeface="Courier New" pitchFamily="34" charset="0"/>
                <a:ea typeface="Courier New" pitchFamily="34" charset="-122"/>
                <a:cs typeface="Courier New" pitchFamily="34" charset="-120"/>
              </a:rPr>
              <a:t>C</a:t>
            </a:r>
            <a:endParaRPr lang="en-US" sz="1950" dirty="0"/>
          </a:p>
        </p:txBody>
      </p:sp>
      <p:sp>
        <p:nvSpPr>
          <p:cNvPr id="9" name="Text 7"/>
          <p:cNvSpPr/>
          <p:nvPr/>
        </p:nvSpPr>
        <p:spPr>
          <a:xfrm>
            <a:off x="3972770" y="4953459"/>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Courier New" pitchFamily="34" charset="0"/>
                <a:ea typeface="Courier New" pitchFamily="34" charset="-122"/>
                <a:cs typeface="Courier New" pitchFamily="34" charset="-120"/>
              </a:rPr>
              <a:t>R</a:t>
            </a:r>
            <a:endParaRPr lang="en-US" sz="1950" dirty="0"/>
          </a:p>
        </p:txBody>
      </p:sp>
      <p:sp>
        <p:nvSpPr>
          <p:cNvPr id="10" name="Text 8"/>
          <p:cNvSpPr/>
          <p:nvPr/>
        </p:nvSpPr>
        <p:spPr>
          <a:xfrm>
            <a:off x="3965423" y="6420547"/>
            <a:ext cx="224879" cy="371475"/>
          </a:xfrm>
          <a:prstGeom prst="rect">
            <a:avLst/>
          </a:prstGeom>
          <a:noFill/>
          <a:ln/>
        </p:spPr>
        <p:txBody>
          <a:bodyPr wrap="square" lIns="25400" tIns="25400" rIns="25400" bIns="25400" rtlCol="0" anchor="t">
            <a:normAutofit/>
          </a:bodyPr>
          <a:lstStyle/>
          <a:p>
            <a:pPr marL="0" indent="0" algn="l">
              <a:buNone/>
            </a:pPr>
            <a:r>
              <a:rPr lang="en-US" sz="1950" dirty="0">
                <a:solidFill>
                  <a:srgbClr val="000000"/>
                </a:solidFill>
                <a:latin typeface="Courier New" pitchFamily="34" charset="0"/>
                <a:ea typeface="Courier New" pitchFamily="34" charset="-122"/>
                <a:cs typeface="Courier New" pitchFamily="34" charset="-120"/>
              </a:rPr>
              <a:t>L</a:t>
            </a:r>
            <a:endParaRPr lang="en-US" sz="1950" dirty="0"/>
          </a:p>
        </p:txBody>
      </p:sp>
      <p:sp>
        <p:nvSpPr>
          <p:cNvPr id="11" name="Shape 9"/>
          <p:cNvSpPr/>
          <p:nvPr/>
        </p:nvSpPr>
        <p:spPr>
          <a:xfrm>
            <a:off x="1727135" y="4716693"/>
            <a:ext cx="1076325" cy="3829050"/>
          </a:xfrm>
          <a:prstGeom prst="roundRect">
            <a:avLst>
              <a:gd name="adj" fmla="val 7080"/>
            </a:avLst>
          </a:prstGeom>
          <a:solidFill>
            <a:srgbClr val="000000"/>
          </a:solidFill>
          <a:ln/>
        </p:spPr>
        <p:txBody>
          <a:bodyPr/>
          <a:lstStyle/>
          <a:p>
            <a:endParaRPr lang="ko-KR" altLang="en-US"/>
          </a:p>
        </p:txBody>
      </p:sp>
      <p:sp>
        <p:nvSpPr>
          <p:cNvPr id="12" name="Shape 10"/>
          <p:cNvSpPr/>
          <p:nvPr/>
        </p:nvSpPr>
        <p:spPr>
          <a:xfrm>
            <a:off x="4309771" y="4967067"/>
            <a:ext cx="419100" cy="419100"/>
          </a:xfrm>
          <a:prstGeom prst="ellipse">
            <a:avLst/>
          </a:prstGeom>
          <a:solidFill>
            <a:srgbClr val="797070"/>
          </a:solidFill>
          <a:ln/>
        </p:spPr>
        <p:txBody>
          <a:bodyPr/>
          <a:lstStyle/>
          <a:p>
            <a:endParaRPr lang="ko-KR" altLang="en-US"/>
          </a:p>
        </p:txBody>
      </p:sp>
      <p:sp>
        <p:nvSpPr>
          <p:cNvPr id="13" name="Shape 11"/>
          <p:cNvSpPr/>
          <p:nvPr/>
        </p:nvSpPr>
        <p:spPr>
          <a:xfrm>
            <a:off x="4309771" y="5710929"/>
            <a:ext cx="419100" cy="419100"/>
          </a:xfrm>
          <a:prstGeom prst="ellipse">
            <a:avLst/>
          </a:prstGeom>
          <a:solidFill>
            <a:srgbClr val="F30606"/>
          </a:solidFill>
          <a:ln/>
        </p:spPr>
        <p:txBody>
          <a:bodyPr/>
          <a:lstStyle/>
          <a:p>
            <a:endParaRPr lang="ko-KR" altLang="en-US"/>
          </a:p>
        </p:txBody>
      </p:sp>
      <p:sp>
        <p:nvSpPr>
          <p:cNvPr id="14" name="Shape 12"/>
          <p:cNvSpPr/>
          <p:nvPr/>
        </p:nvSpPr>
        <p:spPr>
          <a:xfrm>
            <a:off x="4309771" y="6396735"/>
            <a:ext cx="419100" cy="419100"/>
          </a:xfrm>
          <a:prstGeom prst="ellipse">
            <a:avLst/>
          </a:prstGeom>
          <a:solidFill>
            <a:srgbClr val="F30606"/>
          </a:solidFill>
          <a:ln/>
        </p:spPr>
        <p:txBody>
          <a:bodyPr/>
          <a:lstStyle/>
          <a:p>
            <a:endParaRPr lang="ko-KR" altLang="en-US"/>
          </a:p>
        </p:txBody>
      </p:sp>
      <p:sp>
        <p:nvSpPr>
          <p:cNvPr id="18" name="Text 16"/>
          <p:cNvSpPr/>
          <p:nvPr/>
        </p:nvSpPr>
        <p:spPr>
          <a:xfrm>
            <a:off x="952500" y="9267825"/>
            <a:ext cx="359047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19" name="Text 17"/>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08</a:t>
            </a:r>
            <a:endParaRPr lang="en-US" sz="1800" dirty="0"/>
          </a:p>
        </p:txBody>
      </p:sp>
      <p:sp>
        <p:nvSpPr>
          <p:cNvPr id="21" name="순서도: 연결자 20">
            <a:extLst>
              <a:ext uri="{FF2B5EF4-FFF2-40B4-BE49-F238E27FC236}">
                <a16:creationId xmlns:a16="http://schemas.microsoft.com/office/drawing/2014/main" id="{196DA42F-CB91-38DC-E7A5-1D7DB3E532F7}"/>
              </a:ext>
            </a:extLst>
          </p:cNvPr>
          <p:cNvSpPr/>
          <p:nvPr/>
        </p:nvSpPr>
        <p:spPr>
          <a:xfrm rot="16200000">
            <a:off x="4002436" y="5371197"/>
            <a:ext cx="2699658" cy="1200150"/>
          </a:xfrm>
          <a:prstGeom prst="flowChartConnector">
            <a:avLst/>
          </a:prstGeom>
          <a:solidFill>
            <a:schemeClr val="accent1">
              <a:lumMod val="20000"/>
              <a:lumOff val="8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75A4A527-FBE7-6C18-1BDD-A10FB8457877}"/>
              </a:ext>
            </a:extLst>
          </p:cNvPr>
          <p:cNvSpPr txBox="1"/>
          <p:nvPr/>
        </p:nvSpPr>
        <p:spPr>
          <a:xfrm>
            <a:off x="4954268" y="5410962"/>
            <a:ext cx="738664" cy="1107997"/>
          </a:xfrm>
          <a:prstGeom prst="rect">
            <a:avLst/>
          </a:prstGeom>
          <a:noFill/>
        </p:spPr>
        <p:txBody>
          <a:bodyPr vert="eaVert" wrap="square" rtlCol="0">
            <a:spAutoFit/>
          </a:bodyPr>
          <a:lstStyle/>
          <a:p>
            <a:r>
              <a:rPr lang="ko-KR" altLang="en-US" sz="3600" b="1" dirty="0">
                <a:solidFill>
                  <a:schemeClr val="accent1"/>
                </a:solidFill>
              </a:rPr>
              <a:t>로봇</a:t>
            </a:r>
          </a:p>
        </p:txBody>
      </p:sp>
      <p:pic>
        <p:nvPicPr>
          <p:cNvPr id="25" name="IMG_6198 (1)">
            <a:hlinkClick r:id="" action="ppaction://media"/>
            <a:extLst>
              <a:ext uri="{FF2B5EF4-FFF2-40B4-BE49-F238E27FC236}">
                <a16:creationId xmlns:a16="http://schemas.microsoft.com/office/drawing/2014/main" id="{EE99E69B-CF34-05C5-CE37-A605A4E5073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366517" y="3154593"/>
            <a:ext cx="4572000" cy="4972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16"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07</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2815010" cy="390525"/>
          </a:xfrm>
          <a:prstGeom prst="rect">
            <a:avLst/>
          </a:prstGeom>
          <a:noFill/>
          <a:ln/>
        </p:spPr>
        <p:txBody>
          <a:bodyPr wrap="square" lIns="25400" tIns="25400" rIns="25400" bIns="25400" rtlCol="0" anchor="t">
            <a:normAutofit/>
          </a:bodyPr>
          <a:lstStyle/>
          <a:p>
            <a:pPr marL="0" indent="0" algn="l">
              <a:buNone/>
            </a:pPr>
            <a:r>
              <a:rPr lang="ko-KR" altLang="en-US" sz="1950" dirty="0" err="1">
                <a:solidFill>
                  <a:srgbClr val="6B7280"/>
                </a:solidFill>
                <a:latin typeface="Arial" pitchFamily="34" charset="0"/>
                <a:ea typeface="Arial" pitchFamily="34" charset="-122"/>
                <a:cs typeface="Arial" pitchFamily="34" charset="-120"/>
              </a:rPr>
              <a:t>트레이싱</a:t>
            </a:r>
            <a:r>
              <a:rPr lang="ko-KR" altLang="en-US" sz="1950" dirty="0">
                <a:solidFill>
                  <a:srgbClr val="6B7280"/>
                </a:solidFill>
                <a:latin typeface="Arial" pitchFamily="34" charset="0"/>
                <a:ea typeface="Arial" pitchFamily="34" charset="-122"/>
                <a:cs typeface="Arial" pitchFamily="34" charset="-120"/>
              </a:rPr>
              <a:t> </a:t>
            </a:r>
            <a:r>
              <a:rPr lang="en-US" altLang="ko-KR" sz="1950" dirty="0">
                <a:solidFill>
                  <a:srgbClr val="6B7280"/>
                </a:solidFill>
                <a:latin typeface="Arial" pitchFamily="34" charset="0"/>
                <a:ea typeface="Arial" pitchFamily="34" charset="-122"/>
                <a:cs typeface="Arial" pitchFamily="34" charset="-120"/>
              </a:rPr>
              <a:t>- </a:t>
            </a:r>
            <a:r>
              <a:rPr lang="ko-KR" altLang="en-US" sz="1950" dirty="0">
                <a:solidFill>
                  <a:srgbClr val="6B7280"/>
                </a:solidFill>
                <a:latin typeface="Arial" pitchFamily="34" charset="0"/>
                <a:ea typeface="Arial" pitchFamily="34" charset="-122"/>
                <a:cs typeface="Arial" pitchFamily="34" charset="-120"/>
              </a:rPr>
              <a:t>카메라</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cs typeface="Arial" pitchFamily="34" charset="-120"/>
              </a:rPr>
              <a:t>S</a:t>
            </a:r>
            <a:r>
              <a:rPr lang="ko-KR" altLang="en-US" sz="4650" b="1" kern="0" spc="-93" dirty="0">
                <a:solidFill>
                  <a:srgbClr val="111827"/>
                </a:solidFill>
                <a:latin typeface="Arial" pitchFamily="34" charset="0"/>
                <a:cs typeface="Arial" pitchFamily="34" charset="-120"/>
              </a:rPr>
              <a:t>코스 </a:t>
            </a:r>
            <a:r>
              <a:rPr lang="en-US" altLang="ko-KR" sz="4650" b="1" kern="0" spc="-93" dirty="0">
                <a:solidFill>
                  <a:srgbClr val="111827"/>
                </a:solidFill>
                <a:latin typeface="Arial" pitchFamily="34" charset="0"/>
                <a:cs typeface="Arial" pitchFamily="34" charset="-120"/>
              </a:rPr>
              <a:t>– </a:t>
            </a:r>
            <a:r>
              <a:rPr lang="ko-KR" altLang="en-US" sz="4650" b="1" kern="0" spc="-93" dirty="0">
                <a:solidFill>
                  <a:srgbClr val="111827"/>
                </a:solidFill>
                <a:latin typeface="Arial" pitchFamily="34" charset="0"/>
                <a:cs typeface="Arial" pitchFamily="34" charset="-120"/>
              </a:rPr>
              <a:t>카메라 라인 인식</a:t>
            </a:r>
            <a:endParaRPr lang="en-US" sz="4650" dirty="0"/>
          </a:p>
        </p:txBody>
      </p:sp>
      <p:sp>
        <p:nvSpPr>
          <p:cNvPr id="7" name="Text 5"/>
          <p:cNvSpPr/>
          <p:nvPr/>
        </p:nvSpPr>
        <p:spPr>
          <a:xfrm>
            <a:off x="2665661" y="3905250"/>
            <a:ext cx="2070452" cy="400050"/>
          </a:xfrm>
          <a:prstGeom prst="rect">
            <a:avLst/>
          </a:prstGeom>
          <a:noFill/>
          <a:ln/>
        </p:spPr>
        <p:txBody>
          <a:bodyPr wrap="square" lIns="25400" tIns="25400" rIns="25400" bIns="25400" rtlCol="0" anchor="t">
            <a:normAutofit/>
          </a:bodyPr>
          <a:lstStyle/>
          <a:p>
            <a:pPr marL="0" indent="0" algn="l">
              <a:buNone/>
            </a:pPr>
            <a:endParaRPr lang="en-US" sz="1950" dirty="0"/>
          </a:p>
        </p:txBody>
      </p:sp>
      <p:sp>
        <p:nvSpPr>
          <p:cNvPr id="14" name="Shape 12"/>
          <p:cNvSpPr/>
          <p:nvPr/>
        </p:nvSpPr>
        <p:spPr>
          <a:xfrm>
            <a:off x="952500" y="6631667"/>
            <a:ext cx="5308550" cy="1902916"/>
          </a:xfrm>
          <a:prstGeom prst="roundRect">
            <a:avLst>
              <a:gd name="adj" fmla="val 8009"/>
            </a:avLst>
          </a:prstGeom>
          <a:solidFill>
            <a:srgbClr val="EAF7F5"/>
          </a:solidFill>
          <a:ln/>
        </p:spPr>
        <p:txBody>
          <a:bodyPr/>
          <a:lstStyle/>
          <a:p>
            <a:endParaRPr lang="ko-KR" altLang="en-US"/>
          </a:p>
        </p:txBody>
      </p:sp>
      <p:sp>
        <p:nvSpPr>
          <p:cNvPr id="15" name="Text 13"/>
          <p:cNvSpPr/>
          <p:nvPr/>
        </p:nvSpPr>
        <p:spPr>
          <a:xfrm>
            <a:off x="1257300" y="6936467"/>
            <a:ext cx="3478813"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6BC9BE"/>
                </a:solidFill>
                <a:latin typeface="Arial" pitchFamily="34" charset="0"/>
                <a:ea typeface="Arial" pitchFamily="34" charset="-122"/>
                <a:cs typeface="Arial" pitchFamily="34" charset="-120"/>
              </a:rPr>
              <a:t>라인 추출</a:t>
            </a:r>
            <a:endParaRPr lang="en-US" sz="1950" dirty="0"/>
          </a:p>
        </p:txBody>
      </p:sp>
      <p:sp>
        <p:nvSpPr>
          <p:cNvPr id="16" name="Text 14"/>
          <p:cNvSpPr/>
          <p:nvPr/>
        </p:nvSpPr>
        <p:spPr>
          <a:xfrm>
            <a:off x="1257300" y="7403192"/>
            <a:ext cx="4839919"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374151"/>
                </a:solidFill>
                <a:latin typeface="Arial" pitchFamily="34" charset="0"/>
                <a:ea typeface="Arial" pitchFamily="34" charset="-122"/>
                <a:cs typeface="Arial" pitchFamily="34" charset="-120"/>
              </a:rPr>
              <a:t>하단 40% ROI + 흑백 </a:t>
            </a:r>
            <a:r>
              <a:rPr lang="en-US" sz="2100" dirty="0" err="1">
                <a:solidFill>
                  <a:srgbClr val="374151"/>
                </a:solidFill>
                <a:latin typeface="Arial" pitchFamily="34" charset="0"/>
                <a:ea typeface="Arial" pitchFamily="34" charset="-122"/>
                <a:cs typeface="Arial" pitchFamily="34" charset="-120"/>
              </a:rPr>
              <a:t>이진화로</a:t>
            </a:r>
            <a:r>
              <a:rPr lang="en-US" sz="2100" dirty="0">
                <a:solidFill>
                  <a:srgbClr val="374151"/>
                </a:solidFill>
                <a:latin typeface="Arial" pitchFamily="34" charset="0"/>
                <a:ea typeface="Arial" pitchFamily="34" charset="-122"/>
                <a:cs typeface="Arial" pitchFamily="34" charset="-120"/>
              </a:rPr>
              <a:t> </a:t>
            </a:r>
          </a:p>
          <a:p>
            <a:pPr marL="0" indent="0" algn="l">
              <a:lnSpc>
                <a:spcPct val="135625"/>
              </a:lnSpc>
              <a:buNone/>
            </a:pPr>
            <a:r>
              <a:rPr lang="en-US" sz="2100" dirty="0" err="1">
                <a:solidFill>
                  <a:srgbClr val="374151"/>
                </a:solidFill>
                <a:latin typeface="Arial" pitchFamily="34" charset="0"/>
                <a:ea typeface="Arial" pitchFamily="34" charset="-122"/>
                <a:cs typeface="Arial" pitchFamily="34" charset="-120"/>
              </a:rPr>
              <a:t>검은</a:t>
            </a:r>
            <a:r>
              <a:rPr lang="en-US" sz="2100" dirty="0">
                <a:solidFill>
                  <a:srgbClr val="374151"/>
                </a:solidFill>
                <a:latin typeface="Arial" pitchFamily="34" charset="0"/>
                <a:ea typeface="Arial" pitchFamily="34" charset="-122"/>
                <a:cs typeface="Arial" pitchFamily="34" charset="-120"/>
              </a:rPr>
              <a:t> 라인만 남김</a:t>
            </a:r>
            <a:endParaRPr lang="en-US" sz="2100" dirty="0"/>
          </a:p>
        </p:txBody>
      </p:sp>
      <p:sp>
        <p:nvSpPr>
          <p:cNvPr id="17" name="Shape 15"/>
          <p:cNvSpPr/>
          <p:nvPr/>
        </p:nvSpPr>
        <p:spPr>
          <a:xfrm>
            <a:off x="6489650" y="6588123"/>
            <a:ext cx="5308550" cy="1902916"/>
          </a:xfrm>
          <a:prstGeom prst="roundRect">
            <a:avLst>
              <a:gd name="adj" fmla="val 8009"/>
            </a:avLst>
          </a:prstGeom>
          <a:solidFill>
            <a:srgbClr val="EEF1FE"/>
          </a:solidFill>
          <a:ln/>
        </p:spPr>
        <p:txBody>
          <a:bodyPr/>
          <a:lstStyle/>
          <a:p>
            <a:endParaRPr lang="ko-KR" altLang="en-US"/>
          </a:p>
        </p:txBody>
      </p:sp>
      <p:sp>
        <p:nvSpPr>
          <p:cNvPr id="18" name="Text 16"/>
          <p:cNvSpPr/>
          <p:nvPr/>
        </p:nvSpPr>
        <p:spPr>
          <a:xfrm>
            <a:off x="6794450" y="6863895"/>
            <a:ext cx="5168845"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7188F1"/>
                </a:solidFill>
                <a:latin typeface="Arial" pitchFamily="34" charset="0"/>
                <a:ea typeface="Arial" pitchFamily="34" charset="-122"/>
                <a:cs typeface="Arial" pitchFamily="34" charset="-120"/>
              </a:rPr>
              <a:t>노이즈 제거</a:t>
            </a:r>
            <a:endParaRPr lang="en-US" sz="1950" dirty="0"/>
          </a:p>
        </p:txBody>
      </p:sp>
      <p:sp>
        <p:nvSpPr>
          <p:cNvPr id="19" name="Text 17"/>
          <p:cNvSpPr/>
          <p:nvPr/>
        </p:nvSpPr>
        <p:spPr>
          <a:xfrm>
            <a:off x="6794450" y="7330620"/>
            <a:ext cx="4839919"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374151"/>
                </a:solidFill>
                <a:latin typeface="Arial" pitchFamily="34" charset="0"/>
                <a:ea typeface="Arial" pitchFamily="34" charset="-122"/>
                <a:cs typeface="Arial" pitchFamily="34" charset="-120"/>
              </a:rPr>
              <a:t>면적 +폭 + 이전 프레임 위치 연속성으로 컨투어 필터링</a:t>
            </a:r>
            <a:endParaRPr lang="en-US" sz="2100" dirty="0"/>
          </a:p>
        </p:txBody>
      </p:sp>
      <p:sp>
        <p:nvSpPr>
          <p:cNvPr id="20" name="Shape 18"/>
          <p:cNvSpPr/>
          <p:nvPr/>
        </p:nvSpPr>
        <p:spPr>
          <a:xfrm>
            <a:off x="12026801" y="6559095"/>
            <a:ext cx="5308550" cy="1902916"/>
          </a:xfrm>
          <a:prstGeom prst="roundRect">
            <a:avLst>
              <a:gd name="adj" fmla="val 8009"/>
            </a:avLst>
          </a:prstGeom>
          <a:solidFill>
            <a:srgbClr val="F9FAFB"/>
          </a:solidFill>
          <a:ln/>
        </p:spPr>
        <p:txBody>
          <a:bodyPr/>
          <a:lstStyle/>
          <a:p>
            <a:endParaRPr lang="ko-KR" altLang="en-US"/>
          </a:p>
        </p:txBody>
      </p:sp>
      <p:sp>
        <p:nvSpPr>
          <p:cNvPr id="21" name="Text 19"/>
          <p:cNvSpPr/>
          <p:nvPr/>
        </p:nvSpPr>
        <p:spPr>
          <a:xfrm>
            <a:off x="12331601" y="6863895"/>
            <a:ext cx="5168845"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111827"/>
                </a:solidFill>
                <a:latin typeface="Arial" pitchFamily="34" charset="0"/>
                <a:ea typeface="Arial" pitchFamily="34" charset="-122"/>
                <a:cs typeface="Arial" pitchFamily="34" charset="-120"/>
              </a:rPr>
              <a:t>조향 · 속도</a:t>
            </a:r>
            <a:endParaRPr lang="en-US" sz="1950" dirty="0"/>
          </a:p>
        </p:txBody>
      </p:sp>
      <p:sp>
        <p:nvSpPr>
          <p:cNvPr id="22" name="Text 20"/>
          <p:cNvSpPr/>
          <p:nvPr/>
        </p:nvSpPr>
        <p:spPr>
          <a:xfrm>
            <a:off x="12331601" y="7330620"/>
            <a:ext cx="4839919"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374151"/>
                </a:solidFill>
                <a:latin typeface="Arial" pitchFamily="34" charset="0"/>
                <a:ea typeface="Arial" pitchFamily="34" charset="-122"/>
                <a:cs typeface="Arial" pitchFamily="34" charset="-120"/>
              </a:rPr>
              <a:t>중심 대비 오프셋 비례 P 제어, 오프셋이 크면 감속</a:t>
            </a:r>
            <a:endParaRPr lang="en-US" sz="2100" dirty="0"/>
          </a:p>
        </p:txBody>
      </p:sp>
      <p:sp>
        <p:nvSpPr>
          <p:cNvPr id="23" name="Text 21"/>
          <p:cNvSpPr/>
          <p:nvPr/>
        </p:nvSpPr>
        <p:spPr>
          <a:xfrm>
            <a:off x="952500" y="9267825"/>
            <a:ext cx="3272745" cy="37147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24" name="Text 22"/>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09</a:t>
            </a:r>
            <a:endParaRPr lang="en-US" sz="1800" dirty="0"/>
          </a:p>
        </p:txBody>
      </p:sp>
      <p:pic>
        <p:nvPicPr>
          <p:cNvPr id="33" name="그림 32">
            <a:extLst>
              <a:ext uri="{FF2B5EF4-FFF2-40B4-BE49-F238E27FC236}">
                <a16:creationId xmlns:a16="http://schemas.microsoft.com/office/drawing/2014/main" id="{D42E96A1-497E-0DB9-8226-FF5B0CE4DCC8}"/>
              </a:ext>
            </a:extLst>
          </p:cNvPr>
          <p:cNvPicPr>
            <a:picLocks noChangeAspect="1"/>
          </p:cNvPicPr>
          <p:nvPr/>
        </p:nvPicPr>
        <p:blipFill>
          <a:blip r:embed="rId5"/>
          <a:srcRect b="40"/>
          <a:stretch>
            <a:fillRect/>
          </a:stretch>
        </p:blipFill>
        <p:spPr>
          <a:xfrm>
            <a:off x="948284" y="2409826"/>
            <a:ext cx="5272317" cy="3955141"/>
          </a:xfrm>
          <a:prstGeom prst="rect">
            <a:avLst/>
          </a:prstGeom>
        </p:spPr>
      </p:pic>
      <p:pic>
        <p:nvPicPr>
          <p:cNvPr id="35" name="그림 34">
            <a:extLst>
              <a:ext uri="{FF2B5EF4-FFF2-40B4-BE49-F238E27FC236}">
                <a16:creationId xmlns:a16="http://schemas.microsoft.com/office/drawing/2014/main" id="{8CE6875F-ADA7-6344-CBA6-22EED8522438}"/>
              </a:ext>
            </a:extLst>
          </p:cNvPr>
          <p:cNvPicPr>
            <a:picLocks noChangeAspect="1"/>
          </p:cNvPicPr>
          <p:nvPr/>
        </p:nvPicPr>
        <p:blipFill>
          <a:blip r:embed="rId6"/>
          <a:stretch>
            <a:fillRect/>
          </a:stretch>
        </p:blipFill>
        <p:spPr>
          <a:xfrm>
            <a:off x="6453490" y="2414323"/>
            <a:ext cx="5333867" cy="3950644"/>
          </a:xfrm>
          <a:prstGeom prst="rect">
            <a:avLst/>
          </a:prstGeom>
        </p:spPr>
      </p:pic>
      <p:pic>
        <p:nvPicPr>
          <p:cNvPr id="36" name="20260820-0735-25.1384400">
            <a:hlinkClick r:id="" action="ppaction://media"/>
            <a:extLst>
              <a:ext uri="{FF2B5EF4-FFF2-40B4-BE49-F238E27FC236}">
                <a16:creationId xmlns:a16="http://schemas.microsoft.com/office/drawing/2014/main" id="{0AB1D865-9D54-9D88-F564-F76B121C371C}"/>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2067401" y="2409825"/>
            <a:ext cx="5267950" cy="39559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500"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6"/>
                </p:tgtEl>
              </p:cMediaNode>
            </p:video>
            <p:seq concurrent="1" nextAc="seek">
              <p:cTn id="8" restart="whenNotActive" fill="hold" evtFilter="cancelBubble" nodeType="interactiveSeq">
                <p:stCondLst>
                  <p:cond evt="onClick" delay="0">
                    <p:tgtEl>
                      <p:spTgt spid="3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6"/>
                                        </p:tgtEl>
                                      </p:cBhvr>
                                    </p:cmd>
                                  </p:childTnLst>
                                </p:cTn>
                              </p:par>
                            </p:childTnLst>
                          </p:cTn>
                        </p:par>
                      </p:childTnLst>
                    </p:cTn>
                  </p:par>
                </p:childTnLst>
              </p:cTn>
              <p:nextCondLst>
                <p:cond evt="onClick" delay="0">
                  <p:tgtEl>
                    <p:spTgt spid="3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08</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335411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신호등 · 가속구간 인식 (HSV)</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같은 HSV 파이프라인, 다른 판정 조건</a:t>
            </a:r>
            <a:endParaRPr lang="en-US" sz="4650" dirty="0"/>
          </a:p>
        </p:txBody>
      </p:sp>
      <p:sp>
        <p:nvSpPr>
          <p:cNvPr id="6" name="Shape 4"/>
          <p:cNvSpPr/>
          <p:nvPr/>
        </p:nvSpPr>
        <p:spPr>
          <a:xfrm>
            <a:off x="952500" y="2767013"/>
            <a:ext cx="209550" cy="209550"/>
          </a:xfrm>
          <a:prstGeom prst="ellipse">
            <a:avLst/>
          </a:prstGeom>
          <a:solidFill>
            <a:srgbClr val="22C55E"/>
          </a:solidFill>
          <a:ln/>
        </p:spPr>
        <p:txBody>
          <a:bodyPr/>
          <a:lstStyle/>
          <a:p>
            <a:endParaRPr lang="ko-KR" altLang="en-US"/>
          </a:p>
        </p:txBody>
      </p:sp>
      <p:sp>
        <p:nvSpPr>
          <p:cNvPr id="7" name="Text 5"/>
          <p:cNvSpPr/>
          <p:nvPr/>
        </p:nvSpPr>
        <p:spPr>
          <a:xfrm>
            <a:off x="1314450" y="2638425"/>
            <a:ext cx="2283113"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11827"/>
                </a:solidFill>
                <a:latin typeface="Arial" pitchFamily="34" charset="0"/>
                <a:ea typeface="Arial" pitchFamily="34" charset="-122"/>
                <a:cs typeface="Arial" pitchFamily="34" charset="-120"/>
              </a:rPr>
              <a:t>신호등 · 초록불</a:t>
            </a:r>
            <a:endParaRPr lang="en-US" sz="2550" dirty="0"/>
          </a:p>
        </p:txBody>
      </p:sp>
      <p:sp>
        <p:nvSpPr>
          <p:cNvPr id="8" name="Shape 6"/>
          <p:cNvSpPr/>
          <p:nvPr/>
        </p:nvSpPr>
        <p:spPr>
          <a:xfrm>
            <a:off x="952500" y="3276600"/>
            <a:ext cx="8020050" cy="3686175"/>
          </a:xfrm>
          <a:prstGeom prst="roundRect">
            <a:avLst>
              <a:gd name="adj" fmla="val 4134"/>
            </a:avLst>
          </a:prstGeom>
          <a:solidFill>
            <a:srgbClr val="F9FAFB"/>
          </a:solidFill>
          <a:ln w="19050">
            <a:solidFill>
              <a:srgbClr val="E5E7EB"/>
            </a:solidFill>
            <a:prstDash val="solid"/>
          </a:ln>
        </p:spPr>
        <p:txBody>
          <a:bodyPr/>
          <a:lstStyle/>
          <a:p>
            <a:endParaRPr lang="ko-KR" altLang="en-US"/>
          </a:p>
        </p:txBody>
      </p:sp>
      <p:sp>
        <p:nvSpPr>
          <p:cNvPr id="11" name="Shape 7"/>
          <p:cNvSpPr/>
          <p:nvPr/>
        </p:nvSpPr>
        <p:spPr>
          <a:xfrm>
            <a:off x="952500" y="7134225"/>
            <a:ext cx="8020050" cy="1847850"/>
          </a:xfrm>
          <a:prstGeom prst="roundRect">
            <a:avLst>
              <a:gd name="adj" fmla="val 8247"/>
            </a:avLst>
          </a:prstGeom>
          <a:solidFill>
            <a:srgbClr val="EAF7F5"/>
          </a:solidFill>
          <a:ln/>
        </p:spPr>
        <p:txBody>
          <a:bodyPr/>
          <a:lstStyle/>
          <a:p>
            <a:endParaRPr lang="ko-KR" altLang="en-US"/>
          </a:p>
        </p:txBody>
      </p:sp>
      <p:sp>
        <p:nvSpPr>
          <p:cNvPr id="12" name="Text 8"/>
          <p:cNvSpPr/>
          <p:nvPr/>
        </p:nvSpPr>
        <p:spPr>
          <a:xfrm>
            <a:off x="1200150" y="7343775"/>
            <a:ext cx="8277225" cy="395288"/>
          </a:xfrm>
          <a:prstGeom prst="rect">
            <a:avLst/>
          </a:prstGeom>
          <a:noFill/>
          <a:ln/>
        </p:spPr>
        <p:txBody>
          <a:bodyPr wrap="square" lIns="25400" tIns="25400" rIns="25400" bIns="25400" rtlCol="0" anchor="t">
            <a:normAutofit/>
          </a:bodyPr>
          <a:lstStyle/>
          <a:p>
            <a:pPr marL="0" indent="0" algn="l">
              <a:lnSpc>
                <a:spcPct val="129310"/>
              </a:lnSpc>
              <a:buNone/>
            </a:pPr>
            <a:r>
              <a:rPr lang="en-US" sz="1875" dirty="0">
                <a:solidFill>
                  <a:srgbClr val="374151"/>
                </a:solidFill>
                <a:latin typeface="Arial" pitchFamily="34" charset="0"/>
                <a:ea typeface="Arial" pitchFamily="34" charset="-122"/>
                <a:cs typeface="Arial" pitchFamily="34" charset="-120"/>
              </a:rPr>
              <a:t>HSV 초록 범위 픽셀 수 &gt; 임계값(500)</a:t>
            </a:r>
            <a:endParaRPr lang="en-US" sz="1875" dirty="0"/>
          </a:p>
        </p:txBody>
      </p:sp>
      <p:sp>
        <p:nvSpPr>
          <p:cNvPr id="13" name="Text 9"/>
          <p:cNvSpPr/>
          <p:nvPr/>
        </p:nvSpPr>
        <p:spPr>
          <a:xfrm>
            <a:off x="1200150" y="7796212"/>
            <a:ext cx="8277225" cy="414338"/>
          </a:xfrm>
          <a:prstGeom prst="rect">
            <a:avLst/>
          </a:prstGeom>
          <a:noFill/>
          <a:ln/>
        </p:spPr>
        <p:txBody>
          <a:bodyPr wrap="square" lIns="25400" tIns="25400" rIns="25400" bIns="25400" rtlCol="0" anchor="t">
            <a:normAutofit/>
          </a:bodyPr>
          <a:lstStyle/>
          <a:p>
            <a:pPr marL="0" indent="0" algn="l">
              <a:lnSpc>
                <a:spcPct val="129310"/>
              </a:lnSpc>
              <a:buNone/>
            </a:pPr>
            <a:r>
              <a:rPr lang="en-US" sz="1875" b="1" dirty="0">
                <a:solidFill>
                  <a:srgbClr val="374151"/>
                </a:solidFill>
                <a:latin typeface="Courier New" pitchFamily="34" charset="0"/>
                <a:ea typeface="Courier New" pitchFamily="34" charset="-122"/>
                <a:cs typeface="Courier New" pitchFamily="34" charset="-120"/>
              </a:rPr>
              <a:t>3프레임 연속 </a:t>
            </a:r>
            <a:r>
              <a:rPr lang="en-US" sz="1875" dirty="0">
                <a:solidFill>
                  <a:srgbClr val="374151"/>
                </a:solidFill>
                <a:latin typeface="Arial" pitchFamily="34" charset="0"/>
                <a:ea typeface="Arial" pitchFamily="34" charset="-122"/>
                <a:cs typeface="Arial" pitchFamily="34" charset="-120"/>
              </a:rPr>
              <a:t>검출 시 통과 — 단발성 노이즈 오판정 차단</a:t>
            </a:r>
            <a:endParaRPr lang="en-US" sz="1875" dirty="0"/>
          </a:p>
        </p:txBody>
      </p:sp>
      <p:sp>
        <p:nvSpPr>
          <p:cNvPr id="14" name="Shape 10"/>
          <p:cNvSpPr/>
          <p:nvPr/>
        </p:nvSpPr>
        <p:spPr>
          <a:xfrm>
            <a:off x="9315450" y="2767013"/>
            <a:ext cx="209550" cy="209550"/>
          </a:xfrm>
          <a:prstGeom prst="ellipse">
            <a:avLst/>
          </a:prstGeom>
          <a:solidFill>
            <a:srgbClr val="7188F1"/>
          </a:solidFill>
          <a:ln/>
        </p:spPr>
        <p:txBody>
          <a:bodyPr/>
          <a:lstStyle/>
          <a:p>
            <a:endParaRPr lang="ko-KR" altLang="en-US"/>
          </a:p>
        </p:txBody>
      </p:sp>
      <p:sp>
        <p:nvSpPr>
          <p:cNvPr id="15" name="Text 11"/>
          <p:cNvSpPr/>
          <p:nvPr/>
        </p:nvSpPr>
        <p:spPr>
          <a:xfrm>
            <a:off x="9677400" y="2638425"/>
            <a:ext cx="3365242"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11827"/>
                </a:solidFill>
                <a:latin typeface="Arial" pitchFamily="34" charset="0"/>
                <a:ea typeface="Arial" pitchFamily="34" charset="-122"/>
                <a:cs typeface="Arial" pitchFamily="34" charset="-120"/>
              </a:rPr>
              <a:t>가속구간 · 파란 표지판</a:t>
            </a:r>
            <a:endParaRPr lang="en-US" sz="2550" dirty="0"/>
          </a:p>
        </p:txBody>
      </p:sp>
      <p:sp>
        <p:nvSpPr>
          <p:cNvPr id="16" name="Shape 12"/>
          <p:cNvSpPr/>
          <p:nvPr/>
        </p:nvSpPr>
        <p:spPr>
          <a:xfrm>
            <a:off x="9315450" y="3276600"/>
            <a:ext cx="8020050" cy="3686175"/>
          </a:xfrm>
          <a:prstGeom prst="roundRect">
            <a:avLst>
              <a:gd name="adj" fmla="val 4134"/>
            </a:avLst>
          </a:prstGeom>
          <a:solidFill>
            <a:srgbClr val="F9FAFB"/>
          </a:solidFill>
          <a:ln w="19050">
            <a:solidFill>
              <a:srgbClr val="E5E7EB"/>
            </a:solidFill>
            <a:prstDash val="solid"/>
          </a:ln>
        </p:spPr>
        <p:txBody>
          <a:bodyPr/>
          <a:lstStyle/>
          <a:p>
            <a:endParaRPr lang="ko-KR" altLang="en-US"/>
          </a:p>
        </p:txBody>
      </p:sp>
      <p:pic>
        <p:nvPicPr>
          <p:cNvPr id="18" name="Image 3" descr="preencoded.png"/>
          <p:cNvPicPr>
            <a:picLocks noChangeAspect="1"/>
          </p:cNvPicPr>
          <p:nvPr/>
        </p:nvPicPr>
        <p:blipFill>
          <a:blip r:embed="rId3"/>
          <a:srcRect l="-1" r="-1"/>
          <a:stretch/>
        </p:blipFill>
        <p:spPr>
          <a:xfrm>
            <a:off x="13180070" y="3429000"/>
            <a:ext cx="3836640" cy="3381226"/>
          </a:xfrm>
          <a:prstGeom prst="rect">
            <a:avLst/>
          </a:prstGeom>
        </p:spPr>
      </p:pic>
      <p:sp>
        <p:nvSpPr>
          <p:cNvPr id="19" name="Shape 13"/>
          <p:cNvSpPr/>
          <p:nvPr/>
        </p:nvSpPr>
        <p:spPr>
          <a:xfrm>
            <a:off x="9315450" y="7134225"/>
            <a:ext cx="8020050" cy="1847850"/>
          </a:xfrm>
          <a:prstGeom prst="roundRect">
            <a:avLst>
              <a:gd name="adj" fmla="val 8247"/>
            </a:avLst>
          </a:prstGeom>
          <a:solidFill>
            <a:srgbClr val="EEF1FE"/>
          </a:solidFill>
          <a:ln/>
        </p:spPr>
        <p:txBody>
          <a:bodyPr/>
          <a:lstStyle/>
          <a:p>
            <a:endParaRPr lang="ko-KR" altLang="en-US"/>
          </a:p>
        </p:txBody>
      </p:sp>
      <p:sp>
        <p:nvSpPr>
          <p:cNvPr id="20" name="Text 14"/>
          <p:cNvSpPr/>
          <p:nvPr/>
        </p:nvSpPr>
        <p:spPr>
          <a:xfrm>
            <a:off x="9563100" y="7343775"/>
            <a:ext cx="7750492" cy="752475"/>
          </a:xfrm>
          <a:prstGeom prst="rect">
            <a:avLst/>
          </a:prstGeom>
          <a:noFill/>
          <a:ln/>
        </p:spPr>
        <p:txBody>
          <a:bodyPr wrap="square" lIns="25400" tIns="25400" rIns="25400" bIns="25400" rtlCol="0" anchor="t">
            <a:normAutofit lnSpcReduction="10000"/>
          </a:bodyPr>
          <a:lstStyle/>
          <a:p>
            <a:pPr marL="0" indent="0" algn="l">
              <a:lnSpc>
                <a:spcPct val="129310"/>
              </a:lnSpc>
              <a:buNone/>
            </a:pPr>
            <a:r>
              <a:rPr lang="en-US" sz="1875" b="1" dirty="0">
                <a:solidFill>
                  <a:srgbClr val="374151"/>
                </a:solidFill>
                <a:latin typeface="Arial" pitchFamily="34" charset="0"/>
                <a:ea typeface="Arial" pitchFamily="34" charset="-122"/>
                <a:cs typeface="Arial" pitchFamily="34" charset="-120"/>
              </a:rPr>
              <a:t>inflation_radius 0.15 → 0.3 으로 costmap 여유 반경 확대 max_vel_x 0.13 → 0.22 검출 시 목표 속도 최대치</a:t>
            </a:r>
            <a:endParaRPr lang="en-US" sz="1875" dirty="0"/>
          </a:p>
        </p:txBody>
      </p:sp>
      <p:sp>
        <p:nvSpPr>
          <p:cNvPr id="21" name="Text 15"/>
          <p:cNvSpPr/>
          <p:nvPr/>
        </p:nvSpPr>
        <p:spPr>
          <a:xfrm>
            <a:off x="9563100" y="8153400"/>
            <a:ext cx="8277225" cy="414338"/>
          </a:xfrm>
          <a:prstGeom prst="rect">
            <a:avLst/>
          </a:prstGeom>
          <a:noFill/>
          <a:ln/>
        </p:spPr>
        <p:txBody>
          <a:bodyPr wrap="square" lIns="25400" tIns="25400" rIns="25400" bIns="25400" rtlCol="0" anchor="t">
            <a:normAutofit/>
          </a:bodyPr>
          <a:lstStyle/>
          <a:p>
            <a:pPr marL="0" indent="0" algn="l">
              <a:lnSpc>
                <a:spcPct val="129310"/>
              </a:lnSpc>
              <a:buNone/>
            </a:pPr>
            <a:r>
              <a:rPr lang="en-US" sz="1875" dirty="0">
                <a:solidFill>
                  <a:srgbClr val="374151"/>
                </a:solidFill>
                <a:latin typeface="Arial" pitchFamily="34" charset="0"/>
                <a:ea typeface="Arial" pitchFamily="34" charset="-122"/>
                <a:cs typeface="Arial" pitchFamily="34" charset="-120"/>
              </a:rPr>
              <a:t>목표 속도 이상 </a:t>
            </a:r>
            <a:r>
              <a:rPr lang="en-US" sz="1875" b="1" dirty="0">
                <a:solidFill>
                  <a:srgbClr val="374151"/>
                </a:solidFill>
                <a:latin typeface="Courier New" pitchFamily="34" charset="0"/>
                <a:ea typeface="Courier New" pitchFamily="34" charset="-122"/>
                <a:cs typeface="Courier New" pitchFamily="34" charset="-120"/>
              </a:rPr>
              <a:t>0.5초 </a:t>
            </a:r>
            <a:r>
              <a:rPr lang="en-US" sz="1875" dirty="0">
                <a:solidFill>
                  <a:srgbClr val="374151"/>
                </a:solidFill>
                <a:latin typeface="Arial" pitchFamily="34" charset="0"/>
                <a:ea typeface="Arial" pitchFamily="34" charset="-122"/>
                <a:cs typeface="Arial" pitchFamily="34" charset="-120"/>
              </a:rPr>
              <a:t>연속 유지시 통과</a:t>
            </a:r>
            <a:endParaRPr lang="en-US" sz="1875" dirty="0"/>
          </a:p>
        </p:txBody>
      </p:sp>
      <p:sp>
        <p:nvSpPr>
          <p:cNvPr id="22" name="Text 16"/>
          <p:cNvSpPr/>
          <p:nvPr/>
        </p:nvSpPr>
        <p:spPr>
          <a:xfrm>
            <a:off x="952500" y="9267825"/>
            <a:ext cx="3272745" cy="37147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23" name="Text 17"/>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10</a:t>
            </a:r>
            <a:endParaRPr lang="en-US" sz="1800" dirty="0"/>
          </a:p>
        </p:txBody>
      </p:sp>
      <p:pic>
        <p:nvPicPr>
          <p:cNvPr id="25" name="그림 24">
            <a:extLst>
              <a:ext uri="{FF2B5EF4-FFF2-40B4-BE49-F238E27FC236}">
                <a16:creationId xmlns:a16="http://schemas.microsoft.com/office/drawing/2014/main" id="{C48DBA38-0B33-C945-415C-116B8DFD5DA0}"/>
              </a:ext>
            </a:extLst>
          </p:cNvPr>
          <p:cNvPicPr>
            <a:picLocks noChangeAspect="1"/>
          </p:cNvPicPr>
          <p:nvPr/>
        </p:nvPicPr>
        <p:blipFill>
          <a:blip r:embed="rId4"/>
          <a:stretch>
            <a:fillRect/>
          </a:stretch>
        </p:blipFill>
        <p:spPr>
          <a:xfrm>
            <a:off x="1018535" y="3458970"/>
            <a:ext cx="3923969" cy="3376655"/>
          </a:xfrm>
          <a:prstGeom prst="rect">
            <a:avLst/>
          </a:prstGeom>
        </p:spPr>
      </p:pic>
      <p:pic>
        <p:nvPicPr>
          <p:cNvPr id="27" name="그림 26">
            <a:extLst>
              <a:ext uri="{FF2B5EF4-FFF2-40B4-BE49-F238E27FC236}">
                <a16:creationId xmlns:a16="http://schemas.microsoft.com/office/drawing/2014/main" id="{DA2C62F4-5689-D378-6439-64CD2A283B1C}"/>
              </a:ext>
            </a:extLst>
          </p:cNvPr>
          <p:cNvPicPr>
            <a:picLocks noChangeAspect="1"/>
          </p:cNvPicPr>
          <p:nvPr/>
        </p:nvPicPr>
        <p:blipFill>
          <a:blip r:embed="rId5"/>
          <a:stretch>
            <a:fillRect/>
          </a:stretch>
        </p:blipFill>
        <p:spPr>
          <a:xfrm>
            <a:off x="5003015" y="3429273"/>
            <a:ext cx="3845150" cy="3381551"/>
          </a:xfrm>
          <a:prstGeom prst="rect">
            <a:avLst/>
          </a:prstGeom>
        </p:spPr>
      </p:pic>
      <p:pic>
        <p:nvPicPr>
          <p:cNvPr id="29" name="그림 28">
            <a:extLst>
              <a:ext uri="{FF2B5EF4-FFF2-40B4-BE49-F238E27FC236}">
                <a16:creationId xmlns:a16="http://schemas.microsoft.com/office/drawing/2014/main" id="{58365B2B-7507-8A81-A34B-60D71E60CA6A}"/>
              </a:ext>
            </a:extLst>
          </p:cNvPr>
          <p:cNvPicPr>
            <a:picLocks noChangeAspect="1"/>
          </p:cNvPicPr>
          <p:nvPr/>
        </p:nvPicPr>
        <p:blipFill>
          <a:blip r:embed="rId6"/>
          <a:stretch>
            <a:fillRect/>
          </a:stretch>
        </p:blipFill>
        <p:spPr>
          <a:xfrm>
            <a:off x="9525000" y="3467249"/>
            <a:ext cx="3381842" cy="338122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09</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3166497"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직각주차 · ArUco 마커 인식</a:t>
            </a:r>
            <a:endParaRPr lang="en-US" sz="1950" dirty="0"/>
          </a:p>
        </p:txBody>
      </p:sp>
      <p:sp>
        <p:nvSpPr>
          <p:cNvPr id="5" name="Text 3"/>
          <p:cNvSpPr/>
          <p:nvPr/>
        </p:nvSpPr>
        <p:spPr>
          <a:xfrm>
            <a:off x="952500" y="1438275"/>
            <a:ext cx="18021300" cy="809625"/>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111827"/>
                </a:solidFill>
                <a:latin typeface="Arial" pitchFamily="34" charset="0"/>
                <a:ea typeface="Arial" pitchFamily="34" charset="-122"/>
                <a:cs typeface="Arial" pitchFamily="34" charset="-120"/>
              </a:rPr>
              <a:t>마커 탐색부터 정밀 접근까지 5개 상태</a:t>
            </a:r>
            <a:endParaRPr lang="en-US" sz="4200" dirty="0"/>
          </a:p>
        </p:txBody>
      </p:sp>
      <p:sp>
        <p:nvSpPr>
          <p:cNvPr id="39" name="Text 37"/>
          <p:cNvSpPr/>
          <p:nvPr/>
        </p:nvSpPr>
        <p:spPr>
          <a:xfrm>
            <a:off x="952500" y="9267825"/>
            <a:ext cx="3272745" cy="37147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40" name="Text 38"/>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11</a:t>
            </a:r>
            <a:endParaRPr lang="en-US" sz="1800" dirty="0"/>
          </a:p>
        </p:txBody>
      </p:sp>
      <p:sp>
        <p:nvSpPr>
          <p:cNvPr id="42" name="Shape 4">
            <a:extLst>
              <a:ext uri="{FF2B5EF4-FFF2-40B4-BE49-F238E27FC236}">
                <a16:creationId xmlns:a16="http://schemas.microsoft.com/office/drawing/2014/main" id="{9AE5AB49-C599-2991-1E04-6A14729862A5}"/>
              </a:ext>
            </a:extLst>
          </p:cNvPr>
          <p:cNvSpPr/>
          <p:nvPr/>
        </p:nvSpPr>
        <p:spPr>
          <a:xfrm>
            <a:off x="952500" y="2628900"/>
            <a:ext cx="2359075" cy="3448050"/>
          </a:xfrm>
          <a:prstGeom prst="roundRect">
            <a:avLst>
              <a:gd name="adj" fmla="val 6460"/>
            </a:avLst>
          </a:prstGeom>
          <a:solidFill>
            <a:srgbClr val="F7FCFB"/>
          </a:solidFill>
          <a:ln w="19050">
            <a:solidFill>
              <a:srgbClr val="EAF7F5"/>
            </a:solidFill>
            <a:prstDash val="solid"/>
          </a:ln>
        </p:spPr>
        <p:txBody>
          <a:bodyPr/>
          <a:lstStyle/>
          <a:p>
            <a:endParaRPr lang="ko-KR" altLang="en-US"/>
          </a:p>
        </p:txBody>
      </p:sp>
      <p:sp>
        <p:nvSpPr>
          <p:cNvPr id="44" name="Text 5">
            <a:extLst>
              <a:ext uri="{FF2B5EF4-FFF2-40B4-BE49-F238E27FC236}">
                <a16:creationId xmlns:a16="http://schemas.microsoft.com/office/drawing/2014/main" id="{7ED80A3E-20E9-EF5C-A6EC-59B3EA93133F}"/>
              </a:ext>
            </a:extLst>
          </p:cNvPr>
          <p:cNvSpPr/>
          <p:nvPr/>
        </p:nvSpPr>
        <p:spPr>
          <a:xfrm>
            <a:off x="1200150" y="2895600"/>
            <a:ext cx="1939975" cy="5905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6BC9BE"/>
                </a:solidFill>
                <a:latin typeface="Courier New" pitchFamily="34" charset="0"/>
                <a:ea typeface="Courier New" pitchFamily="34" charset="-122"/>
                <a:cs typeface="Courier New" pitchFamily="34" charset="-120"/>
              </a:rPr>
              <a:t>① SEARCH_MARKER</a:t>
            </a:r>
            <a:endParaRPr lang="en-US" sz="1875" dirty="0"/>
          </a:p>
        </p:txBody>
      </p:sp>
      <p:sp>
        <p:nvSpPr>
          <p:cNvPr id="46" name="Text 6">
            <a:extLst>
              <a:ext uri="{FF2B5EF4-FFF2-40B4-BE49-F238E27FC236}">
                <a16:creationId xmlns:a16="http://schemas.microsoft.com/office/drawing/2014/main" id="{2FBDF5AE-A7FD-E19C-4B13-14D4A83DFC34}"/>
              </a:ext>
            </a:extLst>
          </p:cNvPr>
          <p:cNvSpPr/>
          <p:nvPr/>
        </p:nvSpPr>
        <p:spPr>
          <a:xfrm>
            <a:off x="1200150" y="3581400"/>
            <a:ext cx="1939975" cy="781050"/>
          </a:xfrm>
          <a:prstGeom prst="rect">
            <a:avLst/>
          </a:prstGeom>
          <a:noFill/>
          <a:ln/>
        </p:spPr>
        <p:txBody>
          <a:bodyPr wrap="square" lIns="25400" tIns="25400" rIns="25400" bIns="25400" rtlCol="0" anchor="t">
            <a:normAutofit/>
          </a:bodyPr>
          <a:lstStyle/>
          <a:p>
            <a:pPr marL="0" indent="0" algn="l">
              <a:lnSpc>
                <a:spcPct val="125806"/>
              </a:lnSpc>
              <a:buNone/>
            </a:pPr>
            <a:r>
              <a:rPr lang="en-US" sz="1950" dirty="0">
                <a:solidFill>
                  <a:srgbClr val="374151"/>
                </a:solidFill>
                <a:latin typeface="Arial" pitchFamily="34" charset="0"/>
                <a:ea typeface="Arial" pitchFamily="34" charset="-122"/>
                <a:cs typeface="Arial" pitchFamily="34" charset="-120"/>
              </a:rPr>
              <a:t>ID=5 마커 탐색 · 제자리 회전</a:t>
            </a:r>
            <a:endParaRPr lang="en-US" sz="1950" dirty="0"/>
          </a:p>
        </p:txBody>
      </p:sp>
      <p:sp>
        <p:nvSpPr>
          <p:cNvPr id="48" name="Text 7">
            <a:extLst>
              <a:ext uri="{FF2B5EF4-FFF2-40B4-BE49-F238E27FC236}">
                <a16:creationId xmlns:a16="http://schemas.microsoft.com/office/drawing/2014/main" id="{C359B8B0-9EC1-28F3-2BD1-0E62EA425DC7}"/>
              </a:ext>
            </a:extLst>
          </p:cNvPr>
          <p:cNvSpPr/>
          <p:nvPr/>
        </p:nvSpPr>
        <p:spPr>
          <a:xfrm>
            <a:off x="3327767" y="3967163"/>
            <a:ext cx="1320165" cy="371475"/>
          </a:xfrm>
          <a:prstGeom prst="rect">
            <a:avLst/>
          </a:prstGeom>
          <a:noFill/>
          <a:ln/>
        </p:spPr>
        <p:txBody>
          <a:bodyPr wrap="square" lIns="25400" tIns="25400" rIns="25400" bIns="25400" rtlCol="0" anchor="t">
            <a:normAutofit/>
          </a:bodyPr>
          <a:lstStyle/>
          <a:p>
            <a:pPr marL="0" indent="0" algn="ctr">
              <a:buNone/>
            </a:pPr>
            <a:r>
              <a:rPr lang="en-US" sz="1800" dirty="0">
                <a:solidFill>
                  <a:srgbClr val="6B7280"/>
                </a:solidFill>
                <a:latin typeface="Arial" pitchFamily="34" charset="0"/>
                <a:ea typeface="Arial" pitchFamily="34" charset="-122"/>
                <a:cs typeface="Arial" pitchFamily="34" charset="-120"/>
              </a:rPr>
              <a:t>마커 검출</a:t>
            </a:r>
            <a:endParaRPr lang="en-US" sz="1800" dirty="0"/>
          </a:p>
        </p:txBody>
      </p:sp>
      <p:sp>
        <p:nvSpPr>
          <p:cNvPr id="50" name="Text 8">
            <a:extLst>
              <a:ext uri="{FF2B5EF4-FFF2-40B4-BE49-F238E27FC236}">
                <a16:creationId xmlns:a16="http://schemas.microsoft.com/office/drawing/2014/main" id="{8E89C61E-BB1F-CDB2-E990-586C31FB5756}"/>
              </a:ext>
            </a:extLst>
          </p:cNvPr>
          <p:cNvSpPr/>
          <p:nvPr/>
        </p:nvSpPr>
        <p:spPr>
          <a:xfrm>
            <a:off x="3327767" y="4357688"/>
            <a:ext cx="1320165" cy="419100"/>
          </a:xfrm>
          <a:prstGeom prst="rect">
            <a:avLst/>
          </a:prstGeom>
          <a:noFill/>
          <a:ln/>
        </p:spPr>
        <p:txBody>
          <a:bodyPr wrap="square" lIns="25400" tIns="25400" rIns="25400" bIns="25400" rtlCol="0" anchor="t">
            <a:normAutofit/>
          </a:bodyPr>
          <a:lstStyle/>
          <a:p>
            <a:pPr marL="0" indent="0" algn="ctr">
              <a:buNone/>
            </a:pPr>
            <a:r>
              <a:rPr lang="en-US" sz="2100" dirty="0">
                <a:solidFill>
                  <a:srgbClr val="6BC9BE"/>
                </a:solidFill>
                <a:latin typeface="Arial" pitchFamily="34" charset="0"/>
                <a:ea typeface="Arial" pitchFamily="34" charset="-122"/>
                <a:cs typeface="Arial" pitchFamily="34" charset="-120"/>
              </a:rPr>
              <a:t>→</a:t>
            </a:r>
            <a:endParaRPr lang="en-US" sz="2100" dirty="0"/>
          </a:p>
        </p:txBody>
      </p:sp>
      <p:sp>
        <p:nvSpPr>
          <p:cNvPr id="52" name="Shape 9">
            <a:extLst>
              <a:ext uri="{FF2B5EF4-FFF2-40B4-BE49-F238E27FC236}">
                <a16:creationId xmlns:a16="http://schemas.microsoft.com/office/drawing/2014/main" id="{BEF02557-FA79-33DC-67FE-87F6BF8318D2}"/>
              </a:ext>
            </a:extLst>
          </p:cNvPr>
          <p:cNvSpPr/>
          <p:nvPr/>
        </p:nvSpPr>
        <p:spPr>
          <a:xfrm>
            <a:off x="4664125" y="2628900"/>
            <a:ext cx="2932509" cy="3448050"/>
          </a:xfrm>
          <a:prstGeom prst="roundRect">
            <a:avLst>
              <a:gd name="adj" fmla="val 5197"/>
            </a:avLst>
          </a:prstGeom>
          <a:solidFill>
            <a:srgbClr val="F7FCFB"/>
          </a:solidFill>
          <a:ln w="19050">
            <a:solidFill>
              <a:srgbClr val="EAF7F5"/>
            </a:solidFill>
            <a:prstDash val="solid"/>
          </a:ln>
        </p:spPr>
        <p:txBody>
          <a:bodyPr/>
          <a:lstStyle/>
          <a:p>
            <a:endParaRPr lang="ko-KR" altLang="en-US"/>
          </a:p>
        </p:txBody>
      </p:sp>
      <p:sp>
        <p:nvSpPr>
          <p:cNvPr id="54" name="Text 10">
            <a:extLst>
              <a:ext uri="{FF2B5EF4-FFF2-40B4-BE49-F238E27FC236}">
                <a16:creationId xmlns:a16="http://schemas.microsoft.com/office/drawing/2014/main" id="{4CF41CBD-54D2-CC5E-CC8A-8A7E5CFCA589}"/>
              </a:ext>
            </a:extLst>
          </p:cNvPr>
          <p:cNvSpPr/>
          <p:nvPr/>
        </p:nvSpPr>
        <p:spPr>
          <a:xfrm>
            <a:off x="4911775" y="2895600"/>
            <a:ext cx="2513409" cy="5905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6BC9BE"/>
                </a:solidFill>
                <a:latin typeface="Courier New" pitchFamily="34" charset="0"/>
                <a:ea typeface="Courier New" pitchFamily="34" charset="-122"/>
                <a:cs typeface="Courier New" pitchFamily="34" charset="-120"/>
              </a:rPr>
              <a:t>② APPROACH_PRE_DOCK</a:t>
            </a:r>
            <a:endParaRPr lang="en-US" sz="1875" dirty="0"/>
          </a:p>
        </p:txBody>
      </p:sp>
      <p:sp>
        <p:nvSpPr>
          <p:cNvPr id="56" name="Text 11">
            <a:extLst>
              <a:ext uri="{FF2B5EF4-FFF2-40B4-BE49-F238E27FC236}">
                <a16:creationId xmlns:a16="http://schemas.microsoft.com/office/drawing/2014/main" id="{9C64602B-D1C0-6858-0203-C9E1DF218897}"/>
              </a:ext>
            </a:extLst>
          </p:cNvPr>
          <p:cNvSpPr/>
          <p:nvPr/>
        </p:nvSpPr>
        <p:spPr>
          <a:xfrm>
            <a:off x="4911775" y="3581400"/>
            <a:ext cx="2513409" cy="1152525"/>
          </a:xfrm>
          <a:prstGeom prst="rect">
            <a:avLst/>
          </a:prstGeom>
          <a:noFill/>
          <a:ln/>
        </p:spPr>
        <p:txBody>
          <a:bodyPr wrap="square" lIns="25400" tIns="25400" rIns="25400" bIns="25400" rtlCol="0" anchor="t">
            <a:normAutofit/>
          </a:bodyPr>
          <a:lstStyle/>
          <a:p>
            <a:pPr marL="0" indent="0" algn="l">
              <a:lnSpc>
                <a:spcPct val="125806"/>
              </a:lnSpc>
              <a:buNone/>
            </a:pPr>
            <a:r>
              <a:rPr lang="en-US" sz="1950" dirty="0">
                <a:solidFill>
                  <a:srgbClr val="374151"/>
                </a:solidFill>
                <a:latin typeface="Arial" pitchFamily="34" charset="0"/>
                <a:ea typeface="Arial" pitchFamily="34" charset="-122"/>
                <a:cs typeface="Arial" pitchFamily="34" charset="-120"/>
              </a:rPr>
              <a:t>마커까지 50cm </a:t>
            </a:r>
            <a:r>
              <a:rPr lang="en-US" sz="1950" dirty="0" err="1">
                <a:solidFill>
                  <a:srgbClr val="374151"/>
                </a:solidFill>
                <a:latin typeface="Arial" pitchFamily="34" charset="0"/>
                <a:ea typeface="Arial" pitchFamily="34" charset="-122"/>
                <a:cs typeface="Arial" pitchFamily="34" charset="-120"/>
              </a:rPr>
              <a:t>접근</a:t>
            </a:r>
            <a:endParaRPr lang="en-US" sz="1950" dirty="0"/>
          </a:p>
        </p:txBody>
      </p:sp>
      <p:sp>
        <p:nvSpPr>
          <p:cNvPr id="58" name="Text 12">
            <a:extLst>
              <a:ext uri="{FF2B5EF4-FFF2-40B4-BE49-F238E27FC236}">
                <a16:creationId xmlns:a16="http://schemas.microsoft.com/office/drawing/2014/main" id="{FAFC707B-1CAC-AEDF-9924-F69ECFFB53B3}"/>
              </a:ext>
            </a:extLst>
          </p:cNvPr>
          <p:cNvSpPr/>
          <p:nvPr/>
        </p:nvSpPr>
        <p:spPr>
          <a:xfrm>
            <a:off x="7413070" y="3967163"/>
            <a:ext cx="1320165" cy="333375"/>
          </a:xfrm>
          <a:prstGeom prst="rect">
            <a:avLst/>
          </a:prstGeom>
          <a:noFill/>
          <a:ln/>
        </p:spPr>
        <p:txBody>
          <a:bodyPr wrap="square" lIns="25400" tIns="25400" rIns="25400" bIns="25400" rtlCol="0" anchor="t">
            <a:normAutofit/>
          </a:bodyPr>
          <a:lstStyle/>
          <a:p>
            <a:pPr marL="0" indent="0" algn="ctr">
              <a:buNone/>
            </a:pPr>
            <a:r>
              <a:rPr lang="ko-KR" altLang="en-US" sz="1800">
                <a:solidFill>
                  <a:srgbClr val="6B7280"/>
                </a:solidFill>
                <a:latin typeface="Courier New" pitchFamily="34" charset="0"/>
                <a:cs typeface="Courier New" pitchFamily="34" charset="-120"/>
              </a:rPr>
              <a:t>근접</a:t>
            </a:r>
            <a:endParaRPr lang="en-US" sz="1800" dirty="0"/>
          </a:p>
        </p:txBody>
      </p:sp>
      <p:sp>
        <p:nvSpPr>
          <p:cNvPr id="60" name="Text 13">
            <a:extLst>
              <a:ext uri="{FF2B5EF4-FFF2-40B4-BE49-F238E27FC236}">
                <a16:creationId xmlns:a16="http://schemas.microsoft.com/office/drawing/2014/main" id="{37CC7059-5626-B350-0FF9-BED0940C2307}"/>
              </a:ext>
            </a:extLst>
          </p:cNvPr>
          <p:cNvSpPr/>
          <p:nvPr/>
        </p:nvSpPr>
        <p:spPr>
          <a:xfrm>
            <a:off x="7457568" y="4314545"/>
            <a:ext cx="1320165" cy="419100"/>
          </a:xfrm>
          <a:prstGeom prst="rect">
            <a:avLst/>
          </a:prstGeom>
          <a:noFill/>
          <a:ln/>
        </p:spPr>
        <p:txBody>
          <a:bodyPr wrap="square" lIns="25400" tIns="25400" rIns="25400" bIns="25400" rtlCol="0" anchor="t">
            <a:normAutofit/>
          </a:bodyPr>
          <a:lstStyle/>
          <a:p>
            <a:pPr marL="0" indent="0" algn="ctr">
              <a:buNone/>
            </a:pPr>
            <a:r>
              <a:rPr lang="en-US" sz="2100" dirty="0">
                <a:solidFill>
                  <a:srgbClr val="6BC9BE"/>
                </a:solidFill>
                <a:latin typeface="Arial" pitchFamily="34" charset="0"/>
                <a:ea typeface="Arial" pitchFamily="34" charset="-122"/>
                <a:cs typeface="Arial" pitchFamily="34" charset="-120"/>
              </a:rPr>
              <a:t>→</a:t>
            </a:r>
            <a:endParaRPr lang="en-US" sz="2100" dirty="0"/>
          </a:p>
        </p:txBody>
      </p:sp>
      <p:sp>
        <p:nvSpPr>
          <p:cNvPr id="62" name="Shape 14">
            <a:extLst>
              <a:ext uri="{FF2B5EF4-FFF2-40B4-BE49-F238E27FC236}">
                <a16:creationId xmlns:a16="http://schemas.microsoft.com/office/drawing/2014/main" id="{2C81CF36-8938-8479-5D4B-9B1A076746C0}"/>
              </a:ext>
            </a:extLst>
          </p:cNvPr>
          <p:cNvSpPr/>
          <p:nvPr/>
        </p:nvSpPr>
        <p:spPr>
          <a:xfrm>
            <a:off x="8572948" y="2628900"/>
            <a:ext cx="2305198" cy="3448050"/>
          </a:xfrm>
          <a:prstGeom prst="roundRect">
            <a:avLst>
              <a:gd name="adj" fmla="val 7901"/>
            </a:avLst>
          </a:prstGeom>
          <a:solidFill>
            <a:srgbClr val="F7FCFB"/>
          </a:solidFill>
          <a:ln w="19050">
            <a:solidFill>
              <a:srgbClr val="EAF7F5"/>
            </a:solidFill>
            <a:prstDash val="solid"/>
          </a:ln>
        </p:spPr>
        <p:txBody>
          <a:bodyPr/>
          <a:lstStyle/>
          <a:p>
            <a:endParaRPr lang="ko-KR" altLang="en-US"/>
          </a:p>
        </p:txBody>
      </p:sp>
      <p:sp>
        <p:nvSpPr>
          <p:cNvPr id="64" name="Text 15">
            <a:extLst>
              <a:ext uri="{FF2B5EF4-FFF2-40B4-BE49-F238E27FC236}">
                <a16:creationId xmlns:a16="http://schemas.microsoft.com/office/drawing/2014/main" id="{49C1DCEE-F15D-7816-703E-996CB2A2B33B}"/>
              </a:ext>
            </a:extLst>
          </p:cNvPr>
          <p:cNvSpPr/>
          <p:nvPr/>
        </p:nvSpPr>
        <p:spPr>
          <a:xfrm>
            <a:off x="8733235" y="2895600"/>
            <a:ext cx="1509861" cy="5905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6BC9BE"/>
                </a:solidFill>
                <a:latin typeface="Courier New" pitchFamily="34" charset="0"/>
                <a:ea typeface="Courier New" pitchFamily="34" charset="-122"/>
                <a:cs typeface="Courier New" pitchFamily="34" charset="-120"/>
              </a:rPr>
              <a:t>③ ALIGN_AXIS</a:t>
            </a:r>
            <a:endParaRPr lang="en-US" sz="1875" dirty="0"/>
          </a:p>
        </p:txBody>
      </p:sp>
      <p:sp>
        <p:nvSpPr>
          <p:cNvPr id="66" name="Text 16">
            <a:extLst>
              <a:ext uri="{FF2B5EF4-FFF2-40B4-BE49-F238E27FC236}">
                <a16:creationId xmlns:a16="http://schemas.microsoft.com/office/drawing/2014/main" id="{0D9839F8-F41F-FF1C-EFA1-66F72B02BECE}"/>
              </a:ext>
            </a:extLst>
          </p:cNvPr>
          <p:cNvSpPr/>
          <p:nvPr/>
        </p:nvSpPr>
        <p:spPr>
          <a:xfrm>
            <a:off x="8641976" y="3581400"/>
            <a:ext cx="2064719" cy="2266950"/>
          </a:xfrm>
          <a:prstGeom prst="rect">
            <a:avLst/>
          </a:prstGeom>
          <a:noFill/>
          <a:ln/>
        </p:spPr>
        <p:txBody>
          <a:bodyPr wrap="square" lIns="25400" tIns="25400" rIns="25400" bIns="25400" rtlCol="0" anchor="t">
            <a:normAutofit/>
          </a:bodyPr>
          <a:lstStyle/>
          <a:p>
            <a:pPr marL="0" indent="0" algn="l">
              <a:lnSpc>
                <a:spcPct val="125806"/>
              </a:lnSpc>
              <a:buNone/>
            </a:pPr>
            <a:r>
              <a:rPr lang="en-US" sz="1950" dirty="0">
                <a:solidFill>
                  <a:srgbClr val="374151"/>
                </a:solidFill>
                <a:latin typeface="Arial" pitchFamily="34" charset="0"/>
                <a:ea typeface="Arial" pitchFamily="34" charset="-122"/>
                <a:cs typeface="Arial" pitchFamily="34" charset="-120"/>
              </a:rPr>
              <a:t>좌우 x_m ≤ 3.5cm · 방위각 ≤ 0.06 rad</a:t>
            </a:r>
            <a:endParaRPr lang="en-US" sz="1950" dirty="0"/>
          </a:p>
        </p:txBody>
      </p:sp>
      <p:sp>
        <p:nvSpPr>
          <p:cNvPr id="68" name="Text 17">
            <a:extLst>
              <a:ext uri="{FF2B5EF4-FFF2-40B4-BE49-F238E27FC236}">
                <a16:creationId xmlns:a16="http://schemas.microsoft.com/office/drawing/2014/main" id="{21D546DB-C874-DF63-F027-0EF0BD602F84}"/>
              </a:ext>
            </a:extLst>
          </p:cNvPr>
          <p:cNvSpPr/>
          <p:nvPr/>
        </p:nvSpPr>
        <p:spPr>
          <a:xfrm>
            <a:off x="10894338" y="3967163"/>
            <a:ext cx="1320165" cy="371475"/>
          </a:xfrm>
          <a:prstGeom prst="rect">
            <a:avLst/>
          </a:prstGeom>
          <a:noFill/>
          <a:ln/>
        </p:spPr>
        <p:txBody>
          <a:bodyPr wrap="square" lIns="25400" tIns="25400" rIns="25400" bIns="25400" rtlCol="0" anchor="t">
            <a:normAutofit/>
          </a:bodyPr>
          <a:lstStyle/>
          <a:p>
            <a:pPr marL="0" indent="0" algn="ctr">
              <a:buNone/>
            </a:pPr>
            <a:r>
              <a:rPr lang="en-US" sz="1800" dirty="0">
                <a:solidFill>
                  <a:srgbClr val="6B7280"/>
                </a:solidFill>
                <a:latin typeface="Arial" pitchFamily="34" charset="0"/>
                <a:ea typeface="Arial" pitchFamily="34" charset="-122"/>
                <a:cs typeface="Arial" pitchFamily="34" charset="-120"/>
              </a:rPr>
              <a:t>정렬 완료</a:t>
            </a:r>
            <a:endParaRPr lang="en-US" sz="1800" dirty="0"/>
          </a:p>
        </p:txBody>
      </p:sp>
      <p:sp>
        <p:nvSpPr>
          <p:cNvPr id="70" name="Text 18">
            <a:extLst>
              <a:ext uri="{FF2B5EF4-FFF2-40B4-BE49-F238E27FC236}">
                <a16:creationId xmlns:a16="http://schemas.microsoft.com/office/drawing/2014/main" id="{256BAD02-AA83-87AC-564E-B8B13C3D1A78}"/>
              </a:ext>
            </a:extLst>
          </p:cNvPr>
          <p:cNvSpPr/>
          <p:nvPr/>
        </p:nvSpPr>
        <p:spPr>
          <a:xfrm>
            <a:off x="10894338" y="4357688"/>
            <a:ext cx="1320165" cy="419100"/>
          </a:xfrm>
          <a:prstGeom prst="rect">
            <a:avLst/>
          </a:prstGeom>
          <a:noFill/>
          <a:ln/>
        </p:spPr>
        <p:txBody>
          <a:bodyPr wrap="square" lIns="25400" tIns="25400" rIns="25400" bIns="25400" rtlCol="0" anchor="t">
            <a:normAutofit/>
          </a:bodyPr>
          <a:lstStyle/>
          <a:p>
            <a:pPr marL="0" indent="0" algn="ctr">
              <a:buNone/>
            </a:pPr>
            <a:r>
              <a:rPr lang="en-US" sz="2100" dirty="0">
                <a:solidFill>
                  <a:srgbClr val="6BC9BE"/>
                </a:solidFill>
                <a:latin typeface="Arial" pitchFamily="34" charset="0"/>
                <a:ea typeface="Arial" pitchFamily="34" charset="-122"/>
                <a:cs typeface="Arial" pitchFamily="34" charset="-120"/>
              </a:rPr>
              <a:t>→</a:t>
            </a:r>
            <a:endParaRPr lang="en-US" sz="2100" dirty="0"/>
          </a:p>
        </p:txBody>
      </p:sp>
      <p:sp>
        <p:nvSpPr>
          <p:cNvPr id="72" name="Shape 19">
            <a:extLst>
              <a:ext uri="{FF2B5EF4-FFF2-40B4-BE49-F238E27FC236}">
                <a16:creationId xmlns:a16="http://schemas.microsoft.com/office/drawing/2014/main" id="{4898DBB0-CFBE-CF63-E642-392A51191B3F}"/>
              </a:ext>
            </a:extLst>
          </p:cNvPr>
          <p:cNvSpPr/>
          <p:nvPr/>
        </p:nvSpPr>
        <p:spPr>
          <a:xfrm>
            <a:off x="12230695" y="2628900"/>
            <a:ext cx="2502396" cy="3448050"/>
          </a:xfrm>
          <a:prstGeom prst="roundRect">
            <a:avLst>
              <a:gd name="adj" fmla="val 6090"/>
            </a:avLst>
          </a:prstGeom>
          <a:solidFill>
            <a:srgbClr val="F7FCFB"/>
          </a:solidFill>
          <a:ln w="19050">
            <a:solidFill>
              <a:srgbClr val="EAF7F5"/>
            </a:solidFill>
            <a:prstDash val="solid"/>
          </a:ln>
        </p:spPr>
        <p:txBody>
          <a:bodyPr/>
          <a:lstStyle/>
          <a:p>
            <a:endParaRPr lang="ko-KR" altLang="en-US"/>
          </a:p>
        </p:txBody>
      </p:sp>
      <p:sp>
        <p:nvSpPr>
          <p:cNvPr id="74" name="Text 20">
            <a:extLst>
              <a:ext uri="{FF2B5EF4-FFF2-40B4-BE49-F238E27FC236}">
                <a16:creationId xmlns:a16="http://schemas.microsoft.com/office/drawing/2014/main" id="{81A74F78-0258-A60C-2010-7382C37B8270}"/>
              </a:ext>
            </a:extLst>
          </p:cNvPr>
          <p:cNvSpPr/>
          <p:nvPr/>
        </p:nvSpPr>
        <p:spPr>
          <a:xfrm>
            <a:off x="12478345" y="2895600"/>
            <a:ext cx="2083296" cy="5905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6BC9BE"/>
                </a:solidFill>
                <a:latin typeface="Courier New" pitchFamily="34" charset="0"/>
                <a:ea typeface="Courier New" pitchFamily="34" charset="-122"/>
                <a:cs typeface="Courier New" pitchFamily="34" charset="-120"/>
              </a:rPr>
              <a:t>④ FINAL_APPROACH</a:t>
            </a:r>
            <a:endParaRPr lang="en-US" sz="1875" dirty="0"/>
          </a:p>
        </p:txBody>
      </p:sp>
      <p:sp>
        <p:nvSpPr>
          <p:cNvPr id="76" name="Text 21">
            <a:extLst>
              <a:ext uri="{FF2B5EF4-FFF2-40B4-BE49-F238E27FC236}">
                <a16:creationId xmlns:a16="http://schemas.microsoft.com/office/drawing/2014/main" id="{0C69877E-0C03-9D27-2815-06F5DAB7C31A}"/>
              </a:ext>
            </a:extLst>
          </p:cNvPr>
          <p:cNvSpPr/>
          <p:nvPr/>
        </p:nvSpPr>
        <p:spPr>
          <a:xfrm>
            <a:off x="12478345" y="3581400"/>
            <a:ext cx="2083296" cy="781050"/>
          </a:xfrm>
          <a:prstGeom prst="rect">
            <a:avLst/>
          </a:prstGeom>
          <a:noFill/>
          <a:ln/>
        </p:spPr>
        <p:txBody>
          <a:bodyPr wrap="square" lIns="25400" tIns="25400" rIns="25400" bIns="25400" rtlCol="0" anchor="t">
            <a:normAutofit/>
          </a:bodyPr>
          <a:lstStyle/>
          <a:p>
            <a:pPr marL="0" indent="0" algn="l">
              <a:lnSpc>
                <a:spcPct val="125806"/>
              </a:lnSpc>
              <a:buNone/>
            </a:pPr>
            <a:r>
              <a:rPr lang="en-US" sz="1950" dirty="0">
                <a:solidFill>
                  <a:srgbClr val="374151"/>
                </a:solidFill>
                <a:latin typeface="Arial" pitchFamily="34" charset="0"/>
                <a:ea typeface="Arial" pitchFamily="34" charset="-122"/>
                <a:cs typeface="Arial" pitchFamily="34" charset="-120"/>
              </a:rPr>
              <a:t>18cm까지 직진 · 도달 시 정지</a:t>
            </a:r>
            <a:endParaRPr lang="en-US" sz="1950" dirty="0"/>
          </a:p>
        </p:txBody>
      </p:sp>
      <p:sp>
        <p:nvSpPr>
          <p:cNvPr id="78" name="Text 22">
            <a:extLst>
              <a:ext uri="{FF2B5EF4-FFF2-40B4-BE49-F238E27FC236}">
                <a16:creationId xmlns:a16="http://schemas.microsoft.com/office/drawing/2014/main" id="{A616A82D-F7EC-03FC-7231-CA0AD758099C}"/>
              </a:ext>
            </a:extLst>
          </p:cNvPr>
          <p:cNvSpPr/>
          <p:nvPr/>
        </p:nvSpPr>
        <p:spPr>
          <a:xfrm>
            <a:off x="14749284" y="3986213"/>
            <a:ext cx="1320165" cy="333375"/>
          </a:xfrm>
          <a:prstGeom prst="rect">
            <a:avLst/>
          </a:prstGeom>
          <a:noFill/>
          <a:ln/>
        </p:spPr>
        <p:txBody>
          <a:bodyPr wrap="square" lIns="25400" tIns="25400" rIns="25400" bIns="25400" rtlCol="0" anchor="t">
            <a:normAutofit/>
          </a:bodyPr>
          <a:lstStyle/>
          <a:p>
            <a:pPr marL="0" indent="0" algn="ctr">
              <a:buNone/>
            </a:pPr>
            <a:r>
              <a:rPr lang="en-US" sz="1800" dirty="0">
                <a:solidFill>
                  <a:srgbClr val="6B7280"/>
                </a:solidFill>
                <a:latin typeface="Courier New" pitchFamily="34" charset="0"/>
                <a:ea typeface="Courier New" pitchFamily="34" charset="-122"/>
                <a:cs typeface="Courier New" pitchFamily="34" charset="-120"/>
              </a:rPr>
              <a:t>z ≤ 18cm</a:t>
            </a:r>
            <a:endParaRPr lang="en-US" sz="1800" dirty="0"/>
          </a:p>
        </p:txBody>
      </p:sp>
      <p:sp>
        <p:nvSpPr>
          <p:cNvPr id="80" name="Text 23">
            <a:extLst>
              <a:ext uri="{FF2B5EF4-FFF2-40B4-BE49-F238E27FC236}">
                <a16:creationId xmlns:a16="http://schemas.microsoft.com/office/drawing/2014/main" id="{4BC838C3-7635-7690-F5FB-6F067A06D4AE}"/>
              </a:ext>
            </a:extLst>
          </p:cNvPr>
          <p:cNvSpPr/>
          <p:nvPr/>
        </p:nvSpPr>
        <p:spPr>
          <a:xfrm>
            <a:off x="14749284" y="4338638"/>
            <a:ext cx="1320165" cy="419100"/>
          </a:xfrm>
          <a:prstGeom prst="rect">
            <a:avLst/>
          </a:prstGeom>
          <a:noFill/>
          <a:ln/>
        </p:spPr>
        <p:txBody>
          <a:bodyPr wrap="square" lIns="25400" tIns="25400" rIns="25400" bIns="25400" rtlCol="0" anchor="t">
            <a:normAutofit/>
          </a:bodyPr>
          <a:lstStyle/>
          <a:p>
            <a:pPr marL="0" indent="0" algn="ctr">
              <a:buNone/>
            </a:pPr>
            <a:r>
              <a:rPr lang="en-US" sz="2100" dirty="0">
                <a:solidFill>
                  <a:srgbClr val="6BC9BE"/>
                </a:solidFill>
                <a:latin typeface="Arial" pitchFamily="34" charset="0"/>
                <a:ea typeface="Arial" pitchFamily="34" charset="-122"/>
                <a:cs typeface="Arial" pitchFamily="34" charset="-120"/>
              </a:rPr>
              <a:t>→</a:t>
            </a:r>
            <a:endParaRPr lang="en-US" sz="2100" dirty="0"/>
          </a:p>
        </p:txBody>
      </p:sp>
      <p:sp>
        <p:nvSpPr>
          <p:cNvPr id="82" name="Shape 24">
            <a:extLst>
              <a:ext uri="{FF2B5EF4-FFF2-40B4-BE49-F238E27FC236}">
                <a16:creationId xmlns:a16="http://schemas.microsoft.com/office/drawing/2014/main" id="{B112DAB3-BE6A-EFD9-2EFD-B325F0ED5B3B}"/>
              </a:ext>
            </a:extLst>
          </p:cNvPr>
          <p:cNvSpPr/>
          <p:nvPr/>
        </p:nvSpPr>
        <p:spPr>
          <a:xfrm>
            <a:off x="16085641" y="2628900"/>
            <a:ext cx="1249859" cy="3448050"/>
          </a:xfrm>
          <a:prstGeom prst="roundRect">
            <a:avLst>
              <a:gd name="adj" fmla="val 12193"/>
            </a:avLst>
          </a:prstGeom>
          <a:solidFill>
            <a:srgbClr val="7188F1"/>
          </a:solidFill>
          <a:ln/>
        </p:spPr>
        <p:txBody>
          <a:bodyPr/>
          <a:lstStyle/>
          <a:p>
            <a:endParaRPr lang="ko-KR" altLang="en-US"/>
          </a:p>
        </p:txBody>
      </p:sp>
      <p:sp>
        <p:nvSpPr>
          <p:cNvPr id="84" name="Text 25">
            <a:extLst>
              <a:ext uri="{FF2B5EF4-FFF2-40B4-BE49-F238E27FC236}">
                <a16:creationId xmlns:a16="http://schemas.microsoft.com/office/drawing/2014/main" id="{B0441D15-83DD-29FF-55CA-4CCD3D6119B6}"/>
              </a:ext>
            </a:extLst>
          </p:cNvPr>
          <p:cNvSpPr/>
          <p:nvPr/>
        </p:nvSpPr>
        <p:spPr>
          <a:xfrm>
            <a:off x="16238041" y="3795713"/>
            <a:ext cx="945059" cy="371475"/>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Courier New" pitchFamily="34" charset="0"/>
                <a:ea typeface="Courier New" pitchFamily="34" charset="-122"/>
                <a:cs typeface="Courier New" pitchFamily="34" charset="-120"/>
              </a:rPr>
              <a:t>DONE</a:t>
            </a:r>
            <a:endParaRPr lang="en-US" sz="2250" dirty="0"/>
          </a:p>
        </p:txBody>
      </p:sp>
      <p:sp>
        <p:nvSpPr>
          <p:cNvPr id="86" name="Text 26">
            <a:extLst>
              <a:ext uri="{FF2B5EF4-FFF2-40B4-BE49-F238E27FC236}">
                <a16:creationId xmlns:a16="http://schemas.microsoft.com/office/drawing/2014/main" id="{2CE17B24-D532-880A-74F4-D61A4F1C1A6B}"/>
              </a:ext>
            </a:extLst>
          </p:cNvPr>
          <p:cNvSpPr/>
          <p:nvPr/>
        </p:nvSpPr>
        <p:spPr>
          <a:xfrm>
            <a:off x="16238041" y="4224338"/>
            <a:ext cx="945059" cy="723900"/>
          </a:xfrm>
          <a:prstGeom prst="rect">
            <a:avLst/>
          </a:prstGeom>
          <a:noFill/>
          <a:ln/>
        </p:spPr>
        <p:txBody>
          <a:bodyPr wrap="square" lIns="25400" tIns="25400" rIns="25400" bIns="25400" rtlCol="0" anchor="t">
            <a:normAutofit/>
          </a:bodyPr>
          <a:lstStyle/>
          <a:p>
            <a:pPr marL="0" indent="0" algn="ctr">
              <a:buNone/>
            </a:pPr>
            <a:r>
              <a:rPr lang="en-US" sz="1875" dirty="0" err="1">
                <a:solidFill>
                  <a:srgbClr val="FFFFFF"/>
                </a:solidFill>
                <a:latin typeface="Arial" pitchFamily="34" charset="0"/>
                <a:ea typeface="Arial" pitchFamily="34" charset="-122"/>
                <a:cs typeface="Arial" pitchFamily="34" charset="-120"/>
              </a:rPr>
              <a:t>정지</a:t>
            </a:r>
            <a:r>
              <a:rPr lang="en-US" sz="1875" dirty="0">
                <a:solidFill>
                  <a:srgbClr val="FFFFFF"/>
                </a:solidFill>
                <a:latin typeface="Arial" pitchFamily="34" charset="0"/>
                <a:ea typeface="Arial" pitchFamily="34" charset="-122"/>
                <a:cs typeface="Arial" pitchFamily="34" charset="-120"/>
              </a:rPr>
              <a:t> </a:t>
            </a:r>
          </a:p>
          <a:p>
            <a:pPr marL="0" indent="0" algn="ctr">
              <a:buNone/>
            </a:pPr>
            <a:r>
              <a:rPr lang="en-US" sz="1875" dirty="0" err="1">
                <a:solidFill>
                  <a:srgbClr val="FFFFFF"/>
                </a:solidFill>
                <a:latin typeface="Arial" pitchFamily="34" charset="0"/>
                <a:ea typeface="Arial" pitchFamily="34" charset="-122"/>
                <a:cs typeface="Arial" pitchFamily="34" charset="-120"/>
              </a:rPr>
              <a:t>완료</a:t>
            </a:r>
            <a:endParaRPr lang="en-US" sz="1875" dirty="0"/>
          </a:p>
        </p:txBody>
      </p:sp>
      <p:sp>
        <p:nvSpPr>
          <p:cNvPr id="88" name="Text 27">
            <a:extLst>
              <a:ext uri="{FF2B5EF4-FFF2-40B4-BE49-F238E27FC236}">
                <a16:creationId xmlns:a16="http://schemas.microsoft.com/office/drawing/2014/main" id="{1FF1C2F6-516B-0DDF-155C-0956D1382717}"/>
              </a:ext>
            </a:extLst>
          </p:cNvPr>
          <p:cNvSpPr/>
          <p:nvPr/>
        </p:nvSpPr>
        <p:spPr>
          <a:xfrm>
            <a:off x="2855119" y="7567612"/>
            <a:ext cx="1350615" cy="38100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7188F1"/>
                </a:solidFill>
                <a:latin typeface="Arial" pitchFamily="34" charset="0"/>
                <a:ea typeface="Arial" pitchFamily="34" charset="-122"/>
                <a:cs typeface="Arial" pitchFamily="34" charset="-120"/>
              </a:rPr>
              <a:t>마커 유실 시</a:t>
            </a:r>
            <a:endParaRPr lang="en-US" sz="1875" dirty="0"/>
          </a:p>
        </p:txBody>
      </p:sp>
      <p:sp>
        <p:nvSpPr>
          <p:cNvPr id="90" name="Text 28">
            <a:extLst>
              <a:ext uri="{FF2B5EF4-FFF2-40B4-BE49-F238E27FC236}">
                <a16:creationId xmlns:a16="http://schemas.microsoft.com/office/drawing/2014/main" id="{EA37F9A2-5C0A-2C7F-1DAF-91F40874D2EF}"/>
              </a:ext>
            </a:extLst>
          </p:cNvPr>
          <p:cNvSpPr/>
          <p:nvPr/>
        </p:nvSpPr>
        <p:spPr>
          <a:xfrm>
            <a:off x="4349651" y="7562850"/>
            <a:ext cx="32399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7188F1"/>
                </a:solidFill>
                <a:latin typeface="Arial" pitchFamily="34" charset="0"/>
                <a:ea typeface="Arial" pitchFamily="34" charset="-122"/>
                <a:cs typeface="Arial" pitchFamily="34" charset="-120"/>
              </a:rPr>
              <a:t>→</a:t>
            </a:r>
            <a:endParaRPr lang="en-US" sz="1950" dirty="0"/>
          </a:p>
        </p:txBody>
      </p:sp>
      <p:sp>
        <p:nvSpPr>
          <p:cNvPr id="92" name="Shape 29">
            <a:extLst>
              <a:ext uri="{FF2B5EF4-FFF2-40B4-BE49-F238E27FC236}">
                <a16:creationId xmlns:a16="http://schemas.microsoft.com/office/drawing/2014/main" id="{8D1D0D30-8B22-A074-0FC1-CAC9E1EF17D3}"/>
              </a:ext>
            </a:extLst>
          </p:cNvPr>
          <p:cNvSpPr/>
          <p:nvPr/>
        </p:nvSpPr>
        <p:spPr>
          <a:xfrm>
            <a:off x="4864150" y="7115175"/>
            <a:ext cx="3278386" cy="1247775"/>
          </a:xfrm>
          <a:prstGeom prst="roundRect">
            <a:avLst>
              <a:gd name="adj" fmla="val 12214"/>
            </a:avLst>
          </a:prstGeom>
          <a:solidFill>
            <a:srgbClr val="F7F8FE"/>
          </a:solidFill>
          <a:ln w="19050">
            <a:solidFill>
              <a:srgbClr val="7188F1"/>
            </a:solidFill>
            <a:prstDash val="solid"/>
          </a:ln>
        </p:spPr>
        <p:txBody>
          <a:bodyPr/>
          <a:lstStyle/>
          <a:p>
            <a:endParaRPr lang="ko-KR" altLang="en-US"/>
          </a:p>
        </p:txBody>
      </p:sp>
      <p:sp>
        <p:nvSpPr>
          <p:cNvPr id="94" name="Text 30">
            <a:extLst>
              <a:ext uri="{FF2B5EF4-FFF2-40B4-BE49-F238E27FC236}">
                <a16:creationId xmlns:a16="http://schemas.microsoft.com/office/drawing/2014/main" id="{EC31B255-0279-DA9F-98D1-75D3EBC4E246}"/>
              </a:ext>
            </a:extLst>
          </p:cNvPr>
          <p:cNvSpPr/>
          <p:nvPr/>
        </p:nvSpPr>
        <p:spPr>
          <a:xfrm>
            <a:off x="5140285" y="7362825"/>
            <a:ext cx="2726115" cy="371475"/>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7188F1"/>
                </a:solidFill>
                <a:latin typeface="Courier New" pitchFamily="34" charset="0"/>
                <a:ea typeface="Courier New" pitchFamily="34" charset="-122"/>
                <a:cs typeface="Courier New" pitchFamily="34" charset="-120"/>
              </a:rPr>
              <a:t>RECOVERY</a:t>
            </a:r>
            <a:endParaRPr lang="en-US" sz="2250" dirty="0"/>
          </a:p>
        </p:txBody>
      </p:sp>
      <p:sp>
        <p:nvSpPr>
          <p:cNvPr id="96" name="Text 31">
            <a:extLst>
              <a:ext uri="{FF2B5EF4-FFF2-40B4-BE49-F238E27FC236}">
                <a16:creationId xmlns:a16="http://schemas.microsoft.com/office/drawing/2014/main" id="{4790E813-1063-5018-79AB-22E5F747B1BB}"/>
              </a:ext>
            </a:extLst>
          </p:cNvPr>
          <p:cNvSpPr/>
          <p:nvPr/>
        </p:nvSpPr>
        <p:spPr>
          <a:xfrm>
            <a:off x="5140285" y="7772400"/>
            <a:ext cx="2944156" cy="381000"/>
          </a:xfrm>
          <a:prstGeom prst="rect">
            <a:avLst/>
          </a:prstGeom>
          <a:noFill/>
          <a:ln/>
        </p:spPr>
        <p:txBody>
          <a:bodyPr wrap="square" lIns="25400" tIns="25400" rIns="25400" bIns="25400" rtlCol="0" anchor="t">
            <a:normAutofit/>
          </a:bodyPr>
          <a:lstStyle/>
          <a:p>
            <a:pPr marL="0" indent="0" algn="ctr">
              <a:buNone/>
            </a:pPr>
            <a:r>
              <a:rPr lang="en-US" sz="1875" dirty="0">
                <a:solidFill>
                  <a:srgbClr val="374151"/>
                </a:solidFill>
                <a:latin typeface="Arial" pitchFamily="34" charset="0"/>
                <a:ea typeface="Arial" pitchFamily="34" charset="-122"/>
                <a:cs typeface="Arial" pitchFamily="34" charset="-120"/>
              </a:rPr>
              <a:t>후진 후 재탐색 (최대 3회)</a:t>
            </a:r>
            <a:endParaRPr lang="en-US" sz="1875" dirty="0"/>
          </a:p>
        </p:txBody>
      </p:sp>
      <p:sp>
        <p:nvSpPr>
          <p:cNvPr id="98" name="Text 32">
            <a:extLst>
              <a:ext uri="{FF2B5EF4-FFF2-40B4-BE49-F238E27FC236}">
                <a16:creationId xmlns:a16="http://schemas.microsoft.com/office/drawing/2014/main" id="{960D635A-EB59-17E8-1010-8EEA1BE49627}"/>
              </a:ext>
            </a:extLst>
          </p:cNvPr>
          <p:cNvSpPr/>
          <p:nvPr/>
        </p:nvSpPr>
        <p:spPr>
          <a:xfrm>
            <a:off x="8409236" y="7562850"/>
            <a:ext cx="32399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9CA3AF"/>
                </a:solidFill>
                <a:latin typeface="Arial" pitchFamily="34" charset="0"/>
                <a:ea typeface="Arial" pitchFamily="34" charset="-122"/>
                <a:cs typeface="Arial" pitchFamily="34" charset="-120"/>
              </a:rPr>
              <a:t>→</a:t>
            </a:r>
            <a:endParaRPr lang="en-US" sz="1950" dirty="0"/>
          </a:p>
        </p:txBody>
      </p:sp>
      <p:sp>
        <p:nvSpPr>
          <p:cNvPr id="100" name="Shape 33">
            <a:extLst>
              <a:ext uri="{FF2B5EF4-FFF2-40B4-BE49-F238E27FC236}">
                <a16:creationId xmlns:a16="http://schemas.microsoft.com/office/drawing/2014/main" id="{1CAC0982-8A6D-E36B-25FA-55A052849498}"/>
              </a:ext>
            </a:extLst>
          </p:cNvPr>
          <p:cNvSpPr/>
          <p:nvPr/>
        </p:nvSpPr>
        <p:spPr>
          <a:xfrm>
            <a:off x="8923734" y="7086600"/>
            <a:ext cx="2305199" cy="1304925"/>
          </a:xfrm>
          <a:prstGeom prst="roundRect">
            <a:avLst>
              <a:gd name="adj" fmla="val 11679"/>
            </a:avLst>
          </a:prstGeom>
          <a:ln w="19050">
            <a:solidFill>
              <a:srgbClr val="9CA3AF"/>
            </a:solidFill>
            <a:prstDash val="dash"/>
          </a:ln>
        </p:spPr>
        <p:txBody>
          <a:bodyPr/>
          <a:lstStyle/>
          <a:p>
            <a:endParaRPr lang="ko-KR" altLang="en-US"/>
          </a:p>
        </p:txBody>
      </p:sp>
      <p:sp>
        <p:nvSpPr>
          <p:cNvPr id="102" name="Text 34">
            <a:extLst>
              <a:ext uri="{FF2B5EF4-FFF2-40B4-BE49-F238E27FC236}">
                <a16:creationId xmlns:a16="http://schemas.microsoft.com/office/drawing/2014/main" id="{944216E9-2568-7CB8-6BCB-757857ABE1C1}"/>
              </a:ext>
            </a:extLst>
          </p:cNvPr>
          <p:cNvSpPr/>
          <p:nvPr/>
        </p:nvSpPr>
        <p:spPr>
          <a:xfrm>
            <a:off x="9248529" y="7334250"/>
            <a:ext cx="1655609" cy="419100"/>
          </a:xfrm>
          <a:prstGeom prst="rect">
            <a:avLst/>
          </a:prstGeom>
          <a:noFill/>
          <a:ln/>
        </p:spPr>
        <p:txBody>
          <a:bodyPr wrap="square" lIns="25400" tIns="25400" rIns="25400" bIns="25400" rtlCol="0" anchor="t">
            <a:normAutofit/>
          </a:bodyPr>
          <a:lstStyle/>
          <a:p>
            <a:pPr marL="0" indent="0" algn="ctr">
              <a:buNone/>
            </a:pPr>
            <a:r>
              <a:rPr lang="en-US" sz="2100" b="1" dirty="0">
                <a:solidFill>
                  <a:srgbClr val="6B7280"/>
                </a:solidFill>
                <a:latin typeface="Arial" pitchFamily="34" charset="0"/>
                <a:ea typeface="Arial" pitchFamily="34" charset="-122"/>
                <a:cs typeface="Arial" pitchFamily="34" charset="-120"/>
              </a:rPr>
              <a:t>강제 종료</a:t>
            </a:r>
            <a:endParaRPr lang="en-US" sz="2100" dirty="0"/>
          </a:p>
        </p:txBody>
      </p:sp>
      <p:sp>
        <p:nvSpPr>
          <p:cNvPr id="104" name="Text 35">
            <a:extLst>
              <a:ext uri="{FF2B5EF4-FFF2-40B4-BE49-F238E27FC236}">
                <a16:creationId xmlns:a16="http://schemas.microsoft.com/office/drawing/2014/main" id="{1B41BC0A-9790-AE23-FA66-541F33804475}"/>
              </a:ext>
            </a:extLst>
          </p:cNvPr>
          <p:cNvSpPr/>
          <p:nvPr/>
        </p:nvSpPr>
        <p:spPr>
          <a:xfrm>
            <a:off x="9248529" y="7791450"/>
            <a:ext cx="1655609" cy="390525"/>
          </a:xfrm>
          <a:prstGeom prst="rect">
            <a:avLst/>
          </a:prstGeom>
          <a:noFill/>
          <a:ln/>
        </p:spPr>
        <p:txBody>
          <a:bodyPr wrap="square" lIns="25400" tIns="25400" rIns="25400" bIns="25400" rtlCol="0" anchor="t">
            <a:normAutofit/>
          </a:bodyPr>
          <a:lstStyle/>
          <a:p>
            <a:pPr marL="0" indent="0" algn="ctr">
              <a:buNone/>
            </a:pPr>
            <a:r>
              <a:rPr lang="en-US" sz="1875" dirty="0">
                <a:solidFill>
                  <a:srgbClr val="6B7280"/>
                </a:solidFill>
                <a:latin typeface="Courier New" pitchFamily="34" charset="0"/>
                <a:ea typeface="Courier New" pitchFamily="34" charset="-122"/>
                <a:cs typeface="Courier New" pitchFamily="34" charset="-120"/>
              </a:rPr>
              <a:t>retry &gt; 3회</a:t>
            </a:r>
            <a:endParaRPr lang="en-US" sz="1875" dirty="0"/>
          </a:p>
        </p:txBody>
      </p:sp>
      <p:sp>
        <p:nvSpPr>
          <p:cNvPr id="106" name="Text 36">
            <a:extLst>
              <a:ext uri="{FF2B5EF4-FFF2-40B4-BE49-F238E27FC236}">
                <a16:creationId xmlns:a16="http://schemas.microsoft.com/office/drawing/2014/main" id="{89328FC7-7249-517C-E565-0469DAFF6DEB}"/>
              </a:ext>
            </a:extLst>
          </p:cNvPr>
          <p:cNvSpPr/>
          <p:nvPr/>
        </p:nvSpPr>
        <p:spPr>
          <a:xfrm>
            <a:off x="11495633" y="7567612"/>
            <a:ext cx="4590008"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B7280"/>
                </a:solidFill>
                <a:latin typeface="Arial" pitchFamily="34" charset="0"/>
                <a:ea typeface="Arial" pitchFamily="34" charset="-122"/>
                <a:cs typeface="Arial" pitchFamily="34" charset="-120"/>
              </a:rPr>
              <a:t>후진 완료 시 SEARCH_MARKER로 복귀</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10</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2" y="838200"/>
            <a:ext cx="209953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자동 실행 구조</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전원만 켜면 6개 노드가 순서대로 뜹니다</a:t>
            </a:r>
            <a:endParaRPr lang="en-US" sz="4650" dirty="0"/>
          </a:p>
        </p:txBody>
      </p:sp>
      <p:sp>
        <p:nvSpPr>
          <p:cNvPr id="6" name="Shape 4"/>
          <p:cNvSpPr/>
          <p:nvPr/>
        </p:nvSpPr>
        <p:spPr>
          <a:xfrm>
            <a:off x="952500" y="2638425"/>
            <a:ext cx="977057" cy="657225"/>
          </a:xfrm>
          <a:prstGeom prst="roundRect">
            <a:avLst>
              <a:gd name="adj" fmla="val 17391"/>
            </a:avLst>
          </a:prstGeom>
          <a:solidFill>
            <a:srgbClr val="7188F1"/>
          </a:solidFill>
          <a:ln/>
        </p:spPr>
        <p:txBody>
          <a:bodyPr/>
          <a:lstStyle/>
          <a:p>
            <a:endParaRPr lang="ko-KR" altLang="en-US"/>
          </a:p>
        </p:txBody>
      </p:sp>
      <p:sp>
        <p:nvSpPr>
          <p:cNvPr id="7" name="Text 5"/>
          <p:cNvSpPr/>
          <p:nvPr/>
        </p:nvSpPr>
        <p:spPr>
          <a:xfrm>
            <a:off x="1200150" y="2809875"/>
            <a:ext cx="557957" cy="352425"/>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FFFFF"/>
                </a:solidFill>
                <a:latin typeface="Courier New" pitchFamily="34" charset="0"/>
                <a:ea typeface="Courier New" pitchFamily="34" charset="-122"/>
                <a:cs typeface="Courier New" pitchFamily="34" charset="-120"/>
              </a:rPr>
              <a:t>PM2</a:t>
            </a:r>
            <a:endParaRPr lang="en-US" sz="2100" dirty="0"/>
          </a:p>
        </p:txBody>
      </p:sp>
      <p:sp>
        <p:nvSpPr>
          <p:cNvPr id="8" name="Text 6"/>
          <p:cNvSpPr/>
          <p:nvPr/>
        </p:nvSpPr>
        <p:spPr>
          <a:xfrm>
            <a:off x="2120057" y="2790825"/>
            <a:ext cx="2105188"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최상위 감시자</a:t>
            </a:r>
            <a:endParaRPr lang="en-US" sz="1950" dirty="0"/>
          </a:p>
        </p:txBody>
      </p:sp>
      <p:sp>
        <p:nvSpPr>
          <p:cNvPr id="9" name="Text 7"/>
          <p:cNvSpPr/>
          <p:nvPr/>
        </p:nvSpPr>
        <p:spPr>
          <a:xfrm>
            <a:off x="1257300" y="3390900"/>
            <a:ext cx="9057308" cy="390525"/>
          </a:xfrm>
          <a:prstGeom prst="rect">
            <a:avLst/>
          </a:prstGeom>
          <a:noFill/>
          <a:ln/>
        </p:spPr>
        <p:txBody>
          <a:bodyPr wrap="square" lIns="25400" tIns="25400" rIns="25400" bIns="25400" rtlCol="0" anchor="t">
            <a:normAutofit/>
          </a:bodyPr>
          <a:lstStyle/>
          <a:p>
            <a:pPr marL="0" indent="0" algn="l">
              <a:buNone/>
            </a:pPr>
            <a:r>
              <a:rPr lang="en-US" sz="1950" dirty="0">
                <a:solidFill>
                  <a:srgbClr val="7188F1"/>
                </a:solidFill>
                <a:latin typeface="Arial" pitchFamily="34" charset="0"/>
                <a:ea typeface="Arial" pitchFamily="34" charset="-122"/>
                <a:cs typeface="Arial" pitchFamily="34" charset="-120"/>
              </a:rPr>
              <a:t>↓</a:t>
            </a:r>
            <a:endParaRPr lang="en-US" sz="1950" dirty="0"/>
          </a:p>
        </p:txBody>
      </p:sp>
      <p:sp>
        <p:nvSpPr>
          <p:cNvPr id="10" name="Shape 8"/>
          <p:cNvSpPr/>
          <p:nvPr/>
        </p:nvSpPr>
        <p:spPr>
          <a:xfrm>
            <a:off x="952500" y="3838575"/>
            <a:ext cx="2095649" cy="695325"/>
          </a:xfrm>
          <a:prstGeom prst="roundRect">
            <a:avLst>
              <a:gd name="adj" fmla="val 16438"/>
            </a:avLst>
          </a:prstGeom>
          <a:solidFill>
            <a:srgbClr val="EEF1FE"/>
          </a:solidFill>
          <a:ln/>
        </p:spPr>
        <p:txBody>
          <a:bodyPr/>
          <a:lstStyle/>
          <a:p>
            <a:endParaRPr lang="ko-KR" altLang="en-US"/>
          </a:p>
        </p:txBody>
      </p:sp>
      <p:sp>
        <p:nvSpPr>
          <p:cNvPr id="11" name="Text 9"/>
          <p:cNvSpPr/>
          <p:nvPr/>
        </p:nvSpPr>
        <p:spPr>
          <a:xfrm>
            <a:off x="1200150" y="4010025"/>
            <a:ext cx="1676549"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Courier New" pitchFamily="34" charset="0"/>
                <a:ea typeface="Courier New" pitchFamily="34" charset="-122"/>
                <a:cs typeface="Courier New" pitchFamily="34" charset="-120"/>
              </a:rPr>
              <a:t>supervisor</a:t>
            </a:r>
            <a:endParaRPr lang="en-US" sz="2100" dirty="0"/>
          </a:p>
        </p:txBody>
      </p:sp>
      <p:sp>
        <p:nvSpPr>
          <p:cNvPr id="12" name="Text 10"/>
          <p:cNvSpPr/>
          <p:nvPr/>
        </p:nvSpPr>
        <p:spPr>
          <a:xfrm>
            <a:off x="3238649" y="4010025"/>
            <a:ext cx="2964314"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기동 순서 · 준비 조건 확인</a:t>
            </a:r>
            <a:endParaRPr lang="en-US" sz="1950" dirty="0"/>
          </a:p>
        </p:txBody>
      </p:sp>
      <p:sp>
        <p:nvSpPr>
          <p:cNvPr id="13" name="Text 11"/>
          <p:cNvSpPr/>
          <p:nvPr/>
        </p:nvSpPr>
        <p:spPr>
          <a:xfrm>
            <a:off x="1257300" y="4629150"/>
            <a:ext cx="9057308" cy="390525"/>
          </a:xfrm>
          <a:prstGeom prst="rect">
            <a:avLst/>
          </a:prstGeom>
          <a:noFill/>
          <a:ln/>
        </p:spPr>
        <p:txBody>
          <a:bodyPr wrap="square" lIns="25400" tIns="25400" rIns="25400" bIns="25400" rtlCol="0" anchor="t">
            <a:normAutofit/>
          </a:bodyPr>
          <a:lstStyle/>
          <a:p>
            <a:pPr marL="0" indent="0" algn="l">
              <a:buNone/>
            </a:pPr>
            <a:r>
              <a:rPr lang="en-US" sz="1950" dirty="0">
                <a:solidFill>
                  <a:srgbClr val="7188F1"/>
                </a:solidFill>
                <a:latin typeface="Arial" pitchFamily="34" charset="0"/>
                <a:ea typeface="Arial" pitchFamily="34" charset="-122"/>
                <a:cs typeface="Arial" pitchFamily="34" charset="-120"/>
              </a:rPr>
              <a:t>↓</a:t>
            </a:r>
            <a:endParaRPr lang="en-US" sz="1950" dirty="0"/>
          </a:p>
        </p:txBody>
      </p:sp>
      <p:sp>
        <p:nvSpPr>
          <p:cNvPr id="14" name="Shape 12"/>
          <p:cNvSpPr/>
          <p:nvPr/>
        </p:nvSpPr>
        <p:spPr>
          <a:xfrm>
            <a:off x="952500" y="5076825"/>
            <a:ext cx="1786235" cy="723900"/>
          </a:xfrm>
          <a:prstGeom prst="roundRect">
            <a:avLst>
              <a:gd name="adj" fmla="val 15789"/>
            </a:avLst>
          </a:prstGeom>
          <a:solidFill>
            <a:srgbClr val="EAF7F5"/>
          </a:solidFill>
          <a:ln/>
        </p:spPr>
        <p:txBody>
          <a:bodyPr/>
          <a:lstStyle/>
          <a:p>
            <a:endParaRPr lang="ko-KR" altLang="en-US"/>
          </a:p>
        </p:txBody>
      </p:sp>
      <p:sp>
        <p:nvSpPr>
          <p:cNvPr id="15" name="Text 13"/>
          <p:cNvSpPr/>
          <p:nvPr/>
        </p:nvSpPr>
        <p:spPr>
          <a:xfrm>
            <a:off x="1200150" y="5248275"/>
            <a:ext cx="1538585" cy="419100"/>
          </a:xfrm>
          <a:prstGeom prst="rect">
            <a:avLst/>
          </a:prstGeom>
          <a:noFill/>
          <a:ln/>
        </p:spPr>
        <p:txBody>
          <a:bodyPr wrap="square" lIns="25400" tIns="25400" rIns="25400" bIns="25400" rtlCol="0" anchor="t">
            <a:normAutofit/>
          </a:bodyPr>
          <a:lstStyle/>
          <a:p>
            <a:pPr marL="0" indent="0" algn="l">
              <a:buNone/>
            </a:pPr>
            <a:r>
              <a:rPr lang="en-US" sz="2100" dirty="0">
                <a:solidFill>
                  <a:srgbClr val="111827"/>
                </a:solidFill>
                <a:latin typeface="Courier New" pitchFamily="34" charset="0"/>
                <a:ea typeface="Courier New" pitchFamily="34" charset="-122"/>
                <a:cs typeface="Courier New" pitchFamily="34" charset="-120"/>
              </a:rPr>
              <a:t>tmux 세션</a:t>
            </a:r>
            <a:endParaRPr lang="en-US" sz="2100" dirty="0"/>
          </a:p>
        </p:txBody>
      </p:sp>
      <p:sp>
        <p:nvSpPr>
          <p:cNvPr id="16" name="Text 14"/>
          <p:cNvSpPr/>
          <p:nvPr/>
        </p:nvSpPr>
        <p:spPr>
          <a:xfrm>
            <a:off x="2929234" y="5262563"/>
            <a:ext cx="2658765"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개별 노드 재시작 루프</a:t>
            </a:r>
            <a:endParaRPr lang="en-US" sz="1950" dirty="0"/>
          </a:p>
        </p:txBody>
      </p:sp>
      <p:sp>
        <p:nvSpPr>
          <p:cNvPr id="17" name="Text 15"/>
          <p:cNvSpPr/>
          <p:nvPr/>
        </p:nvSpPr>
        <p:spPr>
          <a:xfrm>
            <a:off x="1257300" y="5895975"/>
            <a:ext cx="9057308"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C9BE"/>
                </a:solidFill>
                <a:latin typeface="Arial" pitchFamily="34" charset="0"/>
                <a:ea typeface="Arial" pitchFamily="34" charset="-122"/>
                <a:cs typeface="Arial" pitchFamily="34" charset="-120"/>
              </a:rPr>
              <a:t>↓</a:t>
            </a:r>
            <a:endParaRPr lang="en-US" sz="1950" dirty="0"/>
          </a:p>
        </p:txBody>
      </p:sp>
      <p:sp>
        <p:nvSpPr>
          <p:cNvPr id="18" name="Shape 16"/>
          <p:cNvSpPr/>
          <p:nvPr/>
        </p:nvSpPr>
        <p:spPr>
          <a:xfrm>
            <a:off x="952500" y="6343650"/>
            <a:ext cx="4221659" cy="638175"/>
          </a:xfrm>
          <a:prstGeom prst="roundRect">
            <a:avLst>
              <a:gd name="adj" fmla="val 14925"/>
            </a:avLst>
          </a:prstGeom>
          <a:ln w="19050">
            <a:solidFill>
              <a:srgbClr val="E5E7EB"/>
            </a:solidFill>
            <a:prstDash val="solid"/>
          </a:ln>
        </p:spPr>
        <p:txBody>
          <a:bodyPr/>
          <a:lstStyle/>
          <a:p>
            <a:endParaRPr lang="ko-KR" altLang="en-US"/>
          </a:p>
        </p:txBody>
      </p:sp>
      <p:sp>
        <p:nvSpPr>
          <p:cNvPr id="19" name="Text 17"/>
          <p:cNvSpPr/>
          <p:nvPr/>
        </p:nvSpPr>
        <p:spPr>
          <a:xfrm>
            <a:off x="1162050" y="6515100"/>
            <a:ext cx="3929208"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Courier New" pitchFamily="34" charset="0"/>
                <a:ea typeface="Courier New" pitchFamily="34" charset="-122"/>
                <a:cs typeface="Courier New" pitchFamily="34" charset="-120"/>
              </a:rPr>
              <a:t>bringup</a:t>
            </a:r>
            <a:endParaRPr lang="en-US" sz="1800" dirty="0"/>
          </a:p>
        </p:txBody>
      </p:sp>
      <p:sp>
        <p:nvSpPr>
          <p:cNvPr id="20" name="Shape 18"/>
          <p:cNvSpPr/>
          <p:nvPr/>
        </p:nvSpPr>
        <p:spPr>
          <a:xfrm>
            <a:off x="5269409" y="6343650"/>
            <a:ext cx="4221807" cy="638175"/>
          </a:xfrm>
          <a:prstGeom prst="roundRect">
            <a:avLst>
              <a:gd name="adj" fmla="val 14925"/>
            </a:avLst>
          </a:prstGeom>
          <a:ln w="19050">
            <a:solidFill>
              <a:srgbClr val="E5E7EB"/>
            </a:solidFill>
            <a:prstDash val="solid"/>
          </a:ln>
        </p:spPr>
        <p:txBody>
          <a:bodyPr/>
          <a:lstStyle/>
          <a:p>
            <a:endParaRPr lang="ko-KR" altLang="en-US"/>
          </a:p>
        </p:txBody>
      </p:sp>
      <p:sp>
        <p:nvSpPr>
          <p:cNvPr id="21" name="Text 19"/>
          <p:cNvSpPr/>
          <p:nvPr/>
        </p:nvSpPr>
        <p:spPr>
          <a:xfrm>
            <a:off x="5478959" y="6515100"/>
            <a:ext cx="3929362"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Courier New" pitchFamily="34" charset="0"/>
                <a:ea typeface="Courier New" pitchFamily="34" charset="-122"/>
                <a:cs typeface="Courier New" pitchFamily="34" charset="-120"/>
              </a:rPr>
              <a:t>sensor_bridge</a:t>
            </a:r>
            <a:endParaRPr lang="en-US" sz="1800" dirty="0"/>
          </a:p>
        </p:txBody>
      </p:sp>
      <p:sp>
        <p:nvSpPr>
          <p:cNvPr id="22" name="Shape 20"/>
          <p:cNvSpPr/>
          <p:nvPr/>
        </p:nvSpPr>
        <p:spPr>
          <a:xfrm>
            <a:off x="952500" y="7077075"/>
            <a:ext cx="4221659" cy="638175"/>
          </a:xfrm>
          <a:prstGeom prst="roundRect">
            <a:avLst>
              <a:gd name="adj" fmla="val 14925"/>
            </a:avLst>
          </a:prstGeom>
          <a:ln w="19050">
            <a:solidFill>
              <a:srgbClr val="E5E7EB"/>
            </a:solidFill>
            <a:prstDash val="solid"/>
          </a:ln>
        </p:spPr>
        <p:txBody>
          <a:bodyPr/>
          <a:lstStyle/>
          <a:p>
            <a:endParaRPr lang="ko-KR" altLang="en-US"/>
          </a:p>
        </p:txBody>
      </p:sp>
      <p:sp>
        <p:nvSpPr>
          <p:cNvPr id="23" name="Text 21"/>
          <p:cNvSpPr/>
          <p:nvPr/>
        </p:nvSpPr>
        <p:spPr>
          <a:xfrm>
            <a:off x="1162050" y="7248525"/>
            <a:ext cx="3929208"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Courier New" pitchFamily="34" charset="0"/>
                <a:ea typeface="Courier New" pitchFamily="34" charset="-122"/>
                <a:cs typeface="Courier New" pitchFamily="34" charset="-120"/>
              </a:rPr>
              <a:t>camera</a:t>
            </a:r>
            <a:endParaRPr lang="en-US" sz="1800" dirty="0"/>
          </a:p>
        </p:txBody>
      </p:sp>
      <p:sp>
        <p:nvSpPr>
          <p:cNvPr id="24" name="Shape 22"/>
          <p:cNvSpPr/>
          <p:nvPr/>
        </p:nvSpPr>
        <p:spPr>
          <a:xfrm>
            <a:off x="5269409" y="7077075"/>
            <a:ext cx="4221807" cy="638175"/>
          </a:xfrm>
          <a:prstGeom prst="roundRect">
            <a:avLst>
              <a:gd name="adj" fmla="val 14925"/>
            </a:avLst>
          </a:prstGeom>
          <a:ln w="19050">
            <a:solidFill>
              <a:srgbClr val="E5E7EB"/>
            </a:solidFill>
            <a:prstDash val="solid"/>
          </a:ln>
        </p:spPr>
        <p:txBody>
          <a:bodyPr/>
          <a:lstStyle/>
          <a:p>
            <a:endParaRPr lang="ko-KR" altLang="en-US"/>
          </a:p>
        </p:txBody>
      </p:sp>
      <p:sp>
        <p:nvSpPr>
          <p:cNvPr id="25" name="Text 23"/>
          <p:cNvSpPr/>
          <p:nvPr/>
        </p:nvSpPr>
        <p:spPr>
          <a:xfrm>
            <a:off x="5478959" y="7248525"/>
            <a:ext cx="3929362"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Courier New" pitchFamily="34" charset="0"/>
                <a:ea typeface="Courier New" pitchFamily="34" charset="-122"/>
                <a:cs typeface="Courier New" pitchFamily="34" charset="-120"/>
              </a:rPr>
              <a:t>audio</a:t>
            </a:r>
            <a:endParaRPr lang="en-US" sz="1800" dirty="0"/>
          </a:p>
        </p:txBody>
      </p:sp>
      <p:sp>
        <p:nvSpPr>
          <p:cNvPr id="26" name="Shape 24"/>
          <p:cNvSpPr/>
          <p:nvPr/>
        </p:nvSpPr>
        <p:spPr>
          <a:xfrm>
            <a:off x="952500" y="7810500"/>
            <a:ext cx="4221659" cy="638175"/>
          </a:xfrm>
          <a:prstGeom prst="roundRect">
            <a:avLst>
              <a:gd name="adj" fmla="val 14925"/>
            </a:avLst>
          </a:prstGeom>
          <a:ln w="19050">
            <a:solidFill>
              <a:srgbClr val="E5E7EB"/>
            </a:solidFill>
            <a:prstDash val="solid"/>
          </a:ln>
        </p:spPr>
        <p:txBody>
          <a:bodyPr/>
          <a:lstStyle/>
          <a:p>
            <a:endParaRPr lang="ko-KR" altLang="en-US"/>
          </a:p>
        </p:txBody>
      </p:sp>
      <p:sp>
        <p:nvSpPr>
          <p:cNvPr id="27" name="Text 25"/>
          <p:cNvSpPr/>
          <p:nvPr/>
        </p:nvSpPr>
        <p:spPr>
          <a:xfrm>
            <a:off x="1162050" y="7981950"/>
            <a:ext cx="3929208"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Courier New" pitchFamily="34" charset="0"/>
                <a:ea typeface="Courier New" pitchFamily="34" charset="-122"/>
                <a:cs typeface="Courier New" pitchFamily="34" charset="-120"/>
              </a:rPr>
              <a:t>nav2</a:t>
            </a:r>
            <a:endParaRPr lang="en-US" sz="1800" dirty="0"/>
          </a:p>
        </p:txBody>
      </p:sp>
      <p:sp>
        <p:nvSpPr>
          <p:cNvPr id="28" name="Shape 26"/>
          <p:cNvSpPr/>
          <p:nvPr/>
        </p:nvSpPr>
        <p:spPr>
          <a:xfrm>
            <a:off x="5269409" y="7810500"/>
            <a:ext cx="4221807" cy="638175"/>
          </a:xfrm>
          <a:prstGeom prst="roundRect">
            <a:avLst>
              <a:gd name="adj" fmla="val 14925"/>
            </a:avLst>
          </a:prstGeom>
          <a:ln w="19050">
            <a:solidFill>
              <a:srgbClr val="E5E7EB"/>
            </a:solidFill>
            <a:prstDash val="solid"/>
          </a:ln>
        </p:spPr>
        <p:txBody>
          <a:bodyPr/>
          <a:lstStyle/>
          <a:p>
            <a:endParaRPr lang="ko-KR" altLang="en-US"/>
          </a:p>
        </p:txBody>
      </p:sp>
      <p:sp>
        <p:nvSpPr>
          <p:cNvPr id="29" name="Text 27"/>
          <p:cNvSpPr/>
          <p:nvPr/>
        </p:nvSpPr>
        <p:spPr>
          <a:xfrm>
            <a:off x="5478959" y="7981950"/>
            <a:ext cx="3929362"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Courier New" pitchFamily="34" charset="0"/>
                <a:ea typeface="Courier New" pitchFamily="34" charset="-122"/>
                <a:cs typeface="Courier New" pitchFamily="34" charset="-120"/>
              </a:rPr>
              <a:t>driving_node</a:t>
            </a:r>
            <a:endParaRPr lang="en-US" sz="1800" dirty="0"/>
          </a:p>
        </p:txBody>
      </p:sp>
      <p:sp>
        <p:nvSpPr>
          <p:cNvPr id="30" name="Shape 28"/>
          <p:cNvSpPr/>
          <p:nvPr/>
        </p:nvSpPr>
        <p:spPr>
          <a:xfrm>
            <a:off x="9910316" y="2638425"/>
            <a:ext cx="7425035" cy="3057525"/>
          </a:xfrm>
          <a:prstGeom prst="roundRect">
            <a:avLst>
              <a:gd name="adj" fmla="val 5607"/>
            </a:avLst>
          </a:prstGeom>
          <a:solidFill>
            <a:srgbClr val="EAF7F5"/>
          </a:solidFill>
          <a:ln/>
        </p:spPr>
        <p:txBody>
          <a:bodyPr/>
          <a:lstStyle/>
          <a:p>
            <a:endParaRPr lang="ko-KR" altLang="en-US"/>
          </a:p>
        </p:txBody>
      </p:sp>
      <p:sp>
        <p:nvSpPr>
          <p:cNvPr id="31" name="Text 29"/>
          <p:cNvSpPr/>
          <p:nvPr/>
        </p:nvSpPr>
        <p:spPr>
          <a:xfrm>
            <a:off x="10253216" y="2981325"/>
            <a:ext cx="7413159" cy="390525"/>
          </a:xfrm>
          <a:prstGeom prst="rect">
            <a:avLst/>
          </a:prstGeom>
          <a:noFill/>
          <a:ln/>
        </p:spPr>
        <p:txBody>
          <a:bodyPr wrap="square" lIns="25400" tIns="25400" rIns="25400" bIns="25400" rtlCol="0" anchor="t">
            <a:normAutofit/>
          </a:bodyPr>
          <a:lstStyle/>
          <a:p>
            <a:pPr marL="0" indent="0" algn="l">
              <a:buNone/>
            </a:pPr>
            <a:r>
              <a:rPr lang="en-US" sz="1950" b="1" kern="0" spc="117" dirty="0">
                <a:solidFill>
                  <a:srgbClr val="6BC9BE"/>
                </a:solidFill>
                <a:latin typeface="Arial" pitchFamily="34" charset="0"/>
                <a:ea typeface="Arial" pitchFamily="34" charset="-122"/>
                <a:cs typeface="Arial" pitchFamily="34" charset="-120"/>
              </a:rPr>
              <a:t>준비 조건 검증 기동</a:t>
            </a:r>
            <a:endParaRPr lang="en-US" sz="1950" dirty="0"/>
          </a:p>
        </p:txBody>
      </p:sp>
      <p:sp>
        <p:nvSpPr>
          <p:cNvPr id="32" name="Text 30"/>
          <p:cNvSpPr/>
          <p:nvPr/>
        </p:nvSpPr>
        <p:spPr>
          <a:xfrm>
            <a:off x="10253216" y="3467100"/>
            <a:ext cx="6941412" cy="921841"/>
          </a:xfrm>
          <a:prstGeom prst="rect">
            <a:avLst/>
          </a:prstGeom>
          <a:noFill/>
          <a:ln/>
        </p:spPr>
        <p:txBody>
          <a:bodyPr wrap="square" lIns="25400" tIns="25400" rIns="25400" bIns="25400" rtlCol="0" anchor="t">
            <a:normAutofit lnSpcReduction="10000"/>
          </a:bodyPr>
          <a:lstStyle/>
          <a:p>
            <a:pPr marL="0" indent="0" algn="l">
              <a:lnSpc>
                <a:spcPct val="140606"/>
              </a:lnSpc>
              <a:buNone/>
            </a:pPr>
            <a:r>
              <a:rPr lang="en-US" sz="2175" dirty="0">
                <a:solidFill>
                  <a:srgbClr val="374151"/>
                </a:solidFill>
                <a:latin typeface="Arial" pitchFamily="34" charset="0"/>
                <a:ea typeface="Arial" pitchFamily="34" charset="-122"/>
                <a:cs typeface="Arial" pitchFamily="34" charset="-120"/>
              </a:rPr>
              <a:t>각 노드가 선행 토픽·액션 서버가 실제로 떴는지 확인한 뒤 시작 → 타이밍 실패 감소</a:t>
            </a:r>
            <a:endParaRPr lang="en-US" sz="2175" dirty="0"/>
          </a:p>
        </p:txBody>
      </p:sp>
      <p:sp>
        <p:nvSpPr>
          <p:cNvPr id="33" name="Shape 31"/>
          <p:cNvSpPr/>
          <p:nvPr/>
        </p:nvSpPr>
        <p:spPr>
          <a:xfrm>
            <a:off x="9910316" y="5924550"/>
            <a:ext cx="7425035" cy="3057525"/>
          </a:xfrm>
          <a:prstGeom prst="roundRect">
            <a:avLst>
              <a:gd name="adj" fmla="val 5607"/>
            </a:avLst>
          </a:prstGeom>
          <a:solidFill>
            <a:srgbClr val="EEF1FE"/>
          </a:solidFill>
          <a:ln/>
        </p:spPr>
        <p:txBody>
          <a:bodyPr/>
          <a:lstStyle/>
          <a:p>
            <a:endParaRPr lang="ko-KR" altLang="en-US"/>
          </a:p>
        </p:txBody>
      </p:sp>
      <p:sp>
        <p:nvSpPr>
          <p:cNvPr id="34" name="Text 32"/>
          <p:cNvSpPr/>
          <p:nvPr/>
        </p:nvSpPr>
        <p:spPr>
          <a:xfrm>
            <a:off x="10253216" y="6267450"/>
            <a:ext cx="7413159" cy="390525"/>
          </a:xfrm>
          <a:prstGeom prst="rect">
            <a:avLst/>
          </a:prstGeom>
          <a:noFill/>
          <a:ln/>
        </p:spPr>
        <p:txBody>
          <a:bodyPr wrap="square" lIns="25400" tIns="25400" rIns="25400" bIns="25400" rtlCol="0" anchor="t">
            <a:normAutofit/>
          </a:bodyPr>
          <a:lstStyle/>
          <a:p>
            <a:pPr marL="0" indent="0" algn="l">
              <a:buNone/>
            </a:pPr>
            <a:r>
              <a:rPr lang="en-US" sz="1950" b="1" kern="0" spc="117" dirty="0">
                <a:solidFill>
                  <a:srgbClr val="7188F1"/>
                </a:solidFill>
                <a:latin typeface="Arial" pitchFamily="34" charset="0"/>
                <a:ea typeface="Arial" pitchFamily="34" charset="-122"/>
                <a:cs typeface="Arial" pitchFamily="34" charset="-120"/>
              </a:rPr>
              <a:t>2단 복구 구조</a:t>
            </a:r>
            <a:endParaRPr lang="en-US" sz="1950" dirty="0"/>
          </a:p>
        </p:txBody>
      </p:sp>
      <p:sp>
        <p:nvSpPr>
          <p:cNvPr id="35" name="Text 33"/>
          <p:cNvSpPr/>
          <p:nvPr/>
        </p:nvSpPr>
        <p:spPr>
          <a:xfrm>
            <a:off x="10253216" y="6753225"/>
            <a:ext cx="6941412" cy="921841"/>
          </a:xfrm>
          <a:prstGeom prst="rect">
            <a:avLst/>
          </a:prstGeom>
          <a:noFill/>
          <a:ln/>
        </p:spPr>
        <p:txBody>
          <a:bodyPr wrap="square" lIns="25400" tIns="25400" rIns="25400" bIns="25400" rtlCol="0" anchor="t">
            <a:normAutofit lnSpcReduction="10000"/>
          </a:bodyPr>
          <a:lstStyle/>
          <a:p>
            <a:pPr marL="0" indent="0" algn="l">
              <a:lnSpc>
                <a:spcPct val="140606"/>
              </a:lnSpc>
              <a:buNone/>
            </a:pPr>
            <a:r>
              <a:rPr lang="en-US" sz="2175" dirty="0">
                <a:solidFill>
                  <a:srgbClr val="374151"/>
                </a:solidFill>
                <a:latin typeface="Arial" pitchFamily="34" charset="0"/>
                <a:ea typeface="Arial" pitchFamily="34" charset="-122"/>
                <a:cs typeface="Arial" pitchFamily="34" charset="-120"/>
              </a:rPr>
              <a:t>노드 하나가 죽어도 전체 재부팅 없이 그 </a:t>
            </a:r>
            <a:r>
              <a:rPr lang="en-US" sz="2175" dirty="0" err="1">
                <a:solidFill>
                  <a:srgbClr val="374151"/>
                </a:solidFill>
                <a:latin typeface="Arial" pitchFamily="34" charset="0"/>
                <a:ea typeface="Arial" pitchFamily="34" charset="-122"/>
                <a:cs typeface="Arial" pitchFamily="34" charset="-120"/>
              </a:rPr>
              <a:t>노드만</a:t>
            </a:r>
            <a:endParaRPr lang="en-US" sz="2175" dirty="0">
              <a:solidFill>
                <a:srgbClr val="374151"/>
              </a:solidFill>
              <a:latin typeface="Arial" pitchFamily="34" charset="0"/>
              <a:ea typeface="Arial" pitchFamily="34" charset="-122"/>
              <a:cs typeface="Arial" pitchFamily="34" charset="-120"/>
            </a:endParaRPr>
          </a:p>
          <a:p>
            <a:pPr marL="0" indent="0" algn="l">
              <a:lnSpc>
                <a:spcPct val="140606"/>
              </a:lnSpc>
              <a:buNone/>
            </a:pPr>
            <a:r>
              <a:rPr lang="en-US" sz="2175" dirty="0">
                <a:solidFill>
                  <a:srgbClr val="374151"/>
                </a:solidFill>
                <a:latin typeface="Arial" pitchFamily="34" charset="0"/>
                <a:ea typeface="Arial" pitchFamily="34" charset="-122"/>
                <a:cs typeface="Arial" pitchFamily="34" charset="-120"/>
              </a:rPr>
              <a:t> tmux 루프가 재시작</a:t>
            </a:r>
            <a:endParaRPr lang="en-US" sz="2175" dirty="0"/>
          </a:p>
        </p:txBody>
      </p:sp>
      <p:sp>
        <p:nvSpPr>
          <p:cNvPr id="36" name="Text 34"/>
          <p:cNvSpPr/>
          <p:nvPr/>
        </p:nvSpPr>
        <p:spPr>
          <a:xfrm>
            <a:off x="952500" y="9267825"/>
            <a:ext cx="3272745" cy="37147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37" name="Text 35"/>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12</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397520"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11</a:t>
            </a:r>
            <a:endParaRPr lang="en-US" sz="1950" dirty="0"/>
          </a:p>
        </p:txBody>
      </p:sp>
      <p:sp>
        <p:nvSpPr>
          <p:cNvPr id="3" name="Shape 1"/>
          <p:cNvSpPr/>
          <p:nvPr/>
        </p:nvSpPr>
        <p:spPr>
          <a:xfrm>
            <a:off x="1464320" y="1004887"/>
            <a:ext cx="457200" cy="19050"/>
          </a:xfrm>
          <a:prstGeom prst="rect">
            <a:avLst/>
          </a:prstGeom>
          <a:solidFill>
            <a:srgbClr val="E5E7EB"/>
          </a:solidFill>
          <a:ln/>
        </p:spPr>
        <p:txBody>
          <a:bodyPr/>
          <a:lstStyle/>
          <a:p>
            <a:endParaRPr lang="ko-KR" altLang="en-US"/>
          </a:p>
        </p:txBody>
      </p:sp>
      <p:sp>
        <p:nvSpPr>
          <p:cNvPr id="4" name="Text 2"/>
          <p:cNvSpPr/>
          <p:nvPr/>
        </p:nvSpPr>
        <p:spPr>
          <a:xfrm>
            <a:off x="2112020" y="838200"/>
            <a:ext cx="245108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통신 단절 대응</a:t>
            </a:r>
            <a:endParaRPr lang="en-US" sz="1950" dirty="0"/>
          </a:p>
        </p:txBody>
      </p:sp>
      <p:sp>
        <p:nvSpPr>
          <p:cNvPr id="5" name="Text 3"/>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단절을 감지하면 멈추고 홈으로 돌아옵니다</a:t>
            </a:r>
            <a:endParaRPr lang="en-US" sz="4650" dirty="0"/>
          </a:p>
        </p:txBody>
      </p:sp>
      <p:sp>
        <p:nvSpPr>
          <p:cNvPr id="7" name="Shape 5"/>
          <p:cNvSpPr/>
          <p:nvPr/>
        </p:nvSpPr>
        <p:spPr>
          <a:xfrm>
            <a:off x="952500" y="2569483"/>
            <a:ext cx="16459200" cy="1000125"/>
          </a:xfrm>
          <a:prstGeom prst="roundRect">
            <a:avLst>
              <a:gd name="adj" fmla="val 13333"/>
            </a:avLst>
          </a:prstGeom>
          <a:solidFill>
            <a:srgbClr val="EAF7F5"/>
          </a:solidFill>
          <a:ln/>
        </p:spPr>
        <p:txBody>
          <a:bodyPr/>
          <a:lstStyle/>
          <a:p>
            <a:endParaRPr lang="ko-KR" altLang="en-US"/>
          </a:p>
        </p:txBody>
      </p:sp>
      <p:sp>
        <p:nvSpPr>
          <p:cNvPr id="8" name="Text 6"/>
          <p:cNvSpPr/>
          <p:nvPr/>
        </p:nvSpPr>
        <p:spPr>
          <a:xfrm>
            <a:off x="1276349" y="2869521"/>
            <a:ext cx="1152287"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6BC9BE"/>
                </a:solidFill>
                <a:latin typeface="Arial" pitchFamily="34" charset="0"/>
                <a:ea typeface="Arial" pitchFamily="34" charset="-122"/>
                <a:cs typeface="Arial" pitchFamily="34" charset="-120"/>
              </a:rPr>
              <a:t>01</a:t>
            </a:r>
            <a:endParaRPr lang="en-US" sz="2700" dirty="0"/>
          </a:p>
        </p:txBody>
      </p:sp>
      <p:sp>
        <p:nvSpPr>
          <p:cNvPr id="9" name="Text 7"/>
          <p:cNvSpPr/>
          <p:nvPr/>
        </p:nvSpPr>
        <p:spPr>
          <a:xfrm>
            <a:off x="2038349" y="2855233"/>
            <a:ext cx="7194841" cy="466725"/>
          </a:xfrm>
          <a:prstGeom prst="rect">
            <a:avLst/>
          </a:prstGeom>
          <a:noFill/>
          <a:ln/>
        </p:spPr>
        <p:txBody>
          <a:bodyPr wrap="square" lIns="25400" tIns="25400" rIns="25400" bIns="25400" rtlCol="0" anchor="t">
            <a:normAutofit/>
          </a:bodyPr>
          <a:lstStyle/>
          <a:p>
            <a:pPr marL="0" indent="0" algn="l">
              <a:lnSpc>
                <a:spcPct val="132353"/>
              </a:lnSpc>
              <a:buNone/>
            </a:pPr>
            <a:r>
              <a:rPr lang="en-US" altLang="ko-KR" sz="2250" dirty="0" err="1"/>
              <a:t>wifi</a:t>
            </a:r>
            <a:r>
              <a:rPr lang="ko-KR" altLang="en-US" sz="2250" dirty="0"/>
              <a:t> 연결 끊김 감지</a:t>
            </a:r>
            <a:endParaRPr lang="en-US" altLang="ko-KR" sz="2250" dirty="0"/>
          </a:p>
        </p:txBody>
      </p:sp>
      <p:sp>
        <p:nvSpPr>
          <p:cNvPr id="10" name="Shape 8"/>
          <p:cNvSpPr/>
          <p:nvPr/>
        </p:nvSpPr>
        <p:spPr>
          <a:xfrm>
            <a:off x="952500" y="3722008"/>
            <a:ext cx="16459200" cy="1000125"/>
          </a:xfrm>
          <a:prstGeom prst="roundRect">
            <a:avLst>
              <a:gd name="adj" fmla="val 13333"/>
            </a:avLst>
          </a:prstGeom>
          <a:solidFill>
            <a:srgbClr val="F9FAFB"/>
          </a:solidFill>
          <a:ln/>
        </p:spPr>
        <p:txBody>
          <a:bodyPr/>
          <a:lstStyle/>
          <a:p>
            <a:endParaRPr lang="ko-KR" altLang="en-US"/>
          </a:p>
        </p:txBody>
      </p:sp>
      <p:sp>
        <p:nvSpPr>
          <p:cNvPr id="11" name="Text 9"/>
          <p:cNvSpPr/>
          <p:nvPr/>
        </p:nvSpPr>
        <p:spPr>
          <a:xfrm>
            <a:off x="1276349" y="4022046"/>
            <a:ext cx="1152287"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6BC9BE"/>
                </a:solidFill>
                <a:latin typeface="Arial" pitchFamily="34" charset="0"/>
                <a:ea typeface="Arial" pitchFamily="34" charset="-122"/>
                <a:cs typeface="Arial" pitchFamily="34" charset="-120"/>
              </a:rPr>
              <a:t>02</a:t>
            </a:r>
            <a:endParaRPr lang="en-US" sz="2700" dirty="0"/>
          </a:p>
        </p:txBody>
      </p:sp>
      <p:sp>
        <p:nvSpPr>
          <p:cNvPr id="12" name="Text 10"/>
          <p:cNvSpPr/>
          <p:nvPr/>
        </p:nvSpPr>
        <p:spPr>
          <a:xfrm>
            <a:off x="2038349" y="4007758"/>
            <a:ext cx="13238284" cy="466725"/>
          </a:xfrm>
          <a:prstGeom prst="rect">
            <a:avLst/>
          </a:prstGeom>
          <a:noFill/>
          <a:ln/>
        </p:spPr>
        <p:txBody>
          <a:bodyPr wrap="square" lIns="25400" tIns="25400" rIns="25400" bIns="25400" rtlCol="0" anchor="t">
            <a:normAutofit/>
          </a:bodyPr>
          <a:lstStyle/>
          <a:p>
            <a:pPr marL="0" indent="0" algn="l">
              <a:lnSpc>
                <a:spcPct val="132353"/>
              </a:lnSpc>
              <a:buNone/>
            </a:pPr>
            <a:r>
              <a:rPr lang="ko-KR" altLang="en-US" sz="2250" dirty="0">
                <a:solidFill>
                  <a:srgbClr val="111827"/>
                </a:solidFill>
                <a:latin typeface="Arial" pitchFamily="34" charset="0"/>
                <a:ea typeface="Arial" pitchFamily="34" charset="-122"/>
                <a:cs typeface="Arial" pitchFamily="34" charset="-120"/>
              </a:rPr>
              <a:t>연결 끊기면 즉시 정지 </a:t>
            </a:r>
            <a:r>
              <a:rPr lang="en-US" altLang="ko-KR" sz="2250" dirty="0">
                <a:solidFill>
                  <a:srgbClr val="111827"/>
                </a:solidFill>
                <a:latin typeface="Arial" pitchFamily="34" charset="0"/>
                <a:ea typeface="Arial" pitchFamily="34" charset="-122"/>
                <a:cs typeface="Arial" pitchFamily="34" charset="-120"/>
              </a:rPr>
              <a:t>+ </a:t>
            </a:r>
            <a:r>
              <a:rPr lang="ko-KR" altLang="en-US" sz="2250" dirty="0">
                <a:solidFill>
                  <a:srgbClr val="111827"/>
                </a:solidFill>
                <a:latin typeface="Arial" pitchFamily="34" charset="0"/>
                <a:ea typeface="Arial" pitchFamily="34" charset="-122"/>
                <a:cs typeface="Arial" pitchFamily="34" charset="-120"/>
              </a:rPr>
              <a:t>상태 음성 출력</a:t>
            </a:r>
            <a:endParaRPr lang="en-US" sz="2250" dirty="0"/>
          </a:p>
        </p:txBody>
      </p:sp>
      <p:sp>
        <p:nvSpPr>
          <p:cNvPr id="13" name="Shape 11"/>
          <p:cNvSpPr/>
          <p:nvPr/>
        </p:nvSpPr>
        <p:spPr>
          <a:xfrm>
            <a:off x="952500" y="4874533"/>
            <a:ext cx="16459200" cy="1000125"/>
          </a:xfrm>
          <a:prstGeom prst="roundRect">
            <a:avLst>
              <a:gd name="adj" fmla="val 13333"/>
            </a:avLst>
          </a:prstGeom>
          <a:solidFill>
            <a:srgbClr val="F9FAFB"/>
          </a:solidFill>
          <a:ln/>
        </p:spPr>
        <p:txBody>
          <a:bodyPr/>
          <a:lstStyle/>
          <a:p>
            <a:endParaRPr lang="ko-KR" altLang="en-US"/>
          </a:p>
        </p:txBody>
      </p:sp>
      <p:sp>
        <p:nvSpPr>
          <p:cNvPr id="14" name="Text 12"/>
          <p:cNvSpPr/>
          <p:nvPr/>
        </p:nvSpPr>
        <p:spPr>
          <a:xfrm>
            <a:off x="1276349" y="5174571"/>
            <a:ext cx="1152287"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7188F1"/>
                </a:solidFill>
                <a:latin typeface="Arial" pitchFamily="34" charset="0"/>
                <a:ea typeface="Arial" pitchFamily="34" charset="-122"/>
                <a:cs typeface="Arial" pitchFamily="34" charset="-120"/>
              </a:rPr>
              <a:t>03</a:t>
            </a:r>
            <a:endParaRPr lang="en-US" sz="2700" dirty="0"/>
          </a:p>
        </p:txBody>
      </p:sp>
      <p:sp>
        <p:nvSpPr>
          <p:cNvPr id="15" name="Text 13"/>
          <p:cNvSpPr/>
          <p:nvPr/>
        </p:nvSpPr>
        <p:spPr>
          <a:xfrm>
            <a:off x="2038349" y="5160283"/>
            <a:ext cx="9741165" cy="466725"/>
          </a:xfrm>
          <a:prstGeom prst="rect">
            <a:avLst/>
          </a:prstGeom>
          <a:noFill/>
          <a:ln/>
        </p:spPr>
        <p:txBody>
          <a:bodyPr wrap="square" lIns="25400" tIns="25400" rIns="25400" bIns="25400" rtlCol="0" anchor="t">
            <a:normAutofit/>
          </a:bodyPr>
          <a:lstStyle/>
          <a:p>
            <a:pPr>
              <a:lnSpc>
                <a:spcPct val="132353"/>
              </a:lnSpc>
            </a:pPr>
            <a:r>
              <a:rPr lang="en-US" altLang="ko-KR" sz="2250" dirty="0">
                <a:solidFill>
                  <a:srgbClr val="111827"/>
                </a:solidFill>
                <a:latin typeface="Arial" pitchFamily="34" charset="0"/>
                <a:ea typeface="Arial" pitchFamily="34" charset="-122"/>
                <a:cs typeface="Arial" pitchFamily="34" charset="-120"/>
              </a:rPr>
              <a:t>홈 </a:t>
            </a:r>
            <a:r>
              <a:rPr lang="en-US" altLang="ko-KR" sz="2250" dirty="0" err="1">
                <a:solidFill>
                  <a:srgbClr val="111827"/>
                </a:solidFill>
                <a:latin typeface="Arial" pitchFamily="34" charset="0"/>
                <a:ea typeface="Arial" pitchFamily="34" charset="-122"/>
                <a:cs typeface="Arial" pitchFamily="34" charset="-120"/>
              </a:rPr>
              <a:t>웨이포인트로</a:t>
            </a:r>
            <a:r>
              <a:rPr lang="en-US" altLang="ko-KR" sz="2250" dirty="0">
                <a:solidFill>
                  <a:srgbClr val="111827"/>
                </a:solidFill>
                <a:latin typeface="Arial" pitchFamily="34" charset="0"/>
                <a:ea typeface="Arial" pitchFamily="34" charset="-122"/>
                <a:cs typeface="Arial" pitchFamily="34" charset="-120"/>
              </a:rPr>
              <a:t> </a:t>
            </a:r>
            <a:r>
              <a:rPr lang="en-US" altLang="ko-KR" sz="2250" dirty="0" err="1">
                <a:solidFill>
                  <a:srgbClr val="111827"/>
                </a:solidFill>
                <a:latin typeface="Arial" pitchFamily="34" charset="0"/>
                <a:ea typeface="Arial" pitchFamily="34" charset="-122"/>
                <a:cs typeface="Arial" pitchFamily="34" charset="-120"/>
              </a:rPr>
              <a:t>복귀</a:t>
            </a:r>
            <a:r>
              <a:rPr lang="en-US" altLang="ko-KR" sz="2250" dirty="0">
                <a:solidFill>
                  <a:srgbClr val="111827"/>
                </a:solidFill>
                <a:latin typeface="Arial" pitchFamily="34" charset="0"/>
                <a:ea typeface="Arial" pitchFamily="34" charset="-122"/>
                <a:cs typeface="Arial" pitchFamily="34" charset="-120"/>
              </a:rPr>
              <a:t> </a:t>
            </a:r>
            <a:r>
              <a:rPr lang="en-US" altLang="ko-KR" sz="2250" dirty="0" err="1">
                <a:solidFill>
                  <a:srgbClr val="111827"/>
                </a:solidFill>
                <a:latin typeface="Arial" pitchFamily="34" charset="0"/>
                <a:ea typeface="Arial" pitchFamily="34" charset="-122"/>
                <a:cs typeface="Arial" pitchFamily="34" charset="-120"/>
              </a:rPr>
              <a:t>이동</a:t>
            </a:r>
            <a:endParaRPr lang="en-US" altLang="ko-KR" sz="2250" dirty="0"/>
          </a:p>
        </p:txBody>
      </p:sp>
      <p:sp>
        <p:nvSpPr>
          <p:cNvPr id="16" name="Shape 14"/>
          <p:cNvSpPr/>
          <p:nvPr/>
        </p:nvSpPr>
        <p:spPr>
          <a:xfrm>
            <a:off x="952500" y="6027058"/>
            <a:ext cx="16459200" cy="1000125"/>
          </a:xfrm>
          <a:prstGeom prst="roundRect">
            <a:avLst>
              <a:gd name="adj" fmla="val 13333"/>
            </a:avLst>
          </a:prstGeom>
          <a:solidFill>
            <a:srgbClr val="EEF1FE"/>
          </a:solidFill>
          <a:ln/>
        </p:spPr>
        <p:txBody>
          <a:bodyPr/>
          <a:lstStyle/>
          <a:p>
            <a:endParaRPr lang="ko-KR" altLang="en-US"/>
          </a:p>
        </p:txBody>
      </p:sp>
      <p:sp>
        <p:nvSpPr>
          <p:cNvPr id="17" name="Text 15"/>
          <p:cNvSpPr/>
          <p:nvPr/>
        </p:nvSpPr>
        <p:spPr>
          <a:xfrm>
            <a:off x="1276349" y="6327096"/>
            <a:ext cx="1152287" cy="43815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7188F1"/>
                </a:solidFill>
                <a:latin typeface="Arial" pitchFamily="34" charset="0"/>
                <a:ea typeface="Arial" pitchFamily="34" charset="-122"/>
                <a:cs typeface="Arial" pitchFamily="34" charset="-120"/>
              </a:rPr>
              <a:t>04</a:t>
            </a:r>
            <a:endParaRPr lang="en-US" sz="2700" dirty="0"/>
          </a:p>
        </p:txBody>
      </p:sp>
      <p:sp>
        <p:nvSpPr>
          <p:cNvPr id="18" name="Text 16"/>
          <p:cNvSpPr/>
          <p:nvPr/>
        </p:nvSpPr>
        <p:spPr>
          <a:xfrm>
            <a:off x="2038349" y="6312808"/>
            <a:ext cx="9666987" cy="466725"/>
          </a:xfrm>
          <a:prstGeom prst="rect">
            <a:avLst/>
          </a:prstGeom>
          <a:noFill/>
          <a:ln/>
        </p:spPr>
        <p:txBody>
          <a:bodyPr wrap="square" lIns="25400" tIns="25400" rIns="25400" bIns="25400" rtlCol="0" anchor="t">
            <a:normAutofit/>
          </a:bodyPr>
          <a:lstStyle/>
          <a:p>
            <a:pPr marL="0" indent="0" algn="l">
              <a:lnSpc>
                <a:spcPct val="132353"/>
              </a:lnSpc>
              <a:buNone/>
            </a:pPr>
            <a:r>
              <a:rPr lang="ko-KR" altLang="en-US" sz="2250" dirty="0" err="1">
                <a:solidFill>
                  <a:srgbClr val="111827"/>
                </a:solidFill>
                <a:latin typeface="Arial" pitchFamily="34" charset="0"/>
                <a:cs typeface="Arial" pitchFamily="34" charset="-120"/>
              </a:rPr>
              <a:t>재접속</a:t>
            </a:r>
            <a:r>
              <a:rPr lang="ko-KR" altLang="en-US" sz="2250" dirty="0">
                <a:solidFill>
                  <a:srgbClr val="111827"/>
                </a:solidFill>
                <a:latin typeface="Arial" pitchFamily="34" charset="0"/>
                <a:cs typeface="Arial" pitchFamily="34" charset="-120"/>
              </a:rPr>
              <a:t> 시 </a:t>
            </a:r>
            <a:r>
              <a:rPr lang="en-US" altLang="ko-KR" sz="2250" dirty="0" err="1">
                <a:solidFill>
                  <a:srgbClr val="111827"/>
                </a:solidFill>
                <a:latin typeface="Arial" pitchFamily="34" charset="0"/>
                <a:cs typeface="Arial" pitchFamily="34" charset="-120"/>
              </a:rPr>
              <a:t>wifi</a:t>
            </a:r>
            <a:r>
              <a:rPr lang="en-US" altLang="ko-KR" sz="2250" dirty="0">
                <a:solidFill>
                  <a:srgbClr val="111827"/>
                </a:solidFill>
                <a:latin typeface="Arial" pitchFamily="34" charset="0"/>
                <a:cs typeface="Arial" pitchFamily="34" charset="-120"/>
              </a:rPr>
              <a:t> </a:t>
            </a:r>
            <a:r>
              <a:rPr lang="ko-KR" altLang="en-US" sz="2250" dirty="0">
                <a:solidFill>
                  <a:srgbClr val="111827"/>
                </a:solidFill>
                <a:latin typeface="Arial" pitchFamily="34" charset="0"/>
                <a:cs typeface="Arial" pitchFamily="34" charset="-120"/>
              </a:rPr>
              <a:t>연결 감지 로그 출력</a:t>
            </a:r>
            <a:endParaRPr lang="en-US" sz="2250" dirty="0"/>
          </a:p>
        </p:txBody>
      </p:sp>
      <p:sp>
        <p:nvSpPr>
          <p:cNvPr id="22" name="Text 20"/>
          <p:cNvSpPr/>
          <p:nvPr/>
        </p:nvSpPr>
        <p:spPr>
          <a:xfrm>
            <a:off x="952500" y="9267825"/>
            <a:ext cx="4933999"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23" name="Text 21"/>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13</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12</a:t>
            </a:r>
            <a:endParaRPr lang="en-US" sz="1950" dirty="0"/>
          </a:p>
        </p:txBody>
      </p:sp>
      <p:sp>
        <p:nvSpPr>
          <p:cNvPr id="3" name="Shape 1"/>
          <p:cNvSpPr/>
          <p:nvPr/>
        </p:nvSpPr>
        <p:spPr>
          <a:xfrm>
            <a:off x="1478012" y="1004887"/>
            <a:ext cx="457200" cy="19050"/>
          </a:xfrm>
          <a:prstGeom prst="rect">
            <a:avLst/>
          </a:prstGeom>
          <a:solidFill>
            <a:srgbClr val="E5E7EB"/>
          </a:solidFill>
          <a:ln/>
        </p:spPr>
        <p:txBody>
          <a:bodyPr/>
          <a:lstStyle/>
          <a:p>
            <a:endParaRPr lang="ko-KR" altLang="en-US"/>
          </a:p>
        </p:txBody>
      </p:sp>
      <p:sp>
        <p:nvSpPr>
          <p:cNvPr id="4" name="Text 2"/>
          <p:cNvSpPr/>
          <p:nvPr/>
        </p:nvSpPr>
        <p:spPr>
          <a:xfrm>
            <a:off x="2125711" y="838200"/>
            <a:ext cx="2693031"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문제점과 해결 과정</a:t>
            </a:r>
            <a:endParaRPr lang="en-US" sz="1950" dirty="0"/>
          </a:p>
        </p:txBody>
      </p:sp>
      <p:sp>
        <p:nvSpPr>
          <p:cNvPr id="5" name="Text 3"/>
          <p:cNvSpPr/>
          <p:nvPr/>
        </p:nvSpPr>
        <p:spPr>
          <a:xfrm>
            <a:off x="952500" y="1438275"/>
            <a:ext cx="18021300" cy="809625"/>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111827"/>
                </a:solidFill>
                <a:latin typeface="Arial" pitchFamily="34" charset="0"/>
                <a:ea typeface="Arial" pitchFamily="34" charset="-122"/>
                <a:cs typeface="Arial" pitchFamily="34" charset="-120"/>
              </a:rPr>
              <a:t>오인식 · 도착 판정 · 조명, 세 가지를 잡았습니다</a:t>
            </a:r>
            <a:endParaRPr lang="en-US" sz="4200" dirty="0"/>
          </a:p>
        </p:txBody>
      </p:sp>
      <p:sp>
        <p:nvSpPr>
          <p:cNvPr id="6" name="Shape 4"/>
          <p:cNvSpPr/>
          <p:nvPr/>
        </p:nvSpPr>
        <p:spPr>
          <a:xfrm>
            <a:off x="952500" y="2552700"/>
            <a:ext cx="5283101" cy="6429375"/>
          </a:xfrm>
          <a:prstGeom prst="roundRect">
            <a:avLst>
              <a:gd name="adj" fmla="val 3606"/>
            </a:avLst>
          </a:prstGeom>
          <a:ln w="19050">
            <a:solidFill>
              <a:srgbClr val="E5E7EB"/>
            </a:solidFill>
            <a:prstDash val="solid"/>
          </a:ln>
        </p:spPr>
        <p:txBody>
          <a:bodyPr/>
          <a:lstStyle/>
          <a:p>
            <a:endParaRPr lang="ko-KR" altLang="en-US"/>
          </a:p>
        </p:txBody>
      </p:sp>
      <p:sp>
        <p:nvSpPr>
          <p:cNvPr id="7" name="Text 5"/>
          <p:cNvSpPr/>
          <p:nvPr/>
        </p:nvSpPr>
        <p:spPr>
          <a:xfrm>
            <a:off x="1295400" y="2895600"/>
            <a:ext cx="5057031" cy="3714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6BC9BE"/>
                </a:solidFill>
                <a:latin typeface="Arial" pitchFamily="34" charset="0"/>
                <a:ea typeface="Arial" pitchFamily="34" charset="-122"/>
                <a:cs typeface="Arial" pitchFamily="34" charset="-120"/>
              </a:rPr>
              <a:t>PROBLEM 1 · S코스</a:t>
            </a:r>
            <a:endParaRPr lang="en-US" sz="1800" dirty="0"/>
          </a:p>
        </p:txBody>
      </p:sp>
      <p:sp>
        <p:nvSpPr>
          <p:cNvPr id="8" name="Text 6"/>
          <p:cNvSpPr/>
          <p:nvPr/>
        </p:nvSpPr>
        <p:spPr>
          <a:xfrm>
            <a:off x="1295400" y="3324225"/>
            <a:ext cx="5057031" cy="449461"/>
          </a:xfrm>
          <a:prstGeom prst="rect">
            <a:avLst/>
          </a:prstGeom>
          <a:noFill/>
          <a:ln/>
        </p:spPr>
        <p:txBody>
          <a:bodyPr wrap="square" lIns="25400" tIns="25400" rIns="25400" bIns="25400" rtlCol="0" anchor="t">
            <a:normAutofit/>
          </a:bodyPr>
          <a:lstStyle/>
          <a:p>
            <a:pPr marL="0" indent="0" algn="l">
              <a:lnSpc>
                <a:spcPct val="116757"/>
              </a:lnSpc>
              <a:buNone/>
            </a:pPr>
            <a:r>
              <a:rPr lang="en-US" sz="2400" b="1" dirty="0">
                <a:solidFill>
                  <a:srgbClr val="111827"/>
                </a:solidFill>
                <a:latin typeface="Arial" pitchFamily="34" charset="0"/>
                <a:ea typeface="Arial" pitchFamily="34" charset="-122"/>
                <a:cs typeface="Arial" pitchFamily="34" charset="-120"/>
              </a:rPr>
              <a:t>벽·가구를 라인으로 착각</a:t>
            </a:r>
            <a:endParaRPr lang="en-US" sz="2400" dirty="0"/>
          </a:p>
        </p:txBody>
      </p:sp>
      <p:sp>
        <p:nvSpPr>
          <p:cNvPr id="9" name="Text 7"/>
          <p:cNvSpPr/>
          <p:nvPr/>
        </p:nvSpPr>
        <p:spPr>
          <a:xfrm>
            <a:off x="1295400" y="3983236"/>
            <a:ext cx="5057031"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9CA3AF"/>
                </a:solidFill>
                <a:latin typeface="Arial" pitchFamily="34" charset="0"/>
                <a:ea typeface="Arial" pitchFamily="34" charset="-122"/>
                <a:cs typeface="Arial" pitchFamily="34" charset="-120"/>
              </a:rPr>
              <a:t>① 원인</a:t>
            </a:r>
            <a:endParaRPr lang="en-US" sz="1875" dirty="0"/>
          </a:p>
        </p:txBody>
      </p:sp>
      <p:sp>
        <p:nvSpPr>
          <p:cNvPr id="10" name="Text 8"/>
          <p:cNvSpPr/>
          <p:nvPr/>
        </p:nvSpPr>
        <p:spPr>
          <a:xfrm>
            <a:off x="1295400" y="4383286"/>
            <a:ext cx="4735220" cy="752475"/>
          </a:xfrm>
          <a:prstGeom prst="rect">
            <a:avLst/>
          </a:prstGeom>
          <a:noFill/>
          <a:ln/>
        </p:spPr>
        <p:txBody>
          <a:bodyPr wrap="square" lIns="25400" tIns="25400" rIns="25400" bIns="25400" rtlCol="0" anchor="t">
            <a:normAutofit lnSpcReduction="10000"/>
          </a:bodyPr>
          <a:lstStyle/>
          <a:p>
            <a:pPr marL="0" indent="0" algn="l">
              <a:lnSpc>
                <a:spcPct val="129310"/>
              </a:lnSpc>
              <a:buNone/>
            </a:pPr>
            <a:r>
              <a:rPr lang="en-US" sz="1875" dirty="0">
                <a:solidFill>
                  <a:srgbClr val="374151"/>
                </a:solidFill>
                <a:latin typeface="Arial" pitchFamily="34" charset="0"/>
                <a:ea typeface="Arial" pitchFamily="34" charset="-122"/>
                <a:cs typeface="Arial" pitchFamily="34" charset="-120"/>
              </a:rPr>
              <a:t>무게중심 단일 조건으로 실제라인과 노이즈 구별 불가</a:t>
            </a:r>
            <a:endParaRPr lang="en-US" sz="1875" dirty="0"/>
          </a:p>
        </p:txBody>
      </p:sp>
      <p:sp>
        <p:nvSpPr>
          <p:cNvPr id="11" name="Text 9"/>
          <p:cNvSpPr/>
          <p:nvPr/>
        </p:nvSpPr>
        <p:spPr>
          <a:xfrm>
            <a:off x="1295400" y="5269111"/>
            <a:ext cx="5057031"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6BC9BE"/>
                </a:solidFill>
                <a:latin typeface="Arial" pitchFamily="34" charset="0"/>
                <a:ea typeface="Arial" pitchFamily="34" charset="-122"/>
                <a:cs typeface="Arial" pitchFamily="34" charset="-120"/>
              </a:rPr>
              <a:t>② 해결</a:t>
            </a:r>
            <a:endParaRPr lang="en-US" sz="1875" dirty="0"/>
          </a:p>
        </p:txBody>
      </p:sp>
      <p:sp>
        <p:nvSpPr>
          <p:cNvPr id="12" name="Text 10"/>
          <p:cNvSpPr/>
          <p:nvPr/>
        </p:nvSpPr>
        <p:spPr>
          <a:xfrm>
            <a:off x="1295400" y="5669161"/>
            <a:ext cx="4735220" cy="752475"/>
          </a:xfrm>
          <a:prstGeom prst="rect">
            <a:avLst/>
          </a:prstGeom>
          <a:noFill/>
          <a:ln/>
        </p:spPr>
        <p:txBody>
          <a:bodyPr wrap="square" lIns="25400" tIns="25400" rIns="25400" bIns="25400" rtlCol="0" anchor="t">
            <a:normAutofit lnSpcReduction="10000"/>
          </a:bodyPr>
          <a:lstStyle/>
          <a:p>
            <a:pPr marL="0" indent="0" algn="l">
              <a:lnSpc>
                <a:spcPct val="129310"/>
              </a:lnSpc>
              <a:buNone/>
            </a:pPr>
            <a:r>
              <a:rPr lang="en-US" sz="1875" dirty="0">
                <a:solidFill>
                  <a:srgbClr val="374151"/>
                </a:solidFill>
                <a:latin typeface="Arial" pitchFamily="34" charset="0"/>
                <a:ea typeface="Arial" pitchFamily="34" charset="-122"/>
                <a:cs typeface="Arial" pitchFamily="34" charset="-120"/>
              </a:rPr>
              <a:t>면적 + 폭(width) 조건을 AND로 순차 필터링 → 오인식 제거, 안정 주행</a:t>
            </a:r>
            <a:endParaRPr lang="en-US" sz="1875" dirty="0"/>
          </a:p>
        </p:txBody>
      </p:sp>
      <p:sp>
        <p:nvSpPr>
          <p:cNvPr id="13" name="Shape 11"/>
          <p:cNvSpPr/>
          <p:nvPr/>
        </p:nvSpPr>
        <p:spPr>
          <a:xfrm>
            <a:off x="6502301" y="2552700"/>
            <a:ext cx="5283250" cy="6429375"/>
          </a:xfrm>
          <a:prstGeom prst="roundRect">
            <a:avLst>
              <a:gd name="adj" fmla="val 3606"/>
            </a:avLst>
          </a:prstGeom>
          <a:ln w="19050">
            <a:solidFill>
              <a:srgbClr val="E5E7EB"/>
            </a:solidFill>
            <a:prstDash val="solid"/>
          </a:ln>
        </p:spPr>
        <p:txBody>
          <a:bodyPr/>
          <a:lstStyle/>
          <a:p>
            <a:endParaRPr lang="ko-KR" altLang="en-US"/>
          </a:p>
        </p:txBody>
      </p:sp>
      <p:sp>
        <p:nvSpPr>
          <p:cNvPr id="14" name="Text 12"/>
          <p:cNvSpPr/>
          <p:nvPr/>
        </p:nvSpPr>
        <p:spPr>
          <a:xfrm>
            <a:off x="6845201" y="2895600"/>
            <a:ext cx="5057195" cy="3714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188F1"/>
                </a:solidFill>
                <a:latin typeface="Arial" pitchFamily="34" charset="0"/>
                <a:ea typeface="Arial" pitchFamily="34" charset="-122"/>
                <a:cs typeface="Arial" pitchFamily="34" charset="-120"/>
              </a:rPr>
              <a:t>PROBLEM 2 · </a:t>
            </a:r>
            <a:r>
              <a:rPr lang="ko-KR" altLang="en-US" sz="1800" b="1" kern="0" spc="108" dirty="0" err="1">
                <a:solidFill>
                  <a:srgbClr val="7188F1"/>
                </a:solidFill>
                <a:latin typeface="Arial" pitchFamily="34" charset="0"/>
                <a:ea typeface="Arial" pitchFamily="34" charset="-122"/>
                <a:cs typeface="Arial" pitchFamily="34" charset="-120"/>
              </a:rPr>
              <a:t>트레이싱</a:t>
            </a:r>
            <a:r>
              <a:rPr lang="ko-KR" altLang="en-US" sz="1800" b="1" kern="0" spc="108" dirty="0">
                <a:solidFill>
                  <a:srgbClr val="7188F1"/>
                </a:solidFill>
                <a:latin typeface="Arial" pitchFamily="34" charset="0"/>
                <a:ea typeface="Arial" pitchFamily="34" charset="-122"/>
                <a:cs typeface="Arial" pitchFamily="34" charset="-120"/>
              </a:rPr>
              <a:t> 코스</a:t>
            </a:r>
            <a:endParaRPr lang="en-US" sz="1800" dirty="0"/>
          </a:p>
        </p:txBody>
      </p:sp>
      <p:sp>
        <p:nvSpPr>
          <p:cNvPr id="15" name="Text 13"/>
          <p:cNvSpPr/>
          <p:nvPr/>
        </p:nvSpPr>
        <p:spPr>
          <a:xfrm>
            <a:off x="6845201" y="3324225"/>
            <a:ext cx="4735373" cy="860822"/>
          </a:xfrm>
          <a:prstGeom prst="rect">
            <a:avLst/>
          </a:prstGeom>
          <a:noFill/>
          <a:ln/>
        </p:spPr>
        <p:txBody>
          <a:bodyPr wrap="square" lIns="25400" tIns="25400" rIns="25400" bIns="25400" rtlCol="0" anchor="t">
            <a:normAutofit lnSpcReduction="10000"/>
          </a:bodyPr>
          <a:lstStyle/>
          <a:p>
            <a:pPr marL="0" indent="0" algn="l">
              <a:lnSpc>
                <a:spcPct val="116757"/>
              </a:lnSpc>
              <a:buNone/>
            </a:pPr>
            <a:r>
              <a:rPr lang="en-US" sz="2400" b="1" dirty="0">
                <a:solidFill>
                  <a:srgbClr val="111827"/>
                </a:solidFill>
                <a:latin typeface="Arial" pitchFamily="34" charset="0"/>
                <a:ea typeface="Arial" pitchFamily="34" charset="-122"/>
                <a:cs typeface="Arial" pitchFamily="34" charset="-120"/>
              </a:rPr>
              <a:t>목표 근처인데 도착을 못 알아채는 문제</a:t>
            </a:r>
            <a:endParaRPr lang="en-US" sz="2400" dirty="0"/>
          </a:p>
        </p:txBody>
      </p:sp>
      <p:sp>
        <p:nvSpPr>
          <p:cNvPr id="16" name="Text 14"/>
          <p:cNvSpPr/>
          <p:nvPr/>
        </p:nvSpPr>
        <p:spPr>
          <a:xfrm>
            <a:off x="6845201" y="4394597"/>
            <a:ext cx="5057195"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9CA3AF"/>
                </a:solidFill>
                <a:latin typeface="Arial" pitchFamily="34" charset="0"/>
                <a:ea typeface="Arial" pitchFamily="34" charset="-122"/>
                <a:cs typeface="Arial" pitchFamily="34" charset="-120"/>
              </a:rPr>
              <a:t>① 원인</a:t>
            </a:r>
            <a:endParaRPr lang="en-US" sz="1875" dirty="0"/>
          </a:p>
        </p:txBody>
      </p:sp>
      <p:sp>
        <p:nvSpPr>
          <p:cNvPr id="17" name="Text 15"/>
          <p:cNvSpPr/>
          <p:nvPr/>
        </p:nvSpPr>
        <p:spPr>
          <a:xfrm>
            <a:off x="6845201" y="4794647"/>
            <a:ext cx="4735373" cy="1128713"/>
          </a:xfrm>
          <a:prstGeom prst="rect">
            <a:avLst/>
          </a:prstGeom>
          <a:noFill/>
          <a:ln/>
        </p:spPr>
        <p:txBody>
          <a:bodyPr wrap="square" lIns="25400" tIns="25400" rIns="25400" bIns="25400" rtlCol="0" anchor="t">
            <a:normAutofit/>
          </a:bodyPr>
          <a:lstStyle/>
          <a:p>
            <a:pPr marL="0" indent="0" algn="l">
              <a:lnSpc>
                <a:spcPct val="129310"/>
              </a:lnSpc>
              <a:buNone/>
            </a:pPr>
            <a:r>
              <a:rPr lang="en-US" sz="1875" dirty="0">
                <a:solidFill>
                  <a:srgbClr val="374151"/>
                </a:solidFill>
                <a:latin typeface="Courier New" pitchFamily="34" charset="0"/>
                <a:ea typeface="Courier New" pitchFamily="34" charset="-122"/>
                <a:cs typeface="Courier New" pitchFamily="34" charset="-120"/>
              </a:rPr>
              <a:t>/amcl_pose </a:t>
            </a:r>
            <a:r>
              <a:rPr lang="en-US" sz="1875" dirty="0">
                <a:solidFill>
                  <a:srgbClr val="374151"/>
                </a:solidFill>
                <a:latin typeface="Arial" pitchFamily="34" charset="0"/>
                <a:ea typeface="Arial" pitchFamily="34" charset="-122"/>
                <a:cs typeface="Arial" pitchFamily="34" charset="-120"/>
              </a:rPr>
              <a:t>는 약 0.57Hz(1.7초 간격) 갱신 → 최대 1.7초 전 위치로 판정, 그 사이 지나치면 놓침</a:t>
            </a:r>
            <a:endParaRPr lang="en-US" sz="1875" dirty="0"/>
          </a:p>
        </p:txBody>
      </p:sp>
      <p:sp>
        <p:nvSpPr>
          <p:cNvPr id="18" name="Text 16"/>
          <p:cNvSpPr/>
          <p:nvPr/>
        </p:nvSpPr>
        <p:spPr>
          <a:xfrm>
            <a:off x="6845201" y="6056709"/>
            <a:ext cx="5057195"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7188F1"/>
                </a:solidFill>
                <a:latin typeface="Arial" pitchFamily="34" charset="0"/>
                <a:ea typeface="Arial" pitchFamily="34" charset="-122"/>
                <a:cs typeface="Arial" pitchFamily="34" charset="-120"/>
              </a:rPr>
              <a:t>② 해결</a:t>
            </a:r>
            <a:endParaRPr lang="en-US" sz="1875" dirty="0"/>
          </a:p>
        </p:txBody>
      </p:sp>
      <p:sp>
        <p:nvSpPr>
          <p:cNvPr id="19" name="Text 17"/>
          <p:cNvSpPr/>
          <p:nvPr/>
        </p:nvSpPr>
        <p:spPr>
          <a:xfrm>
            <a:off x="6845201" y="6456759"/>
            <a:ext cx="4735373" cy="1128713"/>
          </a:xfrm>
          <a:prstGeom prst="rect">
            <a:avLst/>
          </a:prstGeom>
          <a:noFill/>
          <a:ln/>
        </p:spPr>
        <p:txBody>
          <a:bodyPr wrap="square" lIns="25400" tIns="25400" rIns="25400" bIns="25400" rtlCol="0" anchor="t">
            <a:normAutofit/>
          </a:bodyPr>
          <a:lstStyle/>
          <a:p>
            <a:pPr marL="0" indent="0" algn="l">
              <a:lnSpc>
                <a:spcPct val="129310"/>
              </a:lnSpc>
              <a:buNone/>
            </a:pPr>
            <a:r>
              <a:rPr lang="en-US" sz="1875" dirty="0">
                <a:solidFill>
                  <a:srgbClr val="374151"/>
                </a:solidFill>
                <a:latin typeface="Courier New" pitchFamily="34" charset="0"/>
                <a:ea typeface="Courier New" pitchFamily="34" charset="-122"/>
                <a:cs typeface="Courier New" pitchFamily="34" charset="-120"/>
              </a:rPr>
              <a:t>tf_buffer.lookup_transform </a:t>
            </a:r>
            <a:r>
              <a:rPr lang="en-US" sz="1875" dirty="0">
                <a:solidFill>
                  <a:srgbClr val="374151"/>
                </a:solidFill>
                <a:latin typeface="Arial" pitchFamily="34" charset="0"/>
                <a:ea typeface="Arial" pitchFamily="34" charset="-122"/>
                <a:cs typeface="Arial" pitchFamily="34" charset="-120"/>
              </a:rPr>
              <a:t>으로 매번 최신 tf 직접 조회 + 목표 반경 1.5배 내 최근접점 판정 이중 안전장치</a:t>
            </a:r>
            <a:endParaRPr lang="en-US" sz="1875" dirty="0"/>
          </a:p>
        </p:txBody>
      </p:sp>
      <p:sp>
        <p:nvSpPr>
          <p:cNvPr id="20" name="Shape 18"/>
          <p:cNvSpPr/>
          <p:nvPr/>
        </p:nvSpPr>
        <p:spPr>
          <a:xfrm>
            <a:off x="12052250" y="2552700"/>
            <a:ext cx="5283250" cy="6429375"/>
          </a:xfrm>
          <a:prstGeom prst="roundRect">
            <a:avLst>
              <a:gd name="adj" fmla="val 3606"/>
            </a:avLst>
          </a:prstGeom>
          <a:ln w="19050">
            <a:solidFill>
              <a:srgbClr val="E5E7EB"/>
            </a:solidFill>
            <a:prstDash val="solid"/>
          </a:ln>
        </p:spPr>
        <p:txBody>
          <a:bodyPr/>
          <a:lstStyle/>
          <a:p>
            <a:endParaRPr lang="ko-KR" altLang="en-US"/>
          </a:p>
        </p:txBody>
      </p:sp>
      <p:sp>
        <p:nvSpPr>
          <p:cNvPr id="21" name="Text 19"/>
          <p:cNvSpPr/>
          <p:nvPr/>
        </p:nvSpPr>
        <p:spPr>
          <a:xfrm>
            <a:off x="12395150" y="2895600"/>
            <a:ext cx="5057195"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6BC9BE"/>
                </a:solidFill>
                <a:latin typeface="Arial" pitchFamily="34" charset="0"/>
                <a:ea typeface="Arial" pitchFamily="34" charset="-122"/>
                <a:cs typeface="Arial" pitchFamily="34" charset="-120"/>
              </a:rPr>
              <a:t>PROBLEM 3 · HSV</a:t>
            </a:r>
            <a:endParaRPr lang="en-US" sz="1800" dirty="0"/>
          </a:p>
        </p:txBody>
      </p:sp>
      <p:sp>
        <p:nvSpPr>
          <p:cNvPr id="22" name="Text 20"/>
          <p:cNvSpPr/>
          <p:nvPr/>
        </p:nvSpPr>
        <p:spPr>
          <a:xfrm>
            <a:off x="12395150" y="3257550"/>
            <a:ext cx="4735373" cy="860822"/>
          </a:xfrm>
          <a:prstGeom prst="rect">
            <a:avLst/>
          </a:prstGeom>
          <a:noFill/>
          <a:ln/>
        </p:spPr>
        <p:txBody>
          <a:bodyPr wrap="square" lIns="25400" tIns="25400" rIns="25400" bIns="25400" rtlCol="0" anchor="t">
            <a:normAutofit lnSpcReduction="10000"/>
          </a:bodyPr>
          <a:lstStyle/>
          <a:p>
            <a:pPr marL="0" indent="0" algn="l">
              <a:lnSpc>
                <a:spcPct val="116757"/>
              </a:lnSpc>
              <a:buNone/>
            </a:pPr>
            <a:r>
              <a:rPr lang="en-US" sz="2400" b="1" dirty="0">
                <a:solidFill>
                  <a:srgbClr val="111827"/>
                </a:solidFill>
                <a:latin typeface="Arial" pitchFamily="34" charset="0"/>
                <a:ea typeface="Arial" pitchFamily="34" charset="-122"/>
                <a:cs typeface="Arial" pitchFamily="34" charset="-120"/>
              </a:rPr>
              <a:t>조명이 어두워지면 신호등·표지판을 놓침</a:t>
            </a:r>
            <a:endParaRPr lang="en-US" sz="2400" dirty="0"/>
          </a:p>
        </p:txBody>
      </p:sp>
      <p:sp>
        <p:nvSpPr>
          <p:cNvPr id="23" name="Text 21"/>
          <p:cNvSpPr/>
          <p:nvPr/>
        </p:nvSpPr>
        <p:spPr>
          <a:xfrm>
            <a:off x="12395150" y="4327922"/>
            <a:ext cx="5057195"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9CA3AF"/>
                </a:solidFill>
                <a:latin typeface="Arial" pitchFamily="34" charset="0"/>
                <a:ea typeface="Arial" pitchFamily="34" charset="-122"/>
                <a:cs typeface="Arial" pitchFamily="34" charset="-120"/>
              </a:rPr>
              <a:t>① 원인</a:t>
            </a:r>
            <a:endParaRPr lang="en-US" sz="1875" dirty="0"/>
          </a:p>
        </p:txBody>
      </p:sp>
      <p:sp>
        <p:nvSpPr>
          <p:cNvPr id="24" name="Text 22"/>
          <p:cNvSpPr/>
          <p:nvPr/>
        </p:nvSpPr>
        <p:spPr>
          <a:xfrm>
            <a:off x="12395150" y="4727972"/>
            <a:ext cx="5057195" cy="395288"/>
          </a:xfrm>
          <a:prstGeom prst="rect">
            <a:avLst/>
          </a:prstGeom>
          <a:noFill/>
          <a:ln/>
        </p:spPr>
        <p:txBody>
          <a:bodyPr wrap="square" lIns="25400" tIns="25400" rIns="25400" bIns="25400" rtlCol="0" anchor="t">
            <a:normAutofit/>
          </a:bodyPr>
          <a:lstStyle/>
          <a:p>
            <a:pPr marL="0" indent="0" algn="l">
              <a:lnSpc>
                <a:spcPct val="129310"/>
              </a:lnSpc>
              <a:buNone/>
            </a:pPr>
            <a:r>
              <a:rPr lang="en-US" sz="1875" dirty="0">
                <a:solidFill>
                  <a:srgbClr val="374151"/>
                </a:solidFill>
                <a:latin typeface="Arial" pitchFamily="34" charset="0"/>
                <a:ea typeface="Arial" pitchFamily="34" charset="-122"/>
                <a:cs typeface="Arial" pitchFamily="34" charset="-120"/>
              </a:rPr>
              <a:t>저조도 환경에서 채도(S)가 낮게 측정됨</a:t>
            </a:r>
            <a:endParaRPr lang="en-US" sz="1875" dirty="0"/>
          </a:p>
        </p:txBody>
      </p:sp>
      <p:sp>
        <p:nvSpPr>
          <p:cNvPr id="25" name="Text 23"/>
          <p:cNvSpPr/>
          <p:nvPr/>
        </p:nvSpPr>
        <p:spPr>
          <a:xfrm>
            <a:off x="12395150" y="5256609"/>
            <a:ext cx="5057195"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6BC9BE"/>
                </a:solidFill>
                <a:latin typeface="Arial" pitchFamily="34" charset="0"/>
                <a:ea typeface="Arial" pitchFamily="34" charset="-122"/>
                <a:cs typeface="Arial" pitchFamily="34" charset="-120"/>
              </a:rPr>
              <a:t>② 해결</a:t>
            </a:r>
            <a:endParaRPr lang="en-US" sz="1875" dirty="0"/>
          </a:p>
        </p:txBody>
      </p:sp>
      <p:sp>
        <p:nvSpPr>
          <p:cNvPr id="26" name="Text 24"/>
          <p:cNvSpPr/>
          <p:nvPr/>
        </p:nvSpPr>
        <p:spPr>
          <a:xfrm>
            <a:off x="12395150" y="5656659"/>
            <a:ext cx="4735373" cy="752475"/>
          </a:xfrm>
          <a:prstGeom prst="rect">
            <a:avLst/>
          </a:prstGeom>
          <a:noFill/>
          <a:ln/>
        </p:spPr>
        <p:txBody>
          <a:bodyPr wrap="square" lIns="25400" tIns="25400" rIns="25400" bIns="25400" rtlCol="0" anchor="t">
            <a:normAutofit lnSpcReduction="10000"/>
          </a:bodyPr>
          <a:lstStyle/>
          <a:p>
            <a:pPr marL="0" indent="0" algn="l">
              <a:lnSpc>
                <a:spcPct val="129310"/>
              </a:lnSpc>
              <a:buNone/>
            </a:pPr>
            <a:r>
              <a:rPr lang="en-US" sz="1875" dirty="0">
                <a:solidFill>
                  <a:srgbClr val="374151"/>
                </a:solidFill>
                <a:latin typeface="Arial" pitchFamily="34" charset="0"/>
                <a:ea typeface="Arial" pitchFamily="34" charset="-122"/>
                <a:cs typeface="Arial" pitchFamily="34" charset="-120"/>
              </a:rPr>
              <a:t>여러 조명 조건에서 실측해 H·S 허용 범위를 넓혀 저채도 색까지 포함</a:t>
            </a:r>
            <a:endParaRPr lang="en-US" sz="1875" dirty="0"/>
          </a:p>
        </p:txBody>
      </p:sp>
      <p:sp>
        <p:nvSpPr>
          <p:cNvPr id="27" name="Text 25"/>
          <p:cNvSpPr/>
          <p:nvPr/>
        </p:nvSpPr>
        <p:spPr>
          <a:xfrm>
            <a:off x="952500" y="9267825"/>
            <a:ext cx="414349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28" name="Text 26"/>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14</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287500" y="6667500"/>
            <a:ext cx="5715000" cy="5715000"/>
          </a:xfrm>
          <a:prstGeom prst="ellipse">
            <a:avLst/>
          </a:prstGeom>
          <a:solidFill>
            <a:srgbClr val="EAF7F5"/>
          </a:solidFill>
          <a:ln/>
        </p:spPr>
        <p:txBody>
          <a:bodyPr/>
          <a:lstStyle/>
          <a:p>
            <a:endParaRPr lang="ko-KR" altLang="en-US"/>
          </a:p>
        </p:txBody>
      </p:sp>
      <p:sp>
        <p:nvSpPr>
          <p:cNvPr id="3" name="Text 1"/>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13</a:t>
            </a:r>
            <a:endParaRPr lang="en-US" sz="1950" dirty="0"/>
          </a:p>
        </p:txBody>
      </p:sp>
      <p:sp>
        <p:nvSpPr>
          <p:cNvPr id="4" name="Shape 2"/>
          <p:cNvSpPr/>
          <p:nvPr/>
        </p:nvSpPr>
        <p:spPr>
          <a:xfrm>
            <a:off x="1478012" y="1004887"/>
            <a:ext cx="457200" cy="19050"/>
          </a:xfrm>
          <a:prstGeom prst="rect">
            <a:avLst/>
          </a:prstGeom>
          <a:solidFill>
            <a:srgbClr val="E5E7EB"/>
          </a:solidFill>
          <a:ln/>
        </p:spPr>
        <p:txBody>
          <a:bodyPr/>
          <a:lstStyle/>
          <a:p>
            <a:endParaRPr lang="ko-KR" altLang="en-US"/>
          </a:p>
        </p:txBody>
      </p:sp>
      <p:sp>
        <p:nvSpPr>
          <p:cNvPr id="5" name="Text 3"/>
          <p:cNvSpPr/>
          <p:nvPr/>
        </p:nvSpPr>
        <p:spPr>
          <a:xfrm>
            <a:off x="2125712" y="838200"/>
            <a:ext cx="209953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향후 개선 계획</a:t>
            </a:r>
            <a:endParaRPr lang="en-US" sz="1950" dirty="0"/>
          </a:p>
        </p:txBody>
      </p:sp>
      <p:sp>
        <p:nvSpPr>
          <p:cNvPr id="6" name="Text 4"/>
          <p:cNvSpPr/>
          <p:nvPr/>
        </p:nvSpPr>
        <p:spPr>
          <a:xfrm>
            <a:off x="952500" y="1438275"/>
            <a:ext cx="18021300" cy="895350"/>
          </a:xfrm>
          <a:prstGeom prst="rect">
            <a:avLst/>
          </a:prstGeom>
          <a:noFill/>
          <a:ln/>
        </p:spPr>
        <p:txBody>
          <a:bodyPr wrap="square" lIns="25400" tIns="25400" rIns="25400" bIns="25400" rtlCol="0" anchor="t">
            <a:normAutofit/>
          </a:bodyPr>
          <a:lstStyle/>
          <a:p>
            <a:pPr marL="0" indent="0" algn="l">
              <a:buNone/>
            </a:pPr>
            <a:r>
              <a:rPr lang="en-US" sz="4650" b="1" kern="0" spc="-93" dirty="0">
                <a:solidFill>
                  <a:srgbClr val="111827"/>
                </a:solidFill>
                <a:latin typeface="Arial" pitchFamily="34" charset="0"/>
                <a:ea typeface="Arial" pitchFamily="34" charset="-122"/>
                <a:cs typeface="Arial" pitchFamily="34" charset="-120"/>
              </a:rPr>
              <a:t>남은 과제 세 가지</a:t>
            </a:r>
            <a:endParaRPr lang="en-US" sz="4650" dirty="0"/>
          </a:p>
        </p:txBody>
      </p:sp>
      <p:sp>
        <p:nvSpPr>
          <p:cNvPr id="7" name="Shape 5"/>
          <p:cNvSpPr/>
          <p:nvPr/>
        </p:nvSpPr>
        <p:spPr>
          <a:xfrm>
            <a:off x="952500" y="2828925"/>
            <a:ext cx="16383000" cy="1295400"/>
          </a:xfrm>
          <a:prstGeom prst="roundRect">
            <a:avLst>
              <a:gd name="adj" fmla="val 13235"/>
            </a:avLst>
          </a:prstGeom>
          <a:solidFill>
            <a:srgbClr val="FFFFFF"/>
          </a:solidFill>
          <a:ln w="19050">
            <a:solidFill>
              <a:srgbClr val="6BC9BE"/>
            </a:solidFill>
            <a:prstDash val="solid"/>
          </a:ln>
        </p:spPr>
        <p:txBody>
          <a:bodyPr/>
          <a:lstStyle/>
          <a:p>
            <a:endParaRPr lang="ko-KR" altLang="en-US"/>
          </a:p>
        </p:txBody>
      </p:sp>
      <p:sp>
        <p:nvSpPr>
          <p:cNvPr id="8" name="Text 6"/>
          <p:cNvSpPr/>
          <p:nvPr/>
        </p:nvSpPr>
        <p:spPr>
          <a:xfrm>
            <a:off x="1390650" y="3262313"/>
            <a:ext cx="685800" cy="46672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6BC9BE"/>
                </a:solidFill>
                <a:latin typeface="Arial" pitchFamily="34" charset="0"/>
                <a:ea typeface="Arial" pitchFamily="34" charset="-122"/>
                <a:cs typeface="Arial" pitchFamily="34" charset="-120"/>
              </a:rPr>
              <a:t>01</a:t>
            </a:r>
            <a:endParaRPr lang="en-US" sz="3000" dirty="0"/>
          </a:p>
        </p:txBody>
      </p:sp>
      <p:sp>
        <p:nvSpPr>
          <p:cNvPr id="9" name="Text 7"/>
          <p:cNvSpPr/>
          <p:nvPr/>
        </p:nvSpPr>
        <p:spPr>
          <a:xfrm>
            <a:off x="2305050" y="3228975"/>
            <a:ext cx="7513022" cy="533400"/>
          </a:xfrm>
          <a:prstGeom prst="rect">
            <a:avLst/>
          </a:prstGeom>
          <a:noFill/>
          <a:ln/>
        </p:spPr>
        <p:txBody>
          <a:bodyPr wrap="square" lIns="25400" tIns="25400" rIns="25400" bIns="25400" rtlCol="0" anchor="t">
            <a:normAutofit/>
          </a:bodyPr>
          <a:lstStyle/>
          <a:p>
            <a:pPr marL="0" indent="0" algn="l">
              <a:buNone/>
            </a:pPr>
            <a:r>
              <a:rPr lang="en-US" sz="2700" b="1" dirty="0">
                <a:solidFill>
                  <a:srgbClr val="111827"/>
                </a:solidFill>
                <a:latin typeface="Arial" pitchFamily="34" charset="0"/>
                <a:ea typeface="Arial" pitchFamily="34" charset="-122"/>
                <a:cs typeface="Arial" pitchFamily="34" charset="-120"/>
              </a:rPr>
              <a:t>GUI 대시보드에 누적 실행 통계 표시 기능 추가</a:t>
            </a:r>
            <a:endParaRPr lang="en-US" sz="2700" dirty="0"/>
          </a:p>
        </p:txBody>
      </p:sp>
      <p:sp>
        <p:nvSpPr>
          <p:cNvPr id="10" name="Shape 8"/>
          <p:cNvSpPr/>
          <p:nvPr/>
        </p:nvSpPr>
        <p:spPr>
          <a:xfrm>
            <a:off x="952500" y="4352925"/>
            <a:ext cx="16383000" cy="1295400"/>
          </a:xfrm>
          <a:prstGeom prst="roundRect">
            <a:avLst>
              <a:gd name="adj" fmla="val 13235"/>
            </a:avLst>
          </a:prstGeom>
          <a:solidFill>
            <a:srgbClr val="FFFFFF"/>
          </a:solidFill>
          <a:ln w="19050">
            <a:solidFill>
              <a:srgbClr val="7188F1"/>
            </a:solidFill>
            <a:prstDash val="solid"/>
          </a:ln>
        </p:spPr>
        <p:txBody>
          <a:bodyPr/>
          <a:lstStyle/>
          <a:p>
            <a:endParaRPr lang="ko-KR" altLang="en-US"/>
          </a:p>
        </p:txBody>
      </p:sp>
      <p:sp>
        <p:nvSpPr>
          <p:cNvPr id="11" name="Text 9"/>
          <p:cNvSpPr/>
          <p:nvPr/>
        </p:nvSpPr>
        <p:spPr>
          <a:xfrm>
            <a:off x="1390650" y="4786313"/>
            <a:ext cx="685800" cy="46672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7188F1"/>
                </a:solidFill>
                <a:latin typeface="Arial" pitchFamily="34" charset="0"/>
                <a:ea typeface="Arial" pitchFamily="34" charset="-122"/>
                <a:cs typeface="Arial" pitchFamily="34" charset="-120"/>
              </a:rPr>
              <a:t>02</a:t>
            </a:r>
            <a:endParaRPr lang="en-US" sz="3000" dirty="0"/>
          </a:p>
        </p:txBody>
      </p:sp>
      <p:sp>
        <p:nvSpPr>
          <p:cNvPr id="12" name="Text 10"/>
          <p:cNvSpPr/>
          <p:nvPr/>
        </p:nvSpPr>
        <p:spPr>
          <a:xfrm>
            <a:off x="2305050" y="4752975"/>
            <a:ext cx="4341287" cy="533400"/>
          </a:xfrm>
          <a:prstGeom prst="rect">
            <a:avLst/>
          </a:prstGeom>
          <a:noFill/>
          <a:ln/>
        </p:spPr>
        <p:txBody>
          <a:bodyPr wrap="square" lIns="25400" tIns="25400" rIns="25400" bIns="25400" rtlCol="0" anchor="t">
            <a:normAutofit/>
          </a:bodyPr>
          <a:lstStyle/>
          <a:p>
            <a:pPr marL="0" indent="0" algn="l">
              <a:buNone/>
            </a:pPr>
            <a:r>
              <a:rPr lang="en-US" sz="2700" b="1" dirty="0">
                <a:solidFill>
                  <a:srgbClr val="111827"/>
                </a:solidFill>
                <a:latin typeface="Arial" pitchFamily="34" charset="0"/>
                <a:ea typeface="Arial" pitchFamily="34" charset="-122"/>
                <a:cs typeface="Arial" pitchFamily="34" charset="-120"/>
              </a:rPr>
              <a:t>장애물 감지 사각지대 보완</a:t>
            </a:r>
            <a:endParaRPr lang="en-US" sz="2700" dirty="0"/>
          </a:p>
        </p:txBody>
      </p:sp>
      <p:sp>
        <p:nvSpPr>
          <p:cNvPr id="13" name="Shape 11"/>
          <p:cNvSpPr/>
          <p:nvPr/>
        </p:nvSpPr>
        <p:spPr>
          <a:xfrm>
            <a:off x="952500" y="5876925"/>
            <a:ext cx="16383000" cy="1295400"/>
          </a:xfrm>
          <a:prstGeom prst="roundRect">
            <a:avLst>
              <a:gd name="adj" fmla="val 13235"/>
            </a:avLst>
          </a:prstGeom>
          <a:solidFill>
            <a:srgbClr val="FFFFFF"/>
          </a:solidFill>
          <a:ln w="19050">
            <a:solidFill>
              <a:srgbClr val="E5E7EB"/>
            </a:solidFill>
            <a:prstDash val="solid"/>
          </a:ln>
        </p:spPr>
        <p:txBody>
          <a:bodyPr/>
          <a:lstStyle/>
          <a:p>
            <a:endParaRPr lang="ko-KR" altLang="en-US"/>
          </a:p>
        </p:txBody>
      </p:sp>
      <p:sp>
        <p:nvSpPr>
          <p:cNvPr id="14" name="Text 12"/>
          <p:cNvSpPr/>
          <p:nvPr/>
        </p:nvSpPr>
        <p:spPr>
          <a:xfrm>
            <a:off x="1390650" y="6310313"/>
            <a:ext cx="685800" cy="466725"/>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111827"/>
                </a:solidFill>
                <a:latin typeface="Arial" pitchFamily="34" charset="0"/>
                <a:ea typeface="Arial" pitchFamily="34" charset="-122"/>
                <a:cs typeface="Arial" pitchFamily="34" charset="-120"/>
              </a:rPr>
              <a:t>03</a:t>
            </a:r>
            <a:endParaRPr lang="en-US" sz="3000" dirty="0"/>
          </a:p>
        </p:txBody>
      </p:sp>
      <p:sp>
        <p:nvSpPr>
          <p:cNvPr id="15" name="Text 13"/>
          <p:cNvSpPr/>
          <p:nvPr/>
        </p:nvSpPr>
        <p:spPr>
          <a:xfrm>
            <a:off x="2305050" y="6276975"/>
            <a:ext cx="6895996" cy="533400"/>
          </a:xfrm>
          <a:prstGeom prst="rect">
            <a:avLst/>
          </a:prstGeom>
          <a:noFill/>
          <a:ln/>
        </p:spPr>
        <p:txBody>
          <a:bodyPr wrap="square" lIns="25400" tIns="25400" rIns="25400" bIns="25400" rtlCol="0" anchor="t">
            <a:normAutofit/>
          </a:bodyPr>
          <a:lstStyle/>
          <a:p>
            <a:pPr marL="0" indent="0" algn="l">
              <a:buNone/>
            </a:pPr>
            <a:r>
              <a:rPr lang="en-US" sz="2700" b="1" dirty="0">
                <a:solidFill>
                  <a:srgbClr val="111827"/>
                </a:solidFill>
                <a:latin typeface="Arial" pitchFamily="34" charset="0"/>
                <a:ea typeface="Arial" pitchFamily="34" charset="-122"/>
                <a:cs typeface="Arial" pitchFamily="34" charset="-120"/>
              </a:rPr>
              <a:t>배터리·전압 모니터링 기반 저전압 자동 정지</a:t>
            </a:r>
            <a:endParaRPr lang="en-US" sz="2700" dirty="0"/>
          </a:p>
        </p:txBody>
      </p:sp>
      <p:sp>
        <p:nvSpPr>
          <p:cNvPr id="16" name="Text 14"/>
          <p:cNvSpPr/>
          <p:nvPr/>
        </p:nvSpPr>
        <p:spPr>
          <a:xfrm>
            <a:off x="952500" y="9267825"/>
            <a:ext cx="369207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17" name="Text 15"/>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15</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287500" y="6667500"/>
            <a:ext cx="5715000" cy="5715000"/>
          </a:xfrm>
          <a:prstGeom prst="ellipse">
            <a:avLst/>
          </a:prstGeom>
          <a:solidFill>
            <a:srgbClr val="EAF7F5"/>
          </a:solidFill>
          <a:ln/>
        </p:spPr>
        <p:txBody>
          <a:bodyPr/>
          <a:lstStyle/>
          <a:p>
            <a:endParaRPr lang="ko-KR" altLang="en-US"/>
          </a:p>
        </p:txBody>
      </p:sp>
      <p:sp>
        <p:nvSpPr>
          <p:cNvPr id="3" name="Text 1"/>
          <p:cNvSpPr/>
          <p:nvPr/>
        </p:nvSpPr>
        <p:spPr>
          <a:xfrm>
            <a:off x="952500" y="866775"/>
            <a:ext cx="411212"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34" dirty="0">
                <a:solidFill>
                  <a:srgbClr val="6BC9BE"/>
                </a:solidFill>
                <a:latin typeface="Arial" pitchFamily="34" charset="0"/>
                <a:ea typeface="Arial" pitchFamily="34" charset="-122"/>
                <a:cs typeface="Arial" pitchFamily="34" charset="-120"/>
              </a:rPr>
              <a:t>13</a:t>
            </a:r>
            <a:endParaRPr lang="en-US" sz="1950" dirty="0"/>
          </a:p>
        </p:txBody>
      </p:sp>
      <p:sp>
        <p:nvSpPr>
          <p:cNvPr id="4" name="Shape 2"/>
          <p:cNvSpPr/>
          <p:nvPr/>
        </p:nvSpPr>
        <p:spPr>
          <a:xfrm>
            <a:off x="1478012" y="1004887"/>
            <a:ext cx="457200" cy="19050"/>
          </a:xfrm>
          <a:prstGeom prst="rect">
            <a:avLst/>
          </a:prstGeom>
          <a:solidFill>
            <a:srgbClr val="E5E7EB"/>
          </a:solidFill>
          <a:ln/>
        </p:spPr>
        <p:txBody>
          <a:bodyPr/>
          <a:lstStyle/>
          <a:p>
            <a:endParaRPr lang="ko-KR" altLang="en-US"/>
          </a:p>
        </p:txBody>
      </p:sp>
      <p:sp>
        <p:nvSpPr>
          <p:cNvPr id="5" name="Text 3"/>
          <p:cNvSpPr/>
          <p:nvPr/>
        </p:nvSpPr>
        <p:spPr>
          <a:xfrm>
            <a:off x="2125712" y="838200"/>
            <a:ext cx="578941"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Arial" pitchFamily="34" charset="0"/>
                <a:ea typeface="Arial" pitchFamily="34" charset="-122"/>
                <a:cs typeface="Arial" pitchFamily="34" charset="-120"/>
              </a:rPr>
              <a:t>Q&amp;A</a:t>
            </a:r>
            <a:endParaRPr lang="en-US" sz="1950" dirty="0"/>
          </a:p>
        </p:txBody>
      </p:sp>
      <p:sp>
        <p:nvSpPr>
          <p:cNvPr id="6" name="Text 4"/>
          <p:cNvSpPr/>
          <p:nvPr/>
        </p:nvSpPr>
        <p:spPr>
          <a:xfrm>
            <a:off x="952500" y="2647950"/>
            <a:ext cx="12871704" cy="3524250"/>
          </a:xfrm>
          <a:prstGeom prst="rect">
            <a:avLst/>
          </a:prstGeom>
          <a:noFill/>
          <a:ln/>
        </p:spPr>
        <p:txBody>
          <a:bodyPr wrap="square" lIns="25400" tIns="25400" rIns="25400" bIns="25400" rtlCol="0" anchor="t">
            <a:normAutofit/>
          </a:bodyPr>
          <a:lstStyle/>
          <a:p>
            <a:pPr marL="0" indent="0" algn="l">
              <a:buNone/>
            </a:pPr>
            <a:r>
              <a:rPr lang="en-US" sz="15000" b="1" dirty="0">
                <a:solidFill>
                  <a:srgbClr val="111827"/>
                </a:solidFill>
                <a:latin typeface="Arial" pitchFamily="34" charset="0"/>
                <a:ea typeface="Arial" pitchFamily="34" charset="-122"/>
                <a:cs typeface="Arial" pitchFamily="34" charset="-120"/>
              </a:rPr>
              <a:t>감사합니다</a:t>
            </a:r>
            <a:endParaRPr lang="en-US" sz="15000" dirty="0"/>
          </a:p>
        </p:txBody>
      </p:sp>
      <p:sp>
        <p:nvSpPr>
          <p:cNvPr id="7" name="Text 5"/>
          <p:cNvSpPr/>
          <p:nvPr/>
        </p:nvSpPr>
        <p:spPr>
          <a:xfrm>
            <a:off x="952500" y="9267825"/>
            <a:ext cx="3272745" cy="37147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9CA3AF"/>
                </a:solidFill>
                <a:latin typeface="Arial" pitchFamily="34" charset="0"/>
                <a:ea typeface="Arial" pitchFamily="34" charset="-122"/>
                <a:cs typeface="Arial" pitchFamily="34" charset="-120"/>
              </a:rPr>
              <a:t>YEYU · 자율주행 사전검증 로봇</a:t>
            </a:r>
            <a:endParaRPr lang="en-US" sz="1800" dirty="0"/>
          </a:p>
        </p:txBody>
      </p:sp>
      <p:sp>
        <p:nvSpPr>
          <p:cNvPr id="8" name="Text 6"/>
          <p:cNvSpPr/>
          <p:nvPr/>
        </p:nvSpPr>
        <p:spPr>
          <a:xfrm>
            <a:off x="17081748" y="9267825"/>
            <a:ext cx="329952" cy="371475"/>
          </a:xfrm>
          <a:prstGeom prst="rect">
            <a:avLst/>
          </a:prstGeom>
          <a:noFill/>
          <a:ln/>
        </p:spPr>
        <p:txBody>
          <a:bodyPr wrap="square" lIns="25400" tIns="25400" rIns="25400" bIns="25400" rtlCol="0" anchor="t">
            <a:normAutofit/>
          </a:bodyPr>
          <a:lstStyle/>
          <a:p>
            <a:pPr marL="0" indent="0" algn="l">
              <a:buNone/>
            </a:pPr>
            <a:r>
              <a:rPr lang="en-US" sz="1800" dirty="0">
                <a:solidFill>
                  <a:srgbClr val="9CA3AF"/>
                </a:solidFill>
                <a:latin typeface="Arial" pitchFamily="34" charset="0"/>
                <a:ea typeface="Arial" pitchFamily="34" charset="-122"/>
                <a:cs typeface="Arial" pitchFamily="34" charset="-120"/>
              </a:rPr>
              <a:t>16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2874</Words>
  <Application>Microsoft Office PowerPoint</Application>
  <PresentationFormat>사용자 지정</PresentationFormat>
  <Paragraphs>350</Paragraphs>
  <Slides>19</Slides>
  <Notes>19</Notes>
  <HiddenSlides>0</HiddenSlides>
  <MMClips>4</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19</vt:i4>
      </vt:variant>
    </vt:vector>
  </HeadingPairs>
  <TitlesOfParts>
    <vt:vector size="22" baseType="lpstr">
      <vt:lpstr>Arial</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Codelab</cp:lastModifiedBy>
  <cp:revision>7</cp:revision>
  <dcterms:created xsi:type="dcterms:W3CDTF">2026-08-20T12:10:38Z</dcterms:created>
  <dcterms:modified xsi:type="dcterms:W3CDTF">2026-08-21T00:27:58Z</dcterms:modified>
</cp:coreProperties>
</file>